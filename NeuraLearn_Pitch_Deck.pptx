
<file path=[Content_Types].xml><?xml version="1.0" encoding="utf-8"?>
<Types xmlns="http://schemas.openxmlformats.org/package/2006/content-types">
  <Default Extension="xml" ContentType="application/xml"/>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 id="{abb0e741-3a61-7553-1545-e18c59f0a40d}">
          <p14:sldIdLst>
            <p14:sldId id="256"/>
          </p14:sldIdLst>
        </p14:section>
        <p14:section name="Problem" id="{c625a763-4f77-e845-abe2-6fe79a7ffbc8}">
          <p14:sldIdLst>
            <p14:sldId id="257"/>
          </p14:sldIdLst>
        </p14:section>
        <p14:section name="Solution" id="{05e1e22a-8a2b-14ba-5d72-28b0650e0b61}">
          <p14:sldIdLst>
            <p14:sldId id="258"/>
          </p14:sldIdLst>
        </p14:section>
        <p14:section name="Product" id="{78567101-bea3-5b5c-0dbd-e7d9cb8b44f8}">
          <p14:sldIdLst>
            <p14:sldId id="259"/>
            <p14:sldId id="260"/>
          </p14:sldIdLst>
        </p14:section>
        <p14:section name="Next" id="{fe276c17-04cb-5535-0b3c-e73924fbe180}">
          <p14:sldIdLst>
            <p14:sldId id="261"/>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Team Voidrax, and this is NeuraLearn. Open with the line that sets us apart: our animations are computed, not hallucinated. NeuraLearn teaches any topic, from a question or your own textbook, and wherever a concept can be computed the engine actually runs it, so the picture on the board is a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student deserves a professor who draws while explaining. NeuraLearn is that professor for any subject: ask, read the full answer, then watch it drawn and narrated.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forgets, coaching excludes, chatbots dump text. And the newest problem: AI tools that draw can draw it wrong. A confident wrong picture does real damage to a learner.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Great teachers draw while they explain. Sunlight, leaf, energy, glucose: NeuraLearn turns that explanation into a moving, narrated diagram where each sentence changes something on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once, in any subject, or attach your syllabus. Read the full answer first. Then watch it drawn. When the topic is an algorithm, the animation is computed by actually running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student asks "explain inorder traversal". The full answer appears first, then the board takes over. Because this topic is an algorithm, the tree, the call stack and the output come from actually running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lesson draws itself and doubts never wait. Mid-lesson, a student asks why water splits. The answer comes instantly and a new visual is drawn right after it. For computed topics, the answer comes back as new animated scenes inserted at that exact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from your own book. Attach the college PDF, get a full-document summary first, then a lesson for every section with live visuals. It is built to never strand a student: if the summary fails, the raw text shows and the lessons still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changes for a student: they understand instead of memorising, hours become minutes, doubts get answered on the spot, and it all comes from their own syllabus at their own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70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genuinely new is the workflow. One prompt returns a written answer, a lesson drawn for that exact question, and a tutor for doubts. Where a topic can be computed, no frame is guessed. And you can stop at any moment and get a new visual right there. Every other tool gives you one piece.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70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alternative misses something. Chatbots are instant but give a wall of text and can be wrong. NotebookLM is grounded in your sources, but its overviews are pre-rendered and it does not compute anything. Videos are pre-made and cannot answer. Coaching needs a schedule. NeuraLearn is instant, draws live, teaches from your book, answers doubts, and computes wherever it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70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on the top row works today in this proof of concept. Next is hosting and Indian-language narration, then classrooms, and the long-term vision is computed lessons for maths and physics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70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teacher for every hundred students cannot work. One tutor per student now can, for every student, in every subject, from their own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70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line students remember: understand it, don't just memorize it. Then go straight to the live demo: ask a question, read the answer, watch it drawn, and interrupt with a doubt. Thank you from Team Voidrax.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70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orb1"/>
          <p:cNvSpPr/>
          <p:nvPr/>
        </p:nvSpPr>
        <p:spPr>
          <a:xfrm>
            <a:off x="6583680" y="-914400"/>
            <a:ext cx="7315200" cy="7315200"/>
          </a:xfrm>
          <a:prstGeom prst="rect">
            <a:avLst/>
          </a:prstGeom>
          <a:solidFill>
            <a:schemeClr val="accent1">
              <a:alpha val="30000"/>
            </a:schemeClr>
          </a:solidFill>
          <a:ln>
            <a:noFill/>
          </a:ln>
        </p:spPr>
      </p:sp>
      <p:sp>
        <p:nvSpPr>
          <p:cNvPr id="3" name="orb2"/>
          <p:cNvSpPr/>
          <p:nvPr/>
        </p:nvSpPr>
        <p:spPr>
          <a:xfrm>
            <a:off x="8412480" y="2286000"/>
            <a:ext cx="4572000" cy="4572000"/>
          </a:xfrm>
          <a:prstGeom prst="rect">
            <a:avLst/>
          </a:prstGeom>
          <a:solidFill>
            <a:schemeClr val="accent2">
              <a:alpha val="22000"/>
            </a:schemeClr>
          </a:solidFill>
          <a:ln>
            <a:noFill/>
          </a:ln>
        </p:spPr>
      </p:sp>
      <p:sp>
        <p:nvSpPr>
          <p:cNvPr id="4" name="brand"/>
          <p:cNvSpPr txBox="1"/>
          <p:nvPr/>
        </p:nvSpPr>
        <p:spPr>
          <a:xfrm>
            <a:off x="822960" y="1188720"/>
            <a:ext cx="5669280" cy="365760"/>
          </a:xfrm>
          <a:prstGeom prst="rect">
            <a:avLst/>
          </a:prstGeom>
          <a:noFill/>
          <a:ln>
            <a:noFill/>
          </a:ln>
        </p:spPr>
        <p:txBody>
          <a:bodyPr wrap="square" lIns="0" tIns="0" rIns="0" bIns="0" rtlCol="0" anchor="t">
            <a:noAutofit/>
          </a:bodyPr>
          <a:lstStyle/>
          <a:p>
            <a:pPr algn="l" marL="0" indent="0">
              <a:buNone/>
            </a:pPr>
            <a:r>
              <a:rPr lang="en-US" sz="1300" b="1" spc="500" dirty="0">
                <a:solidFill>
                  <a:schemeClr val="accent2"/>
                </a:solidFill>
              </a:rPr>
              <a:t>AI VISUAL TUTOR  ·  PROOF OF CONCEPT</a:t>
            </a:r>
            <a:endParaRPr lang="en-US" sz="1300" dirty="0"/>
          </a:p>
        </p:txBody>
      </p:sp>
      <p:sp>
        <p:nvSpPr>
          <p:cNvPr id="5" name="title"/>
          <p:cNvSpPr txBox="1"/>
          <p:nvPr/>
        </p:nvSpPr>
        <p:spPr>
          <a:xfrm>
            <a:off x="822960" y="1691640"/>
            <a:ext cx="5760720" cy="2514600"/>
          </a:xfrm>
          <a:prstGeom prst="rect">
            <a:avLst/>
          </a:prstGeom>
          <a:noFill/>
          <a:ln>
            <a:noFill/>
          </a:ln>
        </p:spPr>
        <p:txBody>
          <a:bodyPr wrap="square" lIns="0" tIns="0" rIns="0" bIns="0" rtlCol="0" anchor="t">
            <a:noAutofit/>
          </a:bodyPr>
          <a:lstStyle/>
          <a:p>
            <a:pPr algn="l" marL="0" indent="0">
              <a:lnSpc>
                <a:spcPct val="92000"/>
              </a:lnSpc>
              <a:buNone/>
            </a:pPr>
            <a:r>
              <a:rPr lang="en-US" sz="4400" b="1" dirty="0">
                <a:solidFill>
                  <a:schemeClr val="bg1"/>
                </a:solidFill>
                <a:latin typeface="+mj-lt"/>
              </a:rPr>
              <a:t>Animations that are computed,</a:t>
            </a:r>
            <a:br>
              <a:rPr lang="en-US" sz="4400" dirty="0"/>
            </a:br>
            <a:r>
              <a:rPr lang="en-US" sz="4400" b="1" dirty="0">
                <a:gradFill>
                  <a:gsLst>
                    <a:gs pos="0">
                      <a:srgbClr val="9D8CFF"/>
                    </a:gs>
                    <a:gs pos="50000">
                      <a:srgbClr val="FF6FB5"/>
                    </a:gs>
                    <a:gs pos="100000">
                      <a:srgbClr val="FFC94D"/>
                    </a:gs>
                  </a:gsLst>
                  <a:lin ang="0" scaled="0"/>
                </a:gradFill>
                <a:latin typeface="+mj-lt"/>
              </a:rPr>
              <a:t>not hallucinated.</a:t>
            </a:r>
            <a:endParaRPr lang="en-US" sz="4400" dirty="0"/>
          </a:p>
        </p:txBody>
      </p:sp>
      <p:sp>
        <p:nvSpPr>
          <p:cNvPr id="6" name="sub"/>
          <p:cNvSpPr txBox="1"/>
          <p:nvPr/>
        </p:nvSpPr>
        <p:spPr>
          <a:xfrm>
            <a:off x="822960" y="3886200"/>
            <a:ext cx="5394960" cy="1188720"/>
          </a:xfrm>
          <a:prstGeom prst="rect">
            <a:avLst/>
          </a:prstGeom>
          <a:noFill/>
          <a:ln>
            <a:noFill/>
          </a:ln>
        </p:spPr>
        <p:txBody>
          <a:bodyPr wrap="square" lIns="0" tIns="0" rIns="0" bIns="0" rtlCol="0" anchor="t">
            <a:noAutofit/>
          </a:bodyPr>
          <a:lstStyle/>
          <a:p>
            <a:pPr algn="l" marL="0" indent="0">
              <a:lnSpc>
                <a:spcPct val="115000"/>
              </a:lnSpc>
              <a:buNone/>
            </a:pPr>
            <a:r>
              <a:rPr lang="en-US" sz="1800" dirty="0">
                <a:solidFill>
                  <a:schemeClr val="accent6"/>
                </a:solidFill>
              </a:rPr>
              <a:t>Any topic, even your own textbook, becomes a narrated board lesson. Where a concept can be computed, NeuraLearn runs it, so the picture is a fact, not a guess.</a:t>
            </a:r>
            <a:endParaRPr lang="en-US" sz="1800" dirty="0"/>
          </a:p>
        </p:txBody>
      </p:sp>
      <p:sp>
        <p:nvSpPr>
          <p:cNvPr id="7" name="audience"/>
          <p:cNvSpPr/>
          <p:nvPr/>
        </p:nvSpPr>
        <p:spPr>
          <a:xfrm>
            <a:off x="822960" y="5257800"/>
            <a:ext cx="4480560" cy="438912"/>
          </a:xfrm>
          <a:prstGeom prst="roundRect">
            <a:avLst>
              <a:gd name="adj" fmla="val 50000"/>
            </a:avLst>
          </a:prstGeom>
          <a:solidFill>
            <a:schemeClr val="tx2"/>
          </a:solidFill>
          <a:ln w="12700">
            <a:solidFill>
              <a:schemeClr val="accent1"/>
            </a:solidFill>
          </a:ln>
        </p:spPr>
        <p:txBody>
          <a:bodyPr wrap="square" lIns="73152" tIns="73152" rIns="73152" bIns="73152" rtlCol="0" anchor="ctr">
            <a:noAutofit/>
          </a:bodyPr>
          <a:lstStyle/>
          <a:p>
            <a:pPr algn="ctr" marL="0" indent="0">
              <a:buNone/>
            </a:pPr>
            <a:r>
              <a:rPr lang="en-US" sz="1300" b="1" dirty="0">
                <a:solidFill>
                  <a:schemeClr val="bg1"/>
                </a:solidFill>
              </a:rPr>
              <a:t>Any subject  ·  your own book  ·  computed where it counts</a:t>
            </a:r>
            <a:endParaRPr lang="en-US" sz="1300" dirty="0"/>
          </a:p>
        </p:txBody>
      </p:sp>
      <p:sp>
        <p:nvSpPr>
          <p:cNvPr id="8" name="logoMark"/>
          <p:cNvSpPr/>
          <p:nvPr/>
        </p:nvSpPr>
        <p:spPr>
          <a:xfrm>
            <a:off x="8823960" y="1874520"/>
            <a:ext cx="1097280" cy="1097280"/>
          </a:xfrm>
          <a:prstGeom prst="roundRect">
            <a:avLst>
              <a:gd name="adj" fmla="val 25000"/>
            </a:avLst>
          </a:prstGeom>
          <a:solidFill>
            <a:schemeClr val="accent1"/>
          </a:solidFill>
          <a:ln>
            <a:noFill/>
          </a:ln>
        </p:spPr>
        <p:txBody>
          <a:bodyPr wrap="square" lIns="0" tIns="0" rIns="0" bIns="0" rtlCol="0" anchor="ctr">
            <a:noAutofit/>
          </a:bodyPr>
          <a:lstStyle/>
          <a:p>
            <a:pPr algn="ctr" marL="0" indent="0">
              <a:buNone/>
            </a:pPr>
            <a:r>
              <a:rPr lang="en-US" sz="5400" b="1" dirty="0">
                <a:solidFill>
                  <a:schemeClr val="bg1"/>
                </a:solidFill>
                <a:latin typeface="+mj-lt"/>
              </a:rPr>
              <a:t>N</a:t>
            </a:r>
            <a:endParaRPr lang="en-US" sz="5400" dirty="0"/>
          </a:p>
        </p:txBody>
      </p:sp>
      <p:sp>
        <p:nvSpPr>
          <p:cNvPr id="9" name="wordmark"/>
          <p:cNvSpPr txBox="1"/>
          <p:nvPr/>
        </p:nvSpPr>
        <p:spPr>
          <a:xfrm>
            <a:off x="6903720" y="3200400"/>
            <a:ext cx="4937760" cy="1005840"/>
          </a:xfrm>
          <a:prstGeom prst="rect">
            <a:avLst/>
          </a:prstGeom>
          <a:noFill/>
          <a:ln>
            <a:noFill/>
          </a:ln>
        </p:spPr>
        <p:txBody>
          <a:bodyPr wrap="square" lIns="0" tIns="0" rIns="0" bIns="0" rtlCol="0" anchor="ctr">
            <a:noAutofit/>
          </a:bodyPr>
          <a:lstStyle/>
          <a:p>
            <a:pPr algn="ctr" marL="0" indent="0">
              <a:buNone/>
            </a:pPr>
            <a:r>
              <a:rPr lang="en-US" sz="6000" b="1" dirty="0">
                <a:solidFill>
                  <a:schemeClr val="bg1"/>
                </a:solidFill>
                <a:latin typeface="+mj-lt"/>
              </a:rPr>
              <a:t>NeuraLearn</a:t>
            </a:r>
            <a:endParaRPr lang="en-US" sz="6000" dirty="0"/>
          </a:p>
        </p:txBody>
      </p:sp>
      <p:sp>
        <p:nvSpPr>
          <p:cNvPr id="10" name="team"/>
          <p:cNvSpPr txBox="1"/>
          <p:nvPr/>
        </p:nvSpPr>
        <p:spPr>
          <a:xfrm>
            <a:off x="6903720" y="4251960"/>
            <a:ext cx="4937760" cy="411480"/>
          </a:xfrm>
          <a:prstGeom prst="rect">
            <a:avLst/>
          </a:prstGeom>
          <a:noFill/>
          <a:ln>
            <a:noFill/>
          </a:ln>
        </p:spPr>
        <p:txBody>
          <a:bodyPr wrap="square" lIns="0" tIns="0" rIns="0" bIns="0" rtlCol="0" anchor="ctr">
            <a:noAutofit/>
          </a:bodyPr>
          <a:lstStyle/>
          <a:p>
            <a:pPr algn="ctr" marL="0" indent="0">
              <a:buNone/>
            </a:pPr>
            <a:r>
              <a:rPr lang="en-US" sz="1600" b="1" spc="600" dirty="0">
                <a:solidFill>
                  <a:schemeClr val="bg1"/>
                </a:solidFill>
              </a:rPr>
              <a:t>BY TEAM VOIDRAX</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glow"/>
          <p:cNvSpPr/>
          <p:nvPr/>
        </p:nvSpPr>
        <p:spPr>
          <a:xfrm>
            <a:off x="-914400" y="-1371600"/>
            <a:ext cx="4114800" cy="4114800"/>
          </a:xfrm>
          <a:prstGeom prst="rect">
            <a:avLst/>
          </a:prstGeom>
          <a:solidFill>
            <a:schemeClr val="accent1">
              <a:alpha val="12000"/>
            </a:schemeClr>
          </a:solidFill>
          <a:ln>
            <a:noFill/>
          </a:ln>
        </p:spPr>
      </p:sp>
      <p:sp>
        <p:nvSpPr>
          <p:cNvPr id="3" name="glow2"/>
          <p:cNvSpPr/>
          <p:nvPr/>
        </p:nvSpPr>
        <p:spPr>
          <a:xfrm>
            <a:off x="9601200" y="4754880"/>
            <a:ext cx="3657600" cy="3657600"/>
          </a:xfrm>
          <a:prstGeom prst="rect">
            <a:avLst/>
          </a:prstGeom>
          <a:solidFill>
            <a:schemeClr val="accent2">
              <a:alpha val="8000"/>
            </a:schemeClr>
          </a:solidFill>
          <a:ln>
            <a:noFill/>
          </a:ln>
        </p:spPr>
      </p:sp>
      <p:sp>
        <p:nvSpPr>
          <p:cNvPr id="4" name="kicker"/>
          <p:cNvSpPr txBox="1"/>
          <p:nvPr/>
        </p:nvSpPr>
        <p:spPr>
          <a:xfrm>
            <a:off x="640080" y="457200"/>
            <a:ext cx="9144000" cy="274320"/>
          </a:xfrm>
          <a:prstGeom prst="rect">
            <a:avLst/>
          </a:prstGeom>
          <a:noFill/>
          <a:ln>
            <a:noFill/>
          </a:ln>
        </p:spPr>
        <p:txBody>
          <a:bodyPr wrap="square" lIns="0" tIns="0" rIns="0" bIns="0" rtlCol="0" anchor="t">
            <a:noAutofit/>
          </a:bodyPr>
          <a:lstStyle/>
          <a:p>
            <a:pPr algn="l" marL="0" indent="0">
              <a:buNone/>
            </a:pPr>
            <a:r>
              <a:rPr lang="en-US" sz="1200" b="1" spc="400" dirty="0">
                <a:solidFill>
                  <a:schemeClr val="accent2"/>
                </a:solidFill>
              </a:rPr>
              <a:t>NEURALEARN  ·  AI VISUAL TUTOR</a:t>
            </a:r>
            <a:endParaRPr lang="en-US" sz="1200" dirty="0"/>
          </a:p>
        </p:txBody>
      </p:sp>
      <p:sp>
        <p:nvSpPr>
          <p:cNvPr id="5" name="title"/>
          <p:cNvSpPr txBox="1"/>
          <p:nvPr/>
        </p:nvSpPr>
        <p:spPr>
          <a:xfrm>
            <a:off x="640080" y="777240"/>
            <a:ext cx="10911535" cy="1188720"/>
          </a:xfrm>
          <a:prstGeom prst="rect">
            <a:avLst/>
          </a:prstGeom>
          <a:noFill/>
          <a:ln>
            <a:noFill/>
          </a:ln>
        </p:spPr>
        <p:txBody>
          <a:bodyPr wrap="square" lIns="0" tIns="0" rIns="0" bIns="0" rtlCol="0" anchor="t">
            <a:noAutofit/>
          </a:bodyPr>
          <a:lstStyle/>
          <a:p>
            <a:pPr algn="l" marL="0" indent="0">
              <a:lnSpc>
                <a:spcPct val="95000"/>
              </a:lnSpc>
              <a:buNone/>
            </a:pPr>
            <a:r>
              <a:rPr lang="en-US" sz="3200" b="1" dirty="0">
                <a:solidFill>
                  <a:schemeClr val="bg1"/>
                </a:solidFill>
                <a:latin typeface="+mj-lt"/>
              </a:rPr>
              <a:t>Every student deserves a </a:t>
            </a:r>
            <a:br>
              <a:rPr lang="en-US" sz="3200" dirty="0"/>
            </a:br>
            <a:r>
              <a:rPr lang="en-US" sz="3200" b="1" dirty="0">
                <a:gradFill>
                  <a:gsLst>
                    <a:gs pos="0">
                      <a:srgbClr val="9D8CFF"/>
                    </a:gs>
                    <a:gs pos="50000">
                      <a:srgbClr val="FF6FB5"/>
                    </a:gs>
                    <a:gs pos="100000">
                      <a:srgbClr val="FFC94D"/>
                    </a:gs>
                  </a:gsLst>
                  <a:lin ang="0" scaled="0"/>
                </a:gradFill>
                <a:latin typeface="+mj-lt"/>
              </a:rPr>
              <a:t>professor who can draw.</a:t>
            </a:r>
            <a:endParaRPr lang="en-US" sz="3200" dirty="0"/>
          </a:p>
        </p:txBody>
      </p:sp>
      <p:sp>
        <p:nvSpPr>
          <p:cNvPr id="6" name="footer"/>
          <p:cNvSpPr txBox="1"/>
          <p:nvPr/>
        </p:nvSpPr>
        <p:spPr>
          <a:xfrm>
            <a:off x="640080" y="6400800"/>
            <a:ext cx="5486400" cy="228600"/>
          </a:xfrm>
          <a:prstGeom prst="rect">
            <a:avLst/>
          </a:prstGeom>
          <a:noFill/>
          <a:ln>
            <a:noFill/>
          </a:ln>
        </p:spPr>
        <p:txBody>
          <a:bodyPr wrap="square" lIns="0" tIns="0" rIns="0" bIns="0" rtlCol="0" anchor="t">
            <a:noAutofit/>
          </a:bodyPr>
          <a:lstStyle/>
          <a:p>
            <a:pPr algn="l" marL="0" indent="0">
              <a:buNone/>
            </a:pPr>
            <a:r>
              <a:rPr lang="en-US" sz="1000" spc="300" dirty="0">
                <a:solidFill>
                  <a:schemeClr val="accent6"/>
                </a:solidFill>
              </a:rPr>
              <a:t>NEURALEARN  ·  COMPUTED, NOT HALLUCINATED</a:t>
            </a:r>
            <a:endParaRPr lang="en-US" sz="1000" dirty="0"/>
          </a:p>
        </p:txBody>
      </p:sp>
      <p:sp>
        <p:nvSpPr>
          <p:cNvPr id="7" name="pageNum"/>
          <p:cNvSpPr txBox="1"/>
          <p:nvPr/>
        </p:nvSpPr>
        <p:spPr>
          <a:xfrm>
            <a:off x="10637215" y="6400800"/>
            <a:ext cx="914400" cy="228600"/>
          </a:xfrm>
          <a:prstGeom prst="rect">
            <a:avLst/>
          </a:prstGeom>
          <a:noFill/>
          <a:ln>
            <a:noFill/>
          </a:ln>
        </p:spPr>
        <p:txBody>
          <a:bodyPr wrap="square" lIns="0" tIns="0" rIns="0" bIns="0" rtlCol="0" anchor="t">
            <a:noAutofit/>
          </a:bodyPr>
          <a:lstStyle/>
          <a:p>
            <a:pPr algn="r" marL="0" indent="0">
              <a:buNone/>
            </a:pPr>
            <a:r>
              <a:rPr lang="en-US" sz="1000" b="1" spc="200" dirty="0">
                <a:solidFill>
                  <a:schemeClr val="accent6"/>
                </a:solidFill>
              </a:rPr>
              <a:t>02</a:t>
            </a:r>
            <a:endParaRPr lang="en-US" sz="1000" dirty="0"/>
          </a:p>
        </p:txBody>
      </p:sp>
      <p:sp>
        <p:nvSpPr>
          <p:cNvPr id="8" name="sub"/>
          <p:cNvSpPr txBox="1"/>
          <p:nvPr/>
        </p:nvSpPr>
        <p:spPr>
          <a:xfrm>
            <a:off x="640080" y="2194560"/>
            <a:ext cx="9326880" cy="1097280"/>
          </a:xfrm>
          <a:prstGeom prst="rect">
            <a:avLst/>
          </a:prstGeom>
          <a:noFill/>
          <a:ln>
            <a:noFill/>
          </a:ln>
        </p:spPr>
        <p:txBody>
          <a:bodyPr wrap="square" lIns="0" tIns="0" rIns="0" bIns="0" rtlCol="0" anchor="t">
            <a:noAutofit/>
          </a:bodyPr>
          <a:lstStyle/>
          <a:p>
            <a:pPr algn="l" marL="0" indent="0">
              <a:lnSpc>
                <a:spcPct val="115000"/>
              </a:lnSpc>
              <a:buNone/>
            </a:pPr>
            <a:r>
              <a:rPr lang="en-US" sz="1800" dirty="0">
                <a:solidFill>
                  <a:schemeClr val="accent6"/>
                </a:solidFill>
              </a:rPr>
              <a:t>The all-in-one AI platform where any topic, even your own textbook PDF, becomes an animated board lesson. Explained in words first. Then drawn live, and computed wherever it can be.</a:t>
            </a:r>
            <a:endParaRPr lang="en-US" sz="1800" dirty="0"/>
          </a:p>
        </p:txBody>
      </p:sp>
      <p:sp>
        <p:nvSpPr>
          <p:cNvPr id="9" name="flow0"/>
          <p:cNvSpPr/>
          <p:nvPr/>
        </p:nvSpPr>
        <p:spPr>
          <a:xfrm>
            <a:off x="640080" y="3703320"/>
            <a:ext cx="3246120" cy="1965960"/>
          </a:xfrm>
          <a:prstGeom prst="roundRect">
            <a:avLst>
              <a:gd name="adj" fmla="val 7442"/>
            </a:avLst>
          </a:prstGeom>
          <a:solidFill>
            <a:schemeClr val="tx2"/>
          </a:solidFill>
          <a:ln w="12700">
            <a:solidFill>
              <a:schemeClr val="accent2"/>
            </a:solidFill>
          </a:ln>
        </p:spPr>
      </p:sp>
      <p:sp>
        <p:nvSpPr>
          <p:cNvPr id="10" name="flow0Mark"/>
          <p:cNvSpPr/>
          <p:nvPr/>
        </p:nvSpPr>
        <p:spPr>
          <a:xfrm>
            <a:off x="896112" y="3977640"/>
            <a:ext cx="109728" cy="384048"/>
          </a:xfrm>
          <a:prstGeom prst="rect">
            <a:avLst/>
          </a:prstGeom>
          <a:solidFill>
            <a:schemeClr val="accent2"/>
          </a:solidFill>
          <a:ln>
            <a:noFill/>
          </a:ln>
        </p:spPr>
      </p:sp>
      <p:sp>
        <p:nvSpPr>
          <p:cNvPr id="11" name="flow0Title"/>
          <p:cNvSpPr txBox="1"/>
          <p:nvPr/>
        </p:nvSpPr>
        <p:spPr>
          <a:xfrm>
            <a:off x="1170432" y="3941064"/>
            <a:ext cx="2459736" cy="457200"/>
          </a:xfrm>
          <a:prstGeom prst="rect">
            <a:avLst/>
          </a:prstGeom>
          <a:noFill/>
          <a:ln>
            <a:noFill/>
          </a:ln>
        </p:spPr>
        <p:txBody>
          <a:bodyPr wrap="square" lIns="0" tIns="0" rIns="0" bIns="0" rtlCol="0" anchor="ctr">
            <a:noAutofit/>
          </a:bodyPr>
          <a:lstStyle/>
          <a:p>
            <a:pPr algn="l" marL="0" indent="0">
              <a:lnSpc>
                <a:spcPct val="95000"/>
              </a:lnSpc>
              <a:buNone/>
            </a:pPr>
            <a:r>
              <a:rPr lang="en-US" sz="1900" b="1" dirty="0">
                <a:solidFill>
                  <a:schemeClr val="bg1"/>
                </a:solidFill>
                <a:latin typeface="+mj-lt"/>
              </a:rPr>
              <a:t>Ask anything</a:t>
            </a:r>
            <a:endParaRPr lang="en-US" sz="1900" dirty="0"/>
          </a:p>
        </p:txBody>
      </p:sp>
      <p:sp>
        <p:nvSpPr>
          <p:cNvPr id="12" name="flow0Desc"/>
          <p:cNvSpPr txBox="1"/>
          <p:nvPr/>
        </p:nvSpPr>
        <p:spPr>
          <a:xfrm>
            <a:off x="1170432" y="4526280"/>
            <a:ext cx="2459736" cy="1005840"/>
          </a:xfrm>
          <a:prstGeom prst="rect">
            <a:avLst/>
          </a:prstGeom>
          <a:noFill/>
          <a:ln>
            <a:noFill/>
          </a:ln>
        </p:spPr>
        <p:txBody>
          <a:bodyPr wrap="square" lIns="0" tIns="0" rIns="0" bIns="0" rtlCol="0" anchor="t">
            <a:noAutofit/>
          </a:bodyPr>
          <a:lstStyle/>
          <a:p>
            <a:pPr algn="l" marL="0" indent="0">
              <a:lnSpc>
                <a:spcPct val="115000"/>
              </a:lnSpc>
              <a:buNone/>
            </a:pPr>
            <a:r>
              <a:rPr lang="en-US" sz="1500" dirty="0">
                <a:solidFill>
                  <a:schemeClr val="accent6"/>
                </a:solidFill>
              </a:rPr>
              <a:t>A topic, your level, or your own PDF</a:t>
            </a:r>
            <a:endParaRPr lang="en-US" sz="1500" dirty="0"/>
          </a:p>
        </p:txBody>
      </p:sp>
      <p:sp>
        <p:nvSpPr>
          <p:cNvPr id="13" name="arrow0"/>
          <p:cNvSpPr txBox="1"/>
          <p:nvPr/>
        </p:nvSpPr>
        <p:spPr>
          <a:xfrm>
            <a:off x="3941064" y="4462272"/>
            <a:ext cx="457200" cy="457200"/>
          </a:xfrm>
          <a:prstGeom prst="rect">
            <a:avLst/>
          </a:prstGeom>
          <a:noFill/>
          <a:ln>
            <a:noFill/>
          </a:ln>
        </p:spPr>
        <p:txBody>
          <a:bodyPr wrap="square" lIns="0" tIns="0" rIns="0" bIns="0" rtlCol="0" anchor="ctr">
            <a:noAutofit/>
          </a:bodyPr>
          <a:lstStyle/>
          <a:p>
            <a:pPr algn="ctr" marL="0" indent="0">
              <a:buNone/>
            </a:pPr>
            <a:r>
              <a:rPr lang="en-US" sz="2200" b="1" dirty="0">
                <a:solidFill>
                  <a:schemeClr val="accent6"/>
                </a:solidFill>
              </a:rPr>
              <a:t>→</a:t>
            </a:r>
            <a:endParaRPr lang="en-US" sz="2200" dirty="0"/>
          </a:p>
        </p:txBody>
      </p:sp>
      <p:sp>
        <p:nvSpPr>
          <p:cNvPr id="14" name="flow1"/>
          <p:cNvSpPr/>
          <p:nvPr/>
        </p:nvSpPr>
        <p:spPr>
          <a:xfrm>
            <a:off x="4453128" y="3703320"/>
            <a:ext cx="3246120" cy="1965960"/>
          </a:xfrm>
          <a:prstGeom prst="roundRect">
            <a:avLst>
              <a:gd name="adj" fmla="val 7442"/>
            </a:avLst>
          </a:prstGeom>
          <a:solidFill>
            <a:schemeClr val="tx2"/>
          </a:solidFill>
          <a:ln w="12700">
            <a:solidFill>
              <a:schemeClr val="accent1"/>
            </a:solidFill>
          </a:ln>
        </p:spPr>
      </p:sp>
      <p:sp>
        <p:nvSpPr>
          <p:cNvPr id="15" name="flow1Mark"/>
          <p:cNvSpPr/>
          <p:nvPr/>
        </p:nvSpPr>
        <p:spPr>
          <a:xfrm>
            <a:off x="4709160" y="3977640"/>
            <a:ext cx="109728" cy="384048"/>
          </a:xfrm>
          <a:prstGeom prst="rect">
            <a:avLst/>
          </a:prstGeom>
          <a:solidFill>
            <a:schemeClr val="accent1"/>
          </a:solidFill>
          <a:ln>
            <a:noFill/>
          </a:ln>
        </p:spPr>
      </p:sp>
      <p:sp>
        <p:nvSpPr>
          <p:cNvPr id="16" name="flow1Title"/>
          <p:cNvSpPr txBox="1"/>
          <p:nvPr/>
        </p:nvSpPr>
        <p:spPr>
          <a:xfrm>
            <a:off x="4983480" y="3941064"/>
            <a:ext cx="2459736" cy="457200"/>
          </a:xfrm>
          <a:prstGeom prst="rect">
            <a:avLst/>
          </a:prstGeom>
          <a:noFill/>
          <a:ln>
            <a:noFill/>
          </a:ln>
        </p:spPr>
        <p:txBody>
          <a:bodyPr wrap="square" lIns="0" tIns="0" rIns="0" bIns="0" rtlCol="0" anchor="ctr">
            <a:noAutofit/>
          </a:bodyPr>
          <a:lstStyle/>
          <a:p>
            <a:pPr algn="l" marL="0" indent="0">
              <a:lnSpc>
                <a:spcPct val="95000"/>
              </a:lnSpc>
              <a:buNone/>
            </a:pPr>
            <a:r>
              <a:rPr lang="en-US" sz="1900" b="1" dirty="0">
                <a:solidFill>
                  <a:schemeClr val="bg1"/>
                </a:solidFill>
                <a:latin typeface="+mj-lt"/>
              </a:rPr>
              <a:t>Full answer first</a:t>
            </a:r>
            <a:endParaRPr lang="en-US" sz="1900" dirty="0"/>
          </a:p>
        </p:txBody>
      </p:sp>
      <p:sp>
        <p:nvSpPr>
          <p:cNvPr id="17" name="flow1Desc"/>
          <p:cNvSpPr txBox="1"/>
          <p:nvPr/>
        </p:nvSpPr>
        <p:spPr>
          <a:xfrm>
            <a:off x="4983480" y="4526280"/>
            <a:ext cx="2459736" cy="1005840"/>
          </a:xfrm>
          <a:prstGeom prst="rect">
            <a:avLst/>
          </a:prstGeom>
          <a:noFill/>
          <a:ln>
            <a:noFill/>
          </a:ln>
        </p:spPr>
        <p:txBody>
          <a:bodyPr wrap="square" lIns="0" tIns="0" rIns="0" bIns="0" rtlCol="0" anchor="t">
            <a:noAutofit/>
          </a:bodyPr>
          <a:lstStyle/>
          <a:p>
            <a:pPr algn="l" marL="0" indent="0">
              <a:lnSpc>
                <a:spcPct val="115000"/>
              </a:lnSpc>
              <a:buNone/>
            </a:pPr>
            <a:r>
              <a:rPr lang="en-US" sz="1500" dirty="0">
                <a:solidFill>
                  <a:schemeClr val="accent6"/>
                </a:solidFill>
              </a:rPr>
              <a:t>A clear written explanation before anything moves</a:t>
            </a:r>
            <a:endParaRPr lang="en-US" sz="1500" dirty="0"/>
          </a:p>
        </p:txBody>
      </p:sp>
      <p:sp>
        <p:nvSpPr>
          <p:cNvPr id="18" name="arrow1"/>
          <p:cNvSpPr txBox="1"/>
          <p:nvPr/>
        </p:nvSpPr>
        <p:spPr>
          <a:xfrm>
            <a:off x="7754112" y="4462272"/>
            <a:ext cx="457200" cy="457200"/>
          </a:xfrm>
          <a:prstGeom prst="rect">
            <a:avLst/>
          </a:prstGeom>
          <a:noFill/>
          <a:ln>
            <a:noFill/>
          </a:ln>
        </p:spPr>
        <p:txBody>
          <a:bodyPr wrap="square" lIns="0" tIns="0" rIns="0" bIns="0" rtlCol="0" anchor="ctr">
            <a:noAutofit/>
          </a:bodyPr>
          <a:lstStyle/>
          <a:p>
            <a:pPr algn="ctr" marL="0" indent="0">
              <a:buNone/>
            </a:pPr>
            <a:r>
              <a:rPr lang="en-US" sz="2200" b="1" dirty="0">
                <a:solidFill>
                  <a:schemeClr val="accent6"/>
                </a:solidFill>
              </a:rPr>
              <a:t>→</a:t>
            </a:r>
            <a:endParaRPr lang="en-US" sz="2200" dirty="0"/>
          </a:p>
        </p:txBody>
      </p:sp>
      <p:sp>
        <p:nvSpPr>
          <p:cNvPr id="19" name="flow2"/>
          <p:cNvSpPr/>
          <p:nvPr/>
        </p:nvSpPr>
        <p:spPr>
          <a:xfrm>
            <a:off x="8266176" y="3703320"/>
            <a:ext cx="3246120" cy="1965960"/>
          </a:xfrm>
          <a:prstGeom prst="roundRect">
            <a:avLst>
              <a:gd name="adj" fmla="val 7442"/>
            </a:avLst>
          </a:prstGeom>
          <a:solidFill>
            <a:schemeClr val="tx2"/>
          </a:solidFill>
          <a:ln w="12700">
            <a:solidFill>
              <a:schemeClr val="accent5"/>
            </a:solidFill>
          </a:ln>
        </p:spPr>
      </p:sp>
      <p:sp>
        <p:nvSpPr>
          <p:cNvPr id="20" name="flow2Mark"/>
          <p:cNvSpPr/>
          <p:nvPr/>
        </p:nvSpPr>
        <p:spPr>
          <a:xfrm>
            <a:off x="8522208" y="3977640"/>
            <a:ext cx="109728" cy="384048"/>
          </a:xfrm>
          <a:prstGeom prst="rect">
            <a:avLst/>
          </a:prstGeom>
          <a:solidFill>
            <a:schemeClr val="accent5"/>
          </a:solidFill>
          <a:ln>
            <a:noFill/>
          </a:ln>
        </p:spPr>
      </p:sp>
      <p:sp>
        <p:nvSpPr>
          <p:cNvPr id="21" name="flow2Title"/>
          <p:cNvSpPr txBox="1"/>
          <p:nvPr/>
        </p:nvSpPr>
        <p:spPr>
          <a:xfrm>
            <a:off x="8796528" y="3941064"/>
            <a:ext cx="2459736" cy="457200"/>
          </a:xfrm>
          <a:prstGeom prst="rect">
            <a:avLst/>
          </a:prstGeom>
          <a:noFill/>
          <a:ln>
            <a:noFill/>
          </a:ln>
        </p:spPr>
        <p:txBody>
          <a:bodyPr wrap="square" lIns="0" tIns="0" rIns="0" bIns="0" rtlCol="0" anchor="ctr">
            <a:noAutofit/>
          </a:bodyPr>
          <a:lstStyle/>
          <a:p>
            <a:pPr algn="l" marL="0" indent="0">
              <a:lnSpc>
                <a:spcPct val="95000"/>
              </a:lnSpc>
              <a:buNone/>
            </a:pPr>
            <a:r>
              <a:rPr lang="en-US" sz="1900" b="1" dirty="0">
                <a:solidFill>
                  <a:schemeClr val="bg1"/>
                </a:solidFill>
                <a:latin typeface="+mj-lt"/>
              </a:rPr>
              <a:t>Watch it drawn</a:t>
            </a:r>
            <a:endParaRPr lang="en-US" sz="1900" dirty="0"/>
          </a:p>
        </p:txBody>
      </p:sp>
      <p:sp>
        <p:nvSpPr>
          <p:cNvPr id="22" name="flow2Desc"/>
          <p:cNvSpPr txBox="1"/>
          <p:nvPr/>
        </p:nvSpPr>
        <p:spPr>
          <a:xfrm>
            <a:off x="8796528" y="4526280"/>
            <a:ext cx="2459736" cy="1005840"/>
          </a:xfrm>
          <a:prstGeom prst="rect">
            <a:avLst/>
          </a:prstGeom>
          <a:noFill/>
          <a:ln>
            <a:noFill/>
          </a:ln>
        </p:spPr>
        <p:txBody>
          <a:bodyPr wrap="square" lIns="0" tIns="0" rIns="0" bIns="0" rtlCol="0" anchor="t">
            <a:noAutofit/>
          </a:bodyPr>
          <a:lstStyle/>
          <a:p>
            <a:pPr algn="l" marL="0" indent="0">
              <a:lnSpc>
                <a:spcPct val="115000"/>
              </a:lnSpc>
              <a:buNone/>
            </a:pPr>
            <a:r>
              <a:rPr lang="en-US" sz="1500" dirty="0">
                <a:solidFill>
                  <a:schemeClr val="accent6"/>
                </a:solidFill>
              </a:rPr>
              <a:t>Live, narrated, line by line. Interrupt any time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glow"/>
          <p:cNvSpPr/>
          <p:nvPr/>
        </p:nvSpPr>
        <p:spPr>
          <a:xfrm>
            <a:off x="-914400" y="-1371600"/>
            <a:ext cx="4114800" cy="4114800"/>
          </a:xfrm>
          <a:prstGeom prst="rect">
            <a:avLst/>
          </a:prstGeom>
          <a:solidFill>
            <a:schemeClr val="accent1">
              <a:alpha val="12000"/>
            </a:schemeClr>
          </a:solidFill>
          <a:ln>
            <a:noFill/>
          </a:ln>
        </p:spPr>
      </p:sp>
      <p:sp>
        <p:nvSpPr>
          <p:cNvPr id="3" name="glow2"/>
          <p:cNvSpPr/>
          <p:nvPr/>
        </p:nvSpPr>
        <p:spPr>
          <a:xfrm>
            <a:off x="9601200" y="4754880"/>
            <a:ext cx="3657600" cy="3657600"/>
          </a:xfrm>
          <a:prstGeom prst="rect">
            <a:avLst/>
          </a:prstGeom>
          <a:solidFill>
            <a:schemeClr val="accent2">
              <a:alpha val="8000"/>
            </a:schemeClr>
          </a:solidFill>
          <a:ln>
            <a:noFill/>
          </a:ln>
        </p:spPr>
      </p:sp>
      <p:sp>
        <p:nvSpPr>
          <p:cNvPr id="4" name="kicker"/>
          <p:cNvSpPr txBox="1"/>
          <p:nvPr/>
        </p:nvSpPr>
        <p:spPr>
          <a:xfrm>
            <a:off x="640080" y="457200"/>
            <a:ext cx="9144000" cy="274320"/>
          </a:xfrm>
          <a:prstGeom prst="rect">
            <a:avLst/>
          </a:prstGeom>
          <a:noFill/>
          <a:ln>
            <a:noFill/>
          </a:ln>
        </p:spPr>
        <p:txBody>
          <a:bodyPr wrap="square" lIns="0" tIns="0" rIns="0" bIns="0" rtlCol="0" anchor="t">
            <a:noAutofit/>
          </a:bodyPr>
          <a:lstStyle/>
          <a:p>
            <a:pPr algn="l" marL="0" indent="0">
              <a:buNone/>
            </a:pPr>
            <a:r>
              <a:rPr lang="en-US" sz="1200" b="1" spc="400" dirty="0">
                <a:solidFill>
                  <a:schemeClr val="accent2"/>
                </a:solidFill>
              </a:rPr>
              <a:t>THE PROBLEM</a:t>
            </a:r>
            <a:endParaRPr lang="en-US" sz="1200" dirty="0"/>
          </a:p>
        </p:txBody>
      </p:sp>
      <p:sp>
        <p:nvSpPr>
          <p:cNvPr id="5" name="title"/>
          <p:cNvSpPr txBox="1"/>
          <p:nvPr/>
        </p:nvSpPr>
        <p:spPr>
          <a:xfrm>
            <a:off x="640080" y="777240"/>
            <a:ext cx="10911535" cy="1188720"/>
          </a:xfrm>
          <a:prstGeom prst="rect">
            <a:avLst/>
          </a:prstGeom>
          <a:noFill/>
          <a:ln>
            <a:noFill/>
          </a:ln>
        </p:spPr>
        <p:txBody>
          <a:bodyPr wrap="square" lIns="0" tIns="0" rIns="0" bIns="0" rtlCol="0" anchor="t">
            <a:noAutofit/>
          </a:bodyPr>
          <a:lstStyle/>
          <a:p>
            <a:pPr algn="l" marL="0" indent="0">
              <a:lnSpc>
                <a:spcPct val="95000"/>
              </a:lnSpc>
              <a:buNone/>
            </a:pPr>
            <a:r>
              <a:rPr lang="en-US" sz="3200" b="1" dirty="0">
                <a:solidFill>
                  <a:schemeClr val="bg1"/>
                </a:solidFill>
                <a:latin typeface="+mj-lt"/>
              </a:rPr>
              <a:t>200 words of text is </a:t>
            </a:r>
            <a:r>
              <a:rPr lang="en-US" sz="3200" b="1" dirty="0">
                <a:gradFill>
                  <a:gsLst>
                    <a:gs pos="0">
                      <a:srgbClr val="9D8CFF"/>
                    </a:gs>
                    <a:gs pos="50000">
                      <a:srgbClr val="FF6FB5"/>
                    </a:gs>
                    <a:gs pos="100000">
                      <a:srgbClr val="FFC94D"/>
                    </a:gs>
                  </a:gsLst>
                  <a:lin ang="0" scaled="0"/>
                </a:gradFill>
                <a:latin typeface="+mj-lt"/>
              </a:rPr>
              <a:t>not understanding.</a:t>
            </a:r>
            <a:endParaRPr lang="en-US" sz="3200" dirty="0"/>
          </a:p>
        </p:txBody>
      </p:sp>
      <p:sp>
        <p:nvSpPr>
          <p:cNvPr id="6" name="footer"/>
          <p:cNvSpPr txBox="1"/>
          <p:nvPr/>
        </p:nvSpPr>
        <p:spPr>
          <a:xfrm>
            <a:off x="640080" y="6400800"/>
            <a:ext cx="5486400" cy="228600"/>
          </a:xfrm>
          <a:prstGeom prst="rect">
            <a:avLst/>
          </a:prstGeom>
          <a:noFill/>
          <a:ln>
            <a:noFill/>
          </a:ln>
        </p:spPr>
        <p:txBody>
          <a:bodyPr wrap="square" lIns="0" tIns="0" rIns="0" bIns="0" rtlCol="0" anchor="t">
            <a:noAutofit/>
          </a:bodyPr>
          <a:lstStyle/>
          <a:p>
            <a:pPr algn="l" marL="0" indent="0">
              <a:buNone/>
            </a:pPr>
            <a:r>
              <a:rPr lang="en-US" sz="1000" spc="300" dirty="0">
                <a:solidFill>
                  <a:schemeClr val="accent6"/>
                </a:solidFill>
              </a:rPr>
              <a:t>NEURALEARN  ·  COMPUTED, NOT HALLUCINATED</a:t>
            </a:r>
            <a:endParaRPr lang="en-US" sz="1000" dirty="0"/>
          </a:p>
        </p:txBody>
      </p:sp>
      <p:sp>
        <p:nvSpPr>
          <p:cNvPr id="7" name="pageNum"/>
          <p:cNvSpPr txBox="1"/>
          <p:nvPr/>
        </p:nvSpPr>
        <p:spPr>
          <a:xfrm>
            <a:off x="10637215" y="6400800"/>
            <a:ext cx="914400" cy="228600"/>
          </a:xfrm>
          <a:prstGeom prst="rect">
            <a:avLst/>
          </a:prstGeom>
          <a:noFill/>
          <a:ln>
            <a:noFill/>
          </a:ln>
        </p:spPr>
        <p:txBody>
          <a:bodyPr wrap="square" lIns="0" tIns="0" rIns="0" bIns="0" rtlCol="0" anchor="t">
            <a:noAutofit/>
          </a:bodyPr>
          <a:lstStyle/>
          <a:p>
            <a:pPr algn="r" marL="0" indent="0">
              <a:buNone/>
            </a:pPr>
            <a:r>
              <a:rPr lang="en-US" sz="1000" b="1" spc="200" dirty="0">
                <a:solidFill>
                  <a:schemeClr val="accent6"/>
                </a:solidFill>
              </a:rPr>
              <a:t>03</a:t>
            </a:r>
            <a:endParaRPr lang="en-US" sz="1000" dirty="0"/>
          </a:p>
        </p:txBody>
      </p:sp>
      <p:sp>
        <p:nvSpPr>
          <p:cNvPr id="8" name="sub"/>
          <p:cNvSpPr txBox="1"/>
          <p:nvPr/>
        </p:nvSpPr>
        <p:spPr>
          <a:xfrm>
            <a:off x="640080" y="1783080"/>
            <a:ext cx="10911535" cy="548640"/>
          </a:xfrm>
          <a:prstGeom prst="rect">
            <a:avLst/>
          </a:prstGeom>
          <a:noFill/>
          <a:ln>
            <a:noFill/>
          </a:ln>
        </p:spPr>
        <p:txBody>
          <a:bodyPr wrap="square" lIns="0" tIns="0" rIns="0" bIns="0" rtlCol="0" anchor="t">
            <a:noAutofit/>
          </a:bodyPr>
          <a:lstStyle/>
          <a:p>
            <a:pPr algn="l" marL="0" indent="0">
              <a:lnSpc>
                <a:spcPct val="115000"/>
              </a:lnSpc>
              <a:buNone/>
            </a:pPr>
            <a:r>
              <a:rPr lang="en-US" sz="1800" dirty="0">
                <a:solidFill>
                  <a:schemeClr val="accent6"/>
                </a:solidFill>
              </a:rPr>
              <a:t>Students don't lack content. They lack someone who draws it for them.</a:t>
            </a:r>
            <a:endParaRPr lang="en-US" sz="1800" dirty="0"/>
          </a:p>
        </p:txBody>
      </p:sp>
      <p:sp>
        <p:nvSpPr>
          <p:cNvPr id="9" name="pain0"/>
          <p:cNvSpPr/>
          <p:nvPr/>
        </p:nvSpPr>
        <p:spPr>
          <a:xfrm>
            <a:off x="640080" y="2560320"/>
            <a:ext cx="2596896" cy="2514600"/>
          </a:xfrm>
          <a:prstGeom prst="roundRect">
            <a:avLst>
              <a:gd name="adj" fmla="val 5818"/>
            </a:avLst>
          </a:prstGeom>
          <a:solidFill>
            <a:schemeClr val="tx2"/>
          </a:solidFill>
          <a:ln w="12700">
            <a:solidFill>
              <a:schemeClr val="accent3"/>
            </a:solidFill>
          </a:ln>
        </p:spPr>
      </p:sp>
      <p:sp>
        <p:nvSpPr>
          <p:cNvPr id="10" name="pain0Mark"/>
          <p:cNvSpPr/>
          <p:nvPr/>
        </p:nvSpPr>
        <p:spPr>
          <a:xfrm>
            <a:off x="896112" y="2834640"/>
            <a:ext cx="109728" cy="384048"/>
          </a:xfrm>
          <a:prstGeom prst="rect">
            <a:avLst/>
          </a:prstGeom>
          <a:solidFill>
            <a:schemeClr val="accent3"/>
          </a:solidFill>
          <a:ln>
            <a:noFill/>
          </a:ln>
        </p:spPr>
      </p:sp>
      <p:sp>
        <p:nvSpPr>
          <p:cNvPr id="11" name="pain0Title"/>
          <p:cNvSpPr txBox="1"/>
          <p:nvPr/>
        </p:nvSpPr>
        <p:spPr>
          <a:xfrm>
            <a:off x="1170432" y="2798064"/>
            <a:ext cx="1810512" cy="777240"/>
          </a:xfrm>
          <a:prstGeom prst="rect">
            <a:avLst/>
          </a:prstGeom>
          <a:noFill/>
          <a:ln>
            <a:noFill/>
          </a:ln>
        </p:spPr>
        <p:txBody>
          <a:bodyPr wrap="square" lIns="0" tIns="0" rIns="0" bIns="0" rtlCol="0" anchor="t">
            <a:noAutofit/>
          </a:bodyPr>
          <a:lstStyle/>
          <a:p>
            <a:pPr algn="l" marL="0" indent="0">
              <a:lnSpc>
                <a:spcPct val="95000"/>
              </a:lnSpc>
              <a:buNone/>
            </a:pPr>
            <a:r>
              <a:rPr lang="en-US" sz="1700" b="1" dirty="0">
                <a:solidFill>
                  <a:schemeClr val="bg1"/>
                </a:solidFill>
                <a:latin typeface="+mj-lt"/>
              </a:rPr>
              <a:t>Memorize, forget, repeat</a:t>
            </a:r>
            <a:endParaRPr lang="en-US" sz="1700" dirty="0"/>
          </a:p>
        </p:txBody>
      </p:sp>
      <p:sp>
        <p:nvSpPr>
          <p:cNvPr id="12" name="pain0Desc"/>
          <p:cNvSpPr txBox="1"/>
          <p:nvPr/>
        </p:nvSpPr>
        <p:spPr>
          <a:xfrm>
            <a:off x="1170432" y="3584448"/>
            <a:ext cx="1810512" cy="1353312"/>
          </a:xfrm>
          <a:prstGeom prst="rect">
            <a:avLst/>
          </a:prstGeom>
          <a:noFill/>
          <a:ln>
            <a:noFill/>
          </a:ln>
        </p:spPr>
        <p:txBody>
          <a:bodyPr wrap="square" lIns="0" tIns="0" rIns="0" bIns="0" rtlCol="0" anchor="t">
            <a:noAutofit/>
          </a:bodyPr>
          <a:lstStyle/>
          <a:p>
            <a:pPr algn="l" marL="0" indent="0">
              <a:lnSpc>
                <a:spcPct val="115000"/>
              </a:lnSpc>
              <a:buNone/>
            </a:pPr>
            <a:r>
              <a:rPr lang="en-US" sz="1500" dirty="0">
                <a:solidFill>
                  <a:schemeClr val="accent6"/>
                </a:solidFill>
              </a:rPr>
              <a:t>Dense notes get reread three times and still evaporate before the exam. No “aha”, no recall hook.</a:t>
            </a:r>
            <a:endParaRPr lang="en-US" sz="1500" dirty="0"/>
          </a:p>
        </p:txBody>
      </p:sp>
      <p:sp>
        <p:nvSpPr>
          <p:cNvPr id="13" name="pain1"/>
          <p:cNvSpPr/>
          <p:nvPr/>
        </p:nvSpPr>
        <p:spPr>
          <a:xfrm>
            <a:off x="3410712" y="2560320"/>
            <a:ext cx="2596896" cy="2514600"/>
          </a:xfrm>
          <a:prstGeom prst="roundRect">
            <a:avLst>
              <a:gd name="adj" fmla="val 5818"/>
            </a:avLst>
          </a:prstGeom>
          <a:solidFill>
            <a:schemeClr val="tx2"/>
          </a:solidFill>
          <a:ln w="12700">
            <a:solidFill>
              <a:schemeClr val="accent4"/>
            </a:solidFill>
          </a:ln>
        </p:spPr>
      </p:sp>
      <p:sp>
        <p:nvSpPr>
          <p:cNvPr id="14" name="pain1Mark"/>
          <p:cNvSpPr/>
          <p:nvPr/>
        </p:nvSpPr>
        <p:spPr>
          <a:xfrm>
            <a:off x="3666744" y="2834640"/>
            <a:ext cx="109728" cy="384048"/>
          </a:xfrm>
          <a:prstGeom prst="rect">
            <a:avLst/>
          </a:prstGeom>
          <a:solidFill>
            <a:schemeClr val="accent4"/>
          </a:solidFill>
          <a:ln>
            <a:noFill/>
          </a:ln>
        </p:spPr>
      </p:sp>
      <p:sp>
        <p:nvSpPr>
          <p:cNvPr id="15" name="pain1Title"/>
          <p:cNvSpPr txBox="1"/>
          <p:nvPr/>
        </p:nvSpPr>
        <p:spPr>
          <a:xfrm>
            <a:off x="3941064" y="2798064"/>
            <a:ext cx="1810512" cy="777240"/>
          </a:xfrm>
          <a:prstGeom prst="rect">
            <a:avLst/>
          </a:prstGeom>
          <a:noFill/>
          <a:ln>
            <a:noFill/>
          </a:ln>
        </p:spPr>
        <p:txBody>
          <a:bodyPr wrap="square" lIns="0" tIns="0" rIns="0" bIns="0" rtlCol="0" anchor="t">
            <a:noAutofit/>
          </a:bodyPr>
          <a:lstStyle/>
          <a:p>
            <a:pPr algn="l" marL="0" indent="0">
              <a:lnSpc>
                <a:spcPct val="95000"/>
              </a:lnSpc>
              <a:buNone/>
            </a:pPr>
            <a:r>
              <a:rPr lang="en-US" sz="1700" b="1" dirty="0">
                <a:solidFill>
                  <a:schemeClr val="bg1"/>
                </a:solidFill>
                <a:latin typeface="+mj-lt"/>
              </a:rPr>
              <a:t>Good help costs money</a:t>
            </a:r>
            <a:endParaRPr lang="en-US" sz="1700" dirty="0"/>
          </a:p>
        </p:txBody>
      </p:sp>
      <p:sp>
        <p:nvSpPr>
          <p:cNvPr id="16" name="pain1Desc"/>
          <p:cNvSpPr txBox="1"/>
          <p:nvPr/>
        </p:nvSpPr>
        <p:spPr>
          <a:xfrm>
            <a:off x="3941064" y="3584448"/>
            <a:ext cx="1810512" cy="1353312"/>
          </a:xfrm>
          <a:prstGeom prst="rect">
            <a:avLst/>
          </a:prstGeom>
          <a:noFill/>
          <a:ln>
            <a:noFill/>
          </a:ln>
        </p:spPr>
        <p:txBody>
          <a:bodyPr wrap="square" lIns="0" tIns="0" rIns="0" bIns="0" rtlCol="0" anchor="t">
            <a:noAutofit/>
          </a:bodyPr>
          <a:lstStyle/>
          <a:p>
            <a:pPr algn="l" marL="0" indent="0">
              <a:lnSpc>
                <a:spcPct val="115000"/>
              </a:lnSpc>
              <a:buNone/>
            </a:pPr>
            <a:r>
              <a:rPr lang="en-US" sz="1500" dirty="0">
                <a:solidFill>
                  <a:schemeClr val="accent6"/>
                </a:solidFill>
              </a:rPr>
              <a:t>Coaching and personal tutors go to the few who can pay. Doubts wait for everyone else.</a:t>
            </a:r>
            <a:endParaRPr lang="en-US" sz="1500" dirty="0"/>
          </a:p>
        </p:txBody>
      </p:sp>
      <p:sp>
        <p:nvSpPr>
          <p:cNvPr id="17" name="pain2"/>
          <p:cNvSpPr/>
          <p:nvPr/>
        </p:nvSpPr>
        <p:spPr>
          <a:xfrm>
            <a:off x="6181344" y="2560320"/>
            <a:ext cx="2596896" cy="2514600"/>
          </a:xfrm>
          <a:prstGeom prst="roundRect">
            <a:avLst>
              <a:gd name="adj" fmla="val 5818"/>
            </a:avLst>
          </a:prstGeom>
          <a:solidFill>
            <a:schemeClr val="tx2"/>
          </a:solidFill>
          <a:ln w="12700">
            <a:solidFill>
              <a:schemeClr val="accent5"/>
            </a:solidFill>
          </a:ln>
        </p:spPr>
      </p:sp>
      <p:sp>
        <p:nvSpPr>
          <p:cNvPr id="18" name="pain2Mark"/>
          <p:cNvSpPr/>
          <p:nvPr/>
        </p:nvSpPr>
        <p:spPr>
          <a:xfrm>
            <a:off x="6437376" y="2834640"/>
            <a:ext cx="109728" cy="384048"/>
          </a:xfrm>
          <a:prstGeom prst="rect">
            <a:avLst/>
          </a:prstGeom>
          <a:solidFill>
            <a:schemeClr val="accent5"/>
          </a:solidFill>
          <a:ln>
            <a:noFill/>
          </a:ln>
        </p:spPr>
      </p:sp>
      <p:sp>
        <p:nvSpPr>
          <p:cNvPr id="19" name="pain2Title"/>
          <p:cNvSpPr txBox="1"/>
          <p:nvPr/>
        </p:nvSpPr>
        <p:spPr>
          <a:xfrm>
            <a:off x="6711696" y="2798064"/>
            <a:ext cx="1810512" cy="777240"/>
          </a:xfrm>
          <a:prstGeom prst="rect">
            <a:avLst/>
          </a:prstGeom>
          <a:noFill/>
          <a:ln>
            <a:noFill/>
          </a:ln>
        </p:spPr>
        <p:txBody>
          <a:bodyPr wrap="square" lIns="0" tIns="0" rIns="0" bIns="0" rtlCol="0" anchor="t">
            <a:noAutofit/>
          </a:bodyPr>
          <a:lstStyle/>
          <a:p>
            <a:pPr algn="l" marL="0" indent="0">
              <a:lnSpc>
                <a:spcPct val="95000"/>
              </a:lnSpc>
              <a:buNone/>
            </a:pPr>
            <a:r>
              <a:rPr lang="en-US" sz="1700" b="1" dirty="0">
                <a:solidFill>
                  <a:schemeClr val="bg1"/>
                </a:solidFill>
                <a:latin typeface="+mj-lt"/>
              </a:rPr>
              <a:t>Text AI ≠ a teacher</a:t>
            </a:r>
            <a:endParaRPr lang="en-US" sz="1700" dirty="0"/>
          </a:p>
        </p:txBody>
      </p:sp>
      <p:sp>
        <p:nvSpPr>
          <p:cNvPr id="20" name="pain2Desc"/>
          <p:cNvSpPr txBox="1"/>
          <p:nvPr/>
        </p:nvSpPr>
        <p:spPr>
          <a:xfrm>
            <a:off x="6711696" y="3584448"/>
            <a:ext cx="1810512" cy="1353312"/>
          </a:xfrm>
          <a:prstGeom prst="rect">
            <a:avLst/>
          </a:prstGeom>
          <a:noFill/>
          <a:ln>
            <a:noFill/>
          </a:ln>
        </p:spPr>
        <p:txBody>
          <a:bodyPr wrap="square" lIns="0" tIns="0" rIns="0" bIns="0" rtlCol="0" anchor="t">
            <a:noAutofit/>
          </a:bodyPr>
          <a:lstStyle/>
          <a:p>
            <a:pPr algn="l" marL="0" indent="0">
              <a:lnSpc>
                <a:spcPct val="115000"/>
              </a:lnSpc>
              <a:buNone/>
            </a:pPr>
            <a:r>
              <a:rPr lang="en-US" sz="1500" dirty="0">
                <a:solidFill>
                  <a:schemeClr val="accent6"/>
                </a:solidFill>
              </a:rPr>
              <a:t>A chatbot gives a wall of text: no diagram, no motion, no sync between saying and showing.</a:t>
            </a:r>
            <a:endParaRPr lang="en-US" sz="1500" dirty="0"/>
          </a:p>
        </p:txBody>
      </p:sp>
      <p:sp>
        <p:nvSpPr>
          <p:cNvPr id="21" name="pain3"/>
          <p:cNvSpPr/>
          <p:nvPr/>
        </p:nvSpPr>
        <p:spPr>
          <a:xfrm>
            <a:off x="8951976" y="2560320"/>
            <a:ext cx="2596896" cy="2514600"/>
          </a:xfrm>
          <a:prstGeom prst="roundRect">
            <a:avLst>
              <a:gd name="adj" fmla="val 5818"/>
            </a:avLst>
          </a:prstGeom>
          <a:solidFill>
            <a:schemeClr val="tx2"/>
          </a:solidFill>
          <a:ln w="12700">
            <a:solidFill>
              <a:schemeClr val="accent1"/>
            </a:solidFill>
          </a:ln>
        </p:spPr>
      </p:sp>
      <p:sp>
        <p:nvSpPr>
          <p:cNvPr id="22" name="pain3Mark"/>
          <p:cNvSpPr/>
          <p:nvPr/>
        </p:nvSpPr>
        <p:spPr>
          <a:xfrm>
            <a:off x="9208008" y="2834640"/>
            <a:ext cx="109728" cy="384048"/>
          </a:xfrm>
          <a:prstGeom prst="rect">
            <a:avLst/>
          </a:prstGeom>
          <a:solidFill>
            <a:schemeClr val="accent1"/>
          </a:solidFill>
          <a:ln>
            <a:noFill/>
          </a:ln>
        </p:spPr>
      </p:sp>
      <p:sp>
        <p:nvSpPr>
          <p:cNvPr id="23" name="pain3Title"/>
          <p:cNvSpPr txBox="1"/>
          <p:nvPr/>
        </p:nvSpPr>
        <p:spPr>
          <a:xfrm>
            <a:off x="9482328" y="2798064"/>
            <a:ext cx="1810512" cy="777240"/>
          </a:xfrm>
          <a:prstGeom prst="rect">
            <a:avLst/>
          </a:prstGeom>
          <a:noFill/>
          <a:ln>
            <a:noFill/>
          </a:ln>
        </p:spPr>
        <p:txBody>
          <a:bodyPr wrap="square" lIns="0" tIns="0" rIns="0" bIns="0" rtlCol="0" anchor="t">
            <a:noAutofit/>
          </a:bodyPr>
          <a:lstStyle/>
          <a:p>
            <a:pPr algn="l" marL="0" indent="0">
              <a:lnSpc>
                <a:spcPct val="95000"/>
              </a:lnSpc>
              <a:buNone/>
            </a:pPr>
            <a:r>
              <a:rPr lang="en-US" sz="1700" b="1" dirty="0">
                <a:solidFill>
                  <a:schemeClr val="bg1"/>
                </a:solidFill>
                <a:latin typeface="+mj-lt"/>
              </a:rPr>
              <a:t>AI drawings can be wrong</a:t>
            </a:r>
            <a:endParaRPr lang="en-US" sz="1700" dirty="0"/>
          </a:p>
        </p:txBody>
      </p:sp>
      <p:sp>
        <p:nvSpPr>
          <p:cNvPr id="24" name="pain3Desc"/>
          <p:cNvSpPr txBox="1"/>
          <p:nvPr/>
        </p:nvSpPr>
        <p:spPr>
          <a:xfrm>
            <a:off x="9482328" y="3584448"/>
            <a:ext cx="1810512" cy="1353312"/>
          </a:xfrm>
          <a:prstGeom prst="rect">
            <a:avLst/>
          </a:prstGeom>
          <a:noFill/>
          <a:ln>
            <a:noFill/>
          </a:ln>
        </p:spPr>
        <p:txBody>
          <a:bodyPr wrap="square" lIns="0" tIns="0" rIns="0" bIns="0" rtlCol="0" anchor="t">
            <a:noAutofit/>
          </a:bodyPr>
          <a:lstStyle/>
          <a:p>
            <a:pPr algn="l" marL="0" indent="0">
              <a:lnSpc>
                <a:spcPct val="115000"/>
              </a:lnSpc>
              <a:buNone/>
            </a:pPr>
            <a:r>
              <a:rPr lang="en-US" sz="1500" dirty="0">
                <a:solidFill>
                  <a:schemeClr val="accent6"/>
                </a:solidFill>
              </a:rPr>
              <a:t>When a model makes up the picture, it can make it up wrong, and a student can't tell.</a:t>
            </a:r>
            <a:endParaRPr lang="en-US" sz="1500" dirty="0"/>
          </a:p>
        </p:txBody>
      </p:sp>
      <p:sp>
        <p:nvSpPr>
          <p:cNvPr id="25" name="callout"/>
          <p:cNvSpPr/>
          <p:nvPr/>
        </p:nvSpPr>
        <p:spPr>
          <a:xfrm>
            <a:off x="640080" y="5349240"/>
            <a:ext cx="10911535" cy="777240"/>
          </a:xfrm>
          <a:prstGeom prst="roundRect">
            <a:avLst>
              <a:gd name="adj" fmla="val 18824"/>
            </a:avLst>
          </a:prstGeom>
          <a:solidFill>
            <a:schemeClr val="accent3">
              <a:alpha val="15000"/>
            </a:schemeClr>
          </a:solidFill>
          <a:ln w="12700">
            <a:solidFill>
              <a:schemeClr val="accent3"/>
            </a:solidFill>
          </a:ln>
        </p:spPr>
        <p:txBody>
          <a:bodyPr wrap="square" lIns="274320" tIns="274320" rIns="274320" bIns="274320" rtlCol="0" anchor="ctr">
            <a:noAutofit/>
          </a:bodyPr>
          <a:lstStyle/>
          <a:p>
            <a:pPr algn="l" marL="0" indent="0">
              <a:buNone/>
            </a:pPr>
            <a:r>
              <a:rPr lang="en-US" sz="1800" b="1" dirty="0">
                <a:solidFill>
                  <a:schemeClr val="bg1"/>
                </a:solidFill>
              </a:rPr>
              <a:t>Reading forgets. Coaching excludes. Chatbots dump. And a wrong picture is worse than none.</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glow"/>
          <p:cNvSpPr/>
          <p:nvPr/>
        </p:nvSpPr>
        <p:spPr>
          <a:xfrm>
            <a:off x="-914400" y="-1371600"/>
            <a:ext cx="4114800" cy="4114800"/>
          </a:xfrm>
          <a:prstGeom prst="rect">
            <a:avLst/>
          </a:prstGeom>
          <a:solidFill>
            <a:schemeClr val="accent1">
              <a:alpha val="12000"/>
            </a:schemeClr>
          </a:solidFill>
          <a:ln>
            <a:noFill/>
          </a:ln>
        </p:spPr>
      </p:sp>
      <p:sp>
        <p:nvSpPr>
          <p:cNvPr id="3" name="glow2"/>
          <p:cNvSpPr/>
          <p:nvPr/>
        </p:nvSpPr>
        <p:spPr>
          <a:xfrm>
            <a:off x="9601200" y="4754880"/>
            <a:ext cx="3657600" cy="3657600"/>
          </a:xfrm>
          <a:prstGeom prst="rect">
            <a:avLst/>
          </a:prstGeom>
          <a:solidFill>
            <a:schemeClr val="accent2">
              <a:alpha val="8000"/>
            </a:schemeClr>
          </a:solidFill>
          <a:ln>
            <a:noFill/>
          </a:ln>
        </p:spPr>
      </p:sp>
      <p:sp>
        <p:nvSpPr>
          <p:cNvPr id="4" name="kicker"/>
          <p:cNvSpPr txBox="1"/>
          <p:nvPr/>
        </p:nvSpPr>
        <p:spPr>
          <a:xfrm>
            <a:off x="640080" y="457200"/>
            <a:ext cx="9144000" cy="274320"/>
          </a:xfrm>
          <a:prstGeom prst="rect">
            <a:avLst/>
          </a:prstGeom>
          <a:noFill/>
          <a:ln>
            <a:noFill/>
          </a:ln>
        </p:spPr>
        <p:txBody>
          <a:bodyPr wrap="square" lIns="0" tIns="0" rIns="0" bIns="0" rtlCol="0" anchor="t">
            <a:noAutofit/>
          </a:bodyPr>
          <a:lstStyle/>
          <a:p>
            <a:pPr algn="l" marL="0" indent="0">
              <a:buNone/>
            </a:pPr>
            <a:r>
              <a:rPr lang="en-US" sz="1200" b="1" spc="400" dirty="0">
                <a:solidFill>
                  <a:schemeClr val="accent2"/>
                </a:solidFill>
              </a:rPr>
              <a:t>THE INSIGHT</a:t>
            </a:r>
            <a:endParaRPr lang="en-US" sz="1200" dirty="0"/>
          </a:p>
        </p:txBody>
      </p:sp>
      <p:sp>
        <p:nvSpPr>
          <p:cNvPr id="5" name="title"/>
          <p:cNvSpPr txBox="1"/>
          <p:nvPr/>
        </p:nvSpPr>
        <p:spPr>
          <a:xfrm>
            <a:off x="640080" y="777240"/>
            <a:ext cx="10911535" cy="1188720"/>
          </a:xfrm>
          <a:prstGeom prst="rect">
            <a:avLst/>
          </a:prstGeom>
          <a:noFill/>
          <a:ln>
            <a:noFill/>
          </a:ln>
        </p:spPr>
        <p:txBody>
          <a:bodyPr wrap="square" lIns="0" tIns="0" rIns="0" bIns="0" rtlCol="0" anchor="t">
            <a:noAutofit/>
          </a:bodyPr>
          <a:lstStyle/>
          <a:p>
            <a:pPr algn="l" marL="0" indent="0">
              <a:lnSpc>
                <a:spcPct val="95000"/>
              </a:lnSpc>
              <a:buNone/>
            </a:pPr>
            <a:r>
              <a:rPr lang="en-US" sz="3200" b="1" dirty="0">
                <a:solidFill>
                  <a:schemeClr val="bg1"/>
                </a:solidFill>
                <a:latin typeface="+mj-lt"/>
              </a:rPr>
              <a:t>A great professor doesn't just talk. </a:t>
            </a:r>
            <a:br>
              <a:rPr lang="en-US" sz="3200" dirty="0"/>
            </a:br>
            <a:r>
              <a:rPr lang="en-US" sz="3200" b="1" dirty="0">
                <a:gradFill>
                  <a:gsLst>
                    <a:gs pos="0">
                      <a:srgbClr val="9D8CFF"/>
                    </a:gs>
                    <a:gs pos="50000">
                      <a:srgbClr val="FF6FB5"/>
                    </a:gs>
                    <a:gs pos="100000">
                      <a:srgbClr val="FFC94D"/>
                    </a:gs>
                  </a:gsLst>
                  <a:lin ang="0" scaled="0"/>
                </a:gradFill>
                <a:latin typeface="+mj-lt"/>
              </a:rPr>
              <a:t>He draws while explaining.</a:t>
            </a:r>
            <a:endParaRPr lang="en-US" sz="3200" dirty="0"/>
          </a:p>
        </p:txBody>
      </p:sp>
      <p:sp>
        <p:nvSpPr>
          <p:cNvPr id="6" name="footer"/>
          <p:cNvSpPr txBox="1"/>
          <p:nvPr/>
        </p:nvSpPr>
        <p:spPr>
          <a:xfrm>
            <a:off x="640080" y="6400800"/>
            <a:ext cx="5486400" cy="228600"/>
          </a:xfrm>
          <a:prstGeom prst="rect">
            <a:avLst/>
          </a:prstGeom>
          <a:noFill/>
          <a:ln>
            <a:noFill/>
          </a:ln>
        </p:spPr>
        <p:txBody>
          <a:bodyPr wrap="square" lIns="0" tIns="0" rIns="0" bIns="0" rtlCol="0" anchor="t">
            <a:noAutofit/>
          </a:bodyPr>
          <a:lstStyle/>
          <a:p>
            <a:pPr algn="l" marL="0" indent="0">
              <a:buNone/>
            </a:pPr>
            <a:r>
              <a:rPr lang="en-US" sz="1000" spc="300" dirty="0">
                <a:solidFill>
                  <a:schemeClr val="accent6"/>
                </a:solidFill>
              </a:rPr>
              <a:t>NEURALEARN  ·  COMPUTED, NOT HALLUCINATED</a:t>
            </a:r>
            <a:endParaRPr lang="en-US" sz="1000" dirty="0"/>
          </a:p>
        </p:txBody>
      </p:sp>
      <p:sp>
        <p:nvSpPr>
          <p:cNvPr id="7" name="pageNum"/>
          <p:cNvSpPr txBox="1"/>
          <p:nvPr/>
        </p:nvSpPr>
        <p:spPr>
          <a:xfrm>
            <a:off x="10637215" y="6400800"/>
            <a:ext cx="914400" cy="228600"/>
          </a:xfrm>
          <a:prstGeom prst="rect">
            <a:avLst/>
          </a:prstGeom>
          <a:noFill/>
          <a:ln>
            <a:noFill/>
          </a:ln>
        </p:spPr>
        <p:txBody>
          <a:bodyPr wrap="square" lIns="0" tIns="0" rIns="0" bIns="0" rtlCol="0" anchor="t">
            <a:noAutofit/>
          </a:bodyPr>
          <a:lstStyle/>
          <a:p>
            <a:pPr algn="r" marL="0" indent="0">
              <a:buNone/>
            </a:pPr>
            <a:r>
              <a:rPr lang="en-US" sz="1000" b="1" spc="200" dirty="0">
                <a:solidFill>
                  <a:schemeClr val="accent6"/>
                </a:solidFill>
              </a:rPr>
              <a:t>04</a:t>
            </a:r>
            <a:endParaRPr lang="en-US" sz="1000" dirty="0"/>
          </a:p>
        </p:txBody>
      </p:sp>
      <p:sp>
        <p:nvSpPr>
          <p:cNvPr id="8" name="sub"/>
          <p:cNvSpPr txBox="1"/>
          <p:nvPr/>
        </p:nvSpPr>
        <p:spPr>
          <a:xfrm>
            <a:off x="640080" y="2194560"/>
            <a:ext cx="10911535" cy="548640"/>
          </a:xfrm>
          <a:prstGeom prst="rect">
            <a:avLst/>
          </a:prstGeom>
          <a:noFill/>
          <a:ln>
            <a:noFill/>
          </a:ln>
        </p:spPr>
        <p:txBody>
          <a:bodyPr wrap="square" lIns="0" tIns="0" rIns="0" bIns="0" rtlCol="0" anchor="t">
            <a:noAutofit/>
          </a:bodyPr>
          <a:lstStyle/>
          <a:p>
            <a:pPr algn="l" marL="0" indent="0">
              <a:lnSpc>
                <a:spcPct val="115000"/>
              </a:lnSpc>
              <a:buNone/>
            </a:pPr>
            <a:r>
              <a:rPr lang="en-US" sz="1800" dirty="0">
                <a:solidFill>
                  <a:schemeClr val="accent6"/>
                </a:solidFill>
              </a:rPr>
              <a:t>See it move, hear it, and read it, all at once. That is how the brain actually learns.</a:t>
            </a:r>
            <a:endParaRPr lang="en-US" sz="1800" dirty="0"/>
          </a:p>
        </p:txBody>
      </p:sp>
      <p:sp>
        <p:nvSpPr>
          <p:cNvPr id="9" name="frame0"/>
          <p:cNvSpPr/>
          <p:nvPr/>
        </p:nvSpPr>
        <p:spPr>
          <a:xfrm>
            <a:off x="640080" y="3154680"/>
            <a:ext cx="2398700" cy="1965960"/>
          </a:xfrm>
          <a:prstGeom prst="roundRect">
            <a:avLst>
              <a:gd name="adj" fmla="val 7442"/>
            </a:avLst>
          </a:prstGeom>
          <a:solidFill>
            <a:schemeClr val="tx2"/>
          </a:solidFill>
          <a:ln w="12700">
            <a:solidFill>
              <a:schemeClr val="accent4"/>
            </a:solidFill>
          </a:ln>
        </p:spPr>
      </p:sp>
      <p:sp>
        <p:nvSpPr>
          <p:cNvPr id="10" name="frameK0"/>
          <p:cNvSpPr txBox="1"/>
          <p:nvPr/>
        </p:nvSpPr>
        <p:spPr>
          <a:xfrm>
            <a:off x="914400" y="3383280"/>
            <a:ext cx="1850060" cy="274320"/>
          </a:xfrm>
          <a:prstGeom prst="rect">
            <a:avLst/>
          </a:prstGeom>
          <a:noFill/>
          <a:ln>
            <a:noFill/>
          </a:ln>
        </p:spPr>
        <p:txBody>
          <a:bodyPr wrap="square" lIns="0" tIns="0" rIns="0" bIns="0" rtlCol="0" anchor="t">
            <a:noAutofit/>
          </a:bodyPr>
          <a:lstStyle/>
          <a:p>
            <a:pPr algn="l" marL="0" indent="0">
              <a:buNone/>
            </a:pPr>
            <a:r>
              <a:rPr lang="en-US" sz="1200" b="1" spc="300" dirty="0">
                <a:solidFill>
                  <a:schemeClr val="accent4"/>
                </a:solidFill>
              </a:rPr>
              <a:t>STEP 1</a:t>
            </a:r>
            <a:endParaRPr lang="en-US" sz="1200" dirty="0"/>
          </a:p>
        </p:txBody>
      </p:sp>
      <p:sp>
        <p:nvSpPr>
          <p:cNvPr id="11" name="frameT0"/>
          <p:cNvSpPr txBox="1"/>
          <p:nvPr/>
        </p:nvSpPr>
        <p:spPr>
          <a:xfrm>
            <a:off x="914400" y="3749040"/>
            <a:ext cx="1850060" cy="502920"/>
          </a:xfrm>
          <a:prstGeom prst="rect">
            <a:avLst/>
          </a:prstGeom>
          <a:noFill/>
          <a:ln>
            <a:noFill/>
          </a:ln>
        </p:spPr>
        <p:txBody>
          <a:bodyPr wrap="square" lIns="0" tIns="0" rIns="0" bIns="0" rtlCol="0" anchor="t">
            <a:noAutofit/>
          </a:bodyPr>
          <a:lstStyle/>
          <a:p>
            <a:pPr algn="l" marL="0" indent="0">
              <a:buNone/>
            </a:pPr>
            <a:r>
              <a:rPr lang="en-US" sz="2200" b="1" dirty="0">
                <a:solidFill>
                  <a:schemeClr val="bg1"/>
                </a:solidFill>
                <a:latin typeface="+mj-lt"/>
              </a:rPr>
              <a:t>Sunlight</a:t>
            </a:r>
            <a:endParaRPr lang="en-US" sz="2200" dirty="0"/>
          </a:p>
        </p:txBody>
      </p:sp>
      <p:sp>
        <p:nvSpPr>
          <p:cNvPr id="12" name="frameD0"/>
          <p:cNvSpPr txBox="1"/>
          <p:nvPr/>
        </p:nvSpPr>
        <p:spPr>
          <a:xfrm>
            <a:off x="914400" y="4343400"/>
            <a:ext cx="1850060" cy="594360"/>
          </a:xfrm>
          <a:prstGeom prst="rect">
            <a:avLst/>
          </a:prstGeom>
          <a:noFill/>
          <a:ln>
            <a:noFill/>
          </a:ln>
        </p:spPr>
        <p:txBody>
          <a:bodyPr wrap="square" lIns="0" tIns="0" rIns="0" bIns="0" rtlCol="0" anchor="t">
            <a:noAutofit/>
          </a:bodyPr>
          <a:lstStyle/>
          <a:p>
            <a:pPr algn="l" marL="0" indent="0">
              <a:lnSpc>
                <a:spcPct val="115000"/>
              </a:lnSpc>
              <a:buNone/>
            </a:pPr>
            <a:r>
              <a:rPr lang="en-US" sz="1600" dirty="0">
                <a:solidFill>
                  <a:schemeClr val="accent6"/>
                </a:solidFill>
              </a:rPr>
              <a:t>energy arrives</a:t>
            </a:r>
            <a:endParaRPr lang="en-US" sz="1600" dirty="0"/>
          </a:p>
        </p:txBody>
      </p:sp>
      <p:sp>
        <p:nvSpPr>
          <p:cNvPr id="13" name="arrow0"/>
          <p:cNvSpPr txBox="1"/>
          <p:nvPr/>
        </p:nvSpPr>
        <p:spPr>
          <a:xfrm>
            <a:off x="3029636" y="3904488"/>
            <a:ext cx="457200" cy="457200"/>
          </a:xfrm>
          <a:prstGeom prst="rect">
            <a:avLst/>
          </a:prstGeom>
          <a:noFill/>
          <a:ln>
            <a:noFill/>
          </a:ln>
        </p:spPr>
        <p:txBody>
          <a:bodyPr wrap="square" lIns="0" tIns="0" rIns="0" bIns="0" rtlCol="0" anchor="ctr">
            <a:noAutofit/>
          </a:bodyPr>
          <a:lstStyle/>
          <a:p>
            <a:pPr algn="ctr" marL="0" indent="0">
              <a:buNone/>
            </a:pPr>
            <a:r>
              <a:rPr lang="en-US" sz="2200" b="1" dirty="0">
                <a:solidFill>
                  <a:schemeClr val="accent6"/>
                </a:solidFill>
              </a:rPr>
              <a:t>→</a:t>
            </a:r>
            <a:endParaRPr lang="en-US" sz="2200" dirty="0"/>
          </a:p>
        </p:txBody>
      </p:sp>
      <p:sp>
        <p:nvSpPr>
          <p:cNvPr id="14" name="frame1"/>
          <p:cNvSpPr/>
          <p:nvPr/>
        </p:nvSpPr>
        <p:spPr>
          <a:xfrm>
            <a:off x="3477692" y="3154680"/>
            <a:ext cx="2398700" cy="1965960"/>
          </a:xfrm>
          <a:prstGeom prst="roundRect">
            <a:avLst>
              <a:gd name="adj" fmla="val 7442"/>
            </a:avLst>
          </a:prstGeom>
          <a:solidFill>
            <a:schemeClr val="tx2"/>
          </a:solidFill>
          <a:ln w="12700">
            <a:solidFill>
              <a:schemeClr val="accent5"/>
            </a:solidFill>
          </a:ln>
        </p:spPr>
      </p:sp>
      <p:sp>
        <p:nvSpPr>
          <p:cNvPr id="15" name="frameK1"/>
          <p:cNvSpPr txBox="1"/>
          <p:nvPr/>
        </p:nvSpPr>
        <p:spPr>
          <a:xfrm>
            <a:off x="3752012" y="3383280"/>
            <a:ext cx="1850060" cy="274320"/>
          </a:xfrm>
          <a:prstGeom prst="rect">
            <a:avLst/>
          </a:prstGeom>
          <a:noFill/>
          <a:ln>
            <a:noFill/>
          </a:ln>
        </p:spPr>
        <p:txBody>
          <a:bodyPr wrap="square" lIns="0" tIns="0" rIns="0" bIns="0" rtlCol="0" anchor="t">
            <a:noAutofit/>
          </a:bodyPr>
          <a:lstStyle/>
          <a:p>
            <a:pPr algn="l" marL="0" indent="0">
              <a:buNone/>
            </a:pPr>
            <a:r>
              <a:rPr lang="en-US" sz="1200" b="1" spc="300" dirty="0">
                <a:solidFill>
                  <a:schemeClr val="accent5"/>
                </a:solidFill>
              </a:rPr>
              <a:t>STEP 2</a:t>
            </a:r>
            <a:endParaRPr lang="en-US" sz="1200" dirty="0"/>
          </a:p>
        </p:txBody>
      </p:sp>
      <p:sp>
        <p:nvSpPr>
          <p:cNvPr id="16" name="frameT1"/>
          <p:cNvSpPr txBox="1"/>
          <p:nvPr/>
        </p:nvSpPr>
        <p:spPr>
          <a:xfrm>
            <a:off x="3752012" y="3749040"/>
            <a:ext cx="1850060" cy="502920"/>
          </a:xfrm>
          <a:prstGeom prst="rect">
            <a:avLst/>
          </a:prstGeom>
          <a:noFill/>
          <a:ln>
            <a:noFill/>
          </a:ln>
        </p:spPr>
        <p:txBody>
          <a:bodyPr wrap="square" lIns="0" tIns="0" rIns="0" bIns="0" rtlCol="0" anchor="t">
            <a:noAutofit/>
          </a:bodyPr>
          <a:lstStyle/>
          <a:p>
            <a:pPr algn="l" marL="0" indent="0">
              <a:buNone/>
            </a:pPr>
            <a:r>
              <a:rPr lang="en-US" sz="2200" b="1" dirty="0">
                <a:solidFill>
                  <a:schemeClr val="bg1"/>
                </a:solidFill>
                <a:latin typeface="+mj-lt"/>
              </a:rPr>
              <a:t>Leaf</a:t>
            </a:r>
            <a:endParaRPr lang="en-US" sz="2200" dirty="0"/>
          </a:p>
        </p:txBody>
      </p:sp>
      <p:sp>
        <p:nvSpPr>
          <p:cNvPr id="17" name="frameD1"/>
          <p:cNvSpPr txBox="1"/>
          <p:nvPr/>
        </p:nvSpPr>
        <p:spPr>
          <a:xfrm>
            <a:off x="3752012" y="4343400"/>
            <a:ext cx="1850060" cy="594360"/>
          </a:xfrm>
          <a:prstGeom prst="rect">
            <a:avLst/>
          </a:prstGeom>
          <a:noFill/>
          <a:ln>
            <a:noFill/>
          </a:ln>
        </p:spPr>
        <p:txBody>
          <a:bodyPr wrap="square" lIns="0" tIns="0" rIns="0" bIns="0" rtlCol="0" anchor="t">
            <a:noAutofit/>
          </a:bodyPr>
          <a:lstStyle/>
          <a:p>
            <a:pPr algn="l" marL="0" indent="0">
              <a:lnSpc>
                <a:spcPct val="115000"/>
              </a:lnSpc>
              <a:buNone/>
            </a:pPr>
            <a:r>
              <a:rPr lang="en-US" sz="1600" dirty="0">
                <a:solidFill>
                  <a:schemeClr val="accent6"/>
                </a:solidFill>
              </a:rPr>
              <a:t>light is captured</a:t>
            </a:r>
            <a:endParaRPr lang="en-US" sz="1600" dirty="0"/>
          </a:p>
        </p:txBody>
      </p:sp>
      <p:sp>
        <p:nvSpPr>
          <p:cNvPr id="18" name="arrow1"/>
          <p:cNvSpPr txBox="1"/>
          <p:nvPr/>
        </p:nvSpPr>
        <p:spPr>
          <a:xfrm>
            <a:off x="5867248" y="3904488"/>
            <a:ext cx="457200" cy="457200"/>
          </a:xfrm>
          <a:prstGeom prst="rect">
            <a:avLst/>
          </a:prstGeom>
          <a:noFill/>
          <a:ln>
            <a:noFill/>
          </a:ln>
        </p:spPr>
        <p:txBody>
          <a:bodyPr wrap="square" lIns="0" tIns="0" rIns="0" bIns="0" rtlCol="0" anchor="ctr">
            <a:noAutofit/>
          </a:bodyPr>
          <a:lstStyle/>
          <a:p>
            <a:pPr algn="ctr" marL="0" indent="0">
              <a:buNone/>
            </a:pPr>
            <a:r>
              <a:rPr lang="en-US" sz="2200" b="1" dirty="0">
                <a:solidFill>
                  <a:schemeClr val="accent6"/>
                </a:solidFill>
              </a:rPr>
              <a:t>→</a:t>
            </a:r>
            <a:endParaRPr lang="en-US" sz="2200" dirty="0"/>
          </a:p>
        </p:txBody>
      </p:sp>
      <p:sp>
        <p:nvSpPr>
          <p:cNvPr id="19" name="frame2"/>
          <p:cNvSpPr/>
          <p:nvPr/>
        </p:nvSpPr>
        <p:spPr>
          <a:xfrm>
            <a:off x="6315304" y="3154680"/>
            <a:ext cx="2398700" cy="1965960"/>
          </a:xfrm>
          <a:prstGeom prst="roundRect">
            <a:avLst>
              <a:gd name="adj" fmla="val 7442"/>
            </a:avLst>
          </a:prstGeom>
          <a:solidFill>
            <a:schemeClr val="tx2"/>
          </a:solidFill>
          <a:ln w="25400">
            <a:solidFill>
              <a:schemeClr val="accent2"/>
            </a:solidFill>
          </a:ln>
        </p:spPr>
      </p:sp>
      <p:sp>
        <p:nvSpPr>
          <p:cNvPr id="20" name="frameK2"/>
          <p:cNvSpPr txBox="1"/>
          <p:nvPr/>
        </p:nvSpPr>
        <p:spPr>
          <a:xfrm>
            <a:off x="6589624" y="3383280"/>
            <a:ext cx="1850060" cy="274320"/>
          </a:xfrm>
          <a:prstGeom prst="rect">
            <a:avLst/>
          </a:prstGeom>
          <a:noFill/>
          <a:ln>
            <a:noFill/>
          </a:ln>
        </p:spPr>
        <p:txBody>
          <a:bodyPr wrap="square" lIns="0" tIns="0" rIns="0" bIns="0" rtlCol="0" anchor="t">
            <a:noAutofit/>
          </a:bodyPr>
          <a:lstStyle/>
          <a:p>
            <a:pPr algn="l" marL="0" indent="0">
              <a:buNone/>
            </a:pPr>
            <a:r>
              <a:rPr lang="en-US" sz="1200" b="1" spc="300" dirty="0">
                <a:solidFill>
                  <a:schemeClr val="accent2"/>
                </a:solidFill>
              </a:rPr>
              <a:t>STEP 3</a:t>
            </a:r>
            <a:endParaRPr lang="en-US" sz="1200" dirty="0"/>
          </a:p>
        </p:txBody>
      </p:sp>
      <p:sp>
        <p:nvSpPr>
          <p:cNvPr id="21" name="frameT2"/>
          <p:cNvSpPr txBox="1"/>
          <p:nvPr/>
        </p:nvSpPr>
        <p:spPr>
          <a:xfrm>
            <a:off x="6589624" y="3749040"/>
            <a:ext cx="1850060" cy="502920"/>
          </a:xfrm>
          <a:prstGeom prst="rect">
            <a:avLst/>
          </a:prstGeom>
          <a:noFill/>
          <a:ln>
            <a:noFill/>
          </a:ln>
        </p:spPr>
        <p:txBody>
          <a:bodyPr wrap="square" lIns="0" tIns="0" rIns="0" bIns="0" rtlCol="0" anchor="t">
            <a:noAutofit/>
          </a:bodyPr>
          <a:lstStyle/>
          <a:p>
            <a:pPr algn="l" marL="0" indent="0">
              <a:buNone/>
            </a:pPr>
            <a:r>
              <a:rPr lang="en-US" sz="2200" b="1" dirty="0">
                <a:solidFill>
                  <a:schemeClr val="bg1"/>
                </a:solidFill>
                <a:latin typeface="+mj-lt"/>
              </a:rPr>
              <a:t>Energy</a:t>
            </a:r>
            <a:endParaRPr lang="en-US" sz="2200" dirty="0"/>
          </a:p>
        </p:txBody>
      </p:sp>
      <p:sp>
        <p:nvSpPr>
          <p:cNvPr id="22" name="frameD2"/>
          <p:cNvSpPr txBox="1"/>
          <p:nvPr/>
        </p:nvSpPr>
        <p:spPr>
          <a:xfrm>
            <a:off x="6589624" y="4343400"/>
            <a:ext cx="1850060" cy="594360"/>
          </a:xfrm>
          <a:prstGeom prst="rect">
            <a:avLst/>
          </a:prstGeom>
          <a:noFill/>
          <a:ln>
            <a:noFill/>
          </a:ln>
        </p:spPr>
        <p:txBody>
          <a:bodyPr wrap="square" lIns="0" tIns="0" rIns="0" bIns="0" rtlCol="0" anchor="t">
            <a:noAutofit/>
          </a:bodyPr>
          <a:lstStyle/>
          <a:p>
            <a:pPr algn="l" marL="0" indent="0">
              <a:lnSpc>
                <a:spcPct val="115000"/>
              </a:lnSpc>
              <a:buNone/>
            </a:pPr>
            <a:r>
              <a:rPr lang="en-US" sz="1600" dirty="0">
                <a:solidFill>
                  <a:schemeClr val="accent6"/>
                </a:solidFill>
              </a:rPr>
              <a:t>stored as ATP</a:t>
            </a:r>
            <a:endParaRPr lang="en-US" sz="1600" dirty="0"/>
          </a:p>
        </p:txBody>
      </p:sp>
      <p:sp>
        <p:nvSpPr>
          <p:cNvPr id="23" name="arrow2"/>
          <p:cNvSpPr txBox="1"/>
          <p:nvPr/>
        </p:nvSpPr>
        <p:spPr>
          <a:xfrm>
            <a:off x="8704859" y="3904488"/>
            <a:ext cx="457200" cy="457200"/>
          </a:xfrm>
          <a:prstGeom prst="rect">
            <a:avLst/>
          </a:prstGeom>
          <a:noFill/>
          <a:ln>
            <a:noFill/>
          </a:ln>
        </p:spPr>
        <p:txBody>
          <a:bodyPr wrap="square" lIns="0" tIns="0" rIns="0" bIns="0" rtlCol="0" anchor="ctr">
            <a:noAutofit/>
          </a:bodyPr>
          <a:lstStyle/>
          <a:p>
            <a:pPr algn="ctr" marL="0" indent="0">
              <a:buNone/>
            </a:pPr>
            <a:r>
              <a:rPr lang="en-US" sz="2200" b="1" dirty="0">
                <a:solidFill>
                  <a:schemeClr val="accent6"/>
                </a:solidFill>
              </a:rPr>
              <a:t>→</a:t>
            </a:r>
            <a:endParaRPr lang="en-US" sz="2200" dirty="0"/>
          </a:p>
        </p:txBody>
      </p:sp>
      <p:sp>
        <p:nvSpPr>
          <p:cNvPr id="24" name="frame3"/>
          <p:cNvSpPr/>
          <p:nvPr/>
        </p:nvSpPr>
        <p:spPr>
          <a:xfrm>
            <a:off x="9152915" y="3154680"/>
            <a:ext cx="2398700" cy="1965960"/>
          </a:xfrm>
          <a:prstGeom prst="roundRect">
            <a:avLst>
              <a:gd name="adj" fmla="val 7442"/>
            </a:avLst>
          </a:prstGeom>
          <a:solidFill>
            <a:schemeClr val="tx2"/>
          </a:solidFill>
          <a:ln w="12700">
            <a:solidFill>
              <a:schemeClr val="accent1"/>
            </a:solidFill>
          </a:ln>
        </p:spPr>
      </p:sp>
      <p:sp>
        <p:nvSpPr>
          <p:cNvPr id="25" name="frameK3"/>
          <p:cNvSpPr txBox="1"/>
          <p:nvPr/>
        </p:nvSpPr>
        <p:spPr>
          <a:xfrm>
            <a:off x="9427235" y="3383280"/>
            <a:ext cx="1850060" cy="274320"/>
          </a:xfrm>
          <a:prstGeom prst="rect">
            <a:avLst/>
          </a:prstGeom>
          <a:noFill/>
          <a:ln>
            <a:noFill/>
          </a:ln>
        </p:spPr>
        <p:txBody>
          <a:bodyPr wrap="square" lIns="0" tIns="0" rIns="0" bIns="0" rtlCol="0" anchor="t">
            <a:noAutofit/>
          </a:bodyPr>
          <a:lstStyle/>
          <a:p>
            <a:pPr algn="l" marL="0" indent="0">
              <a:buNone/>
            </a:pPr>
            <a:r>
              <a:rPr lang="en-US" sz="1200" b="1" spc="300" dirty="0">
                <a:solidFill>
                  <a:schemeClr val="accent1"/>
                </a:solidFill>
              </a:rPr>
              <a:t>STEP 4</a:t>
            </a:r>
            <a:endParaRPr lang="en-US" sz="1200" dirty="0"/>
          </a:p>
        </p:txBody>
      </p:sp>
      <p:sp>
        <p:nvSpPr>
          <p:cNvPr id="26" name="frameT3"/>
          <p:cNvSpPr txBox="1"/>
          <p:nvPr/>
        </p:nvSpPr>
        <p:spPr>
          <a:xfrm>
            <a:off x="9427235" y="3749040"/>
            <a:ext cx="1850060" cy="502920"/>
          </a:xfrm>
          <a:prstGeom prst="rect">
            <a:avLst/>
          </a:prstGeom>
          <a:noFill/>
          <a:ln>
            <a:noFill/>
          </a:ln>
        </p:spPr>
        <p:txBody>
          <a:bodyPr wrap="square" lIns="0" tIns="0" rIns="0" bIns="0" rtlCol="0" anchor="t">
            <a:noAutofit/>
          </a:bodyPr>
          <a:lstStyle/>
          <a:p>
            <a:pPr algn="l" marL="0" indent="0">
              <a:buNone/>
            </a:pPr>
            <a:r>
              <a:rPr lang="en-US" sz="2200" b="1" dirty="0">
                <a:solidFill>
                  <a:schemeClr val="bg1"/>
                </a:solidFill>
                <a:latin typeface="+mj-lt"/>
              </a:rPr>
              <a:t>Glucose</a:t>
            </a:r>
            <a:endParaRPr lang="en-US" sz="2200" dirty="0"/>
          </a:p>
        </p:txBody>
      </p:sp>
      <p:sp>
        <p:nvSpPr>
          <p:cNvPr id="27" name="frameD3"/>
          <p:cNvSpPr txBox="1"/>
          <p:nvPr/>
        </p:nvSpPr>
        <p:spPr>
          <a:xfrm>
            <a:off x="9427235" y="4343400"/>
            <a:ext cx="1850060" cy="594360"/>
          </a:xfrm>
          <a:prstGeom prst="rect">
            <a:avLst/>
          </a:prstGeom>
          <a:noFill/>
          <a:ln>
            <a:noFill/>
          </a:ln>
        </p:spPr>
        <p:txBody>
          <a:bodyPr wrap="square" lIns="0" tIns="0" rIns="0" bIns="0" rtlCol="0" anchor="t">
            <a:noAutofit/>
          </a:bodyPr>
          <a:lstStyle/>
          <a:p>
            <a:pPr algn="l" marL="0" indent="0">
              <a:lnSpc>
                <a:spcPct val="115000"/>
              </a:lnSpc>
              <a:buNone/>
            </a:pPr>
            <a:r>
              <a:rPr lang="en-US" sz="1600" dirty="0">
                <a:solidFill>
                  <a:schemeClr val="accent6"/>
                </a:solidFill>
              </a:rPr>
              <a:t>food is built</a:t>
            </a:r>
            <a:endParaRPr lang="en-US" sz="1600" dirty="0"/>
          </a:p>
        </p:txBody>
      </p:sp>
      <p:sp>
        <p:nvSpPr>
          <p:cNvPr id="28" name="caption"/>
          <p:cNvSpPr txBox="1"/>
          <p:nvPr/>
        </p:nvSpPr>
        <p:spPr>
          <a:xfrm>
            <a:off x="640080" y="5440680"/>
            <a:ext cx="10911535" cy="548640"/>
          </a:xfrm>
          <a:prstGeom prst="rect">
            <a:avLst/>
          </a:prstGeom>
          <a:noFill/>
          <a:ln>
            <a:noFill/>
          </a:ln>
        </p:spPr>
        <p:txBody>
          <a:bodyPr wrap="square" lIns="0" tIns="0" rIns="0" bIns="0" rtlCol="0" anchor="t">
            <a:noAutofit/>
          </a:bodyPr>
          <a:lstStyle/>
          <a:p>
            <a:pPr algn="l" marL="0" indent="0">
              <a:lnSpc>
                <a:spcPct val="115000"/>
              </a:lnSpc>
              <a:buNone/>
            </a:pPr>
            <a:r>
              <a:rPr lang="en-US" sz="1500" i="1" dirty="0">
                <a:solidFill>
                  <a:schemeClr val="accent6"/>
                </a:solidFill>
              </a:rPr>
              <a:t>This exact strip is what NeuraLearn builds as a live, narrated diagram: every sentence changes the picture.</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glow"/>
          <p:cNvSpPr/>
          <p:nvPr/>
        </p:nvSpPr>
        <p:spPr>
          <a:xfrm>
            <a:off x="-914400" y="-1371600"/>
            <a:ext cx="4114800" cy="4114800"/>
          </a:xfrm>
          <a:prstGeom prst="rect">
            <a:avLst/>
          </a:prstGeom>
          <a:solidFill>
            <a:schemeClr val="accent1">
              <a:alpha val="12000"/>
            </a:schemeClr>
          </a:solidFill>
          <a:ln>
            <a:noFill/>
          </a:ln>
        </p:spPr>
      </p:sp>
      <p:sp>
        <p:nvSpPr>
          <p:cNvPr id="3" name="glow2"/>
          <p:cNvSpPr/>
          <p:nvPr/>
        </p:nvSpPr>
        <p:spPr>
          <a:xfrm>
            <a:off x="9601200" y="4754880"/>
            <a:ext cx="3657600" cy="3657600"/>
          </a:xfrm>
          <a:prstGeom prst="rect">
            <a:avLst/>
          </a:prstGeom>
          <a:solidFill>
            <a:schemeClr val="accent2">
              <a:alpha val="8000"/>
            </a:schemeClr>
          </a:solidFill>
          <a:ln>
            <a:noFill/>
          </a:ln>
        </p:spPr>
      </p:sp>
      <p:sp>
        <p:nvSpPr>
          <p:cNvPr id="4" name="kicker"/>
          <p:cNvSpPr txBox="1"/>
          <p:nvPr/>
        </p:nvSpPr>
        <p:spPr>
          <a:xfrm>
            <a:off x="640080" y="457200"/>
            <a:ext cx="9144000" cy="274320"/>
          </a:xfrm>
          <a:prstGeom prst="rect">
            <a:avLst/>
          </a:prstGeom>
          <a:noFill/>
          <a:ln>
            <a:noFill/>
          </a:ln>
        </p:spPr>
        <p:txBody>
          <a:bodyPr wrap="square" lIns="0" tIns="0" rIns="0" bIns="0" rtlCol="0" anchor="t">
            <a:noAutofit/>
          </a:bodyPr>
          <a:lstStyle/>
          <a:p>
            <a:pPr algn="l" marL="0" indent="0">
              <a:buNone/>
            </a:pPr>
            <a:r>
              <a:rPr lang="en-US" sz="1200" b="1" spc="400" dirty="0">
                <a:solidFill>
                  <a:schemeClr val="accent2"/>
                </a:solidFill>
              </a:rPr>
              <a:t>THE SOLUTION</a:t>
            </a:r>
            <a:endParaRPr lang="en-US" sz="1200" dirty="0"/>
          </a:p>
        </p:txBody>
      </p:sp>
      <p:sp>
        <p:nvSpPr>
          <p:cNvPr id="5" name="title"/>
          <p:cNvSpPr txBox="1"/>
          <p:nvPr/>
        </p:nvSpPr>
        <p:spPr>
          <a:xfrm>
            <a:off x="640080" y="777240"/>
            <a:ext cx="10911535" cy="1188720"/>
          </a:xfrm>
          <a:prstGeom prst="rect">
            <a:avLst/>
          </a:prstGeom>
          <a:noFill/>
          <a:ln>
            <a:noFill/>
          </a:ln>
        </p:spPr>
        <p:txBody>
          <a:bodyPr wrap="square" lIns="0" tIns="0" rIns="0" bIns="0" rtlCol="0" anchor="t">
            <a:noAutofit/>
          </a:bodyPr>
          <a:lstStyle/>
          <a:p>
            <a:pPr algn="l" marL="0" indent="0">
              <a:lnSpc>
                <a:spcPct val="95000"/>
              </a:lnSpc>
              <a:buNone/>
            </a:pPr>
            <a:r>
              <a:rPr lang="en-US" sz="3200" b="1" dirty="0">
                <a:solidFill>
                  <a:schemeClr val="bg1"/>
                </a:solidFill>
                <a:latin typeface="+mj-lt"/>
              </a:rPr>
              <a:t>Ask once. Read the answer. </a:t>
            </a:r>
            <a:r>
              <a:rPr lang="en-US" sz="3200" b="1" dirty="0">
                <a:gradFill>
                  <a:gsLst>
                    <a:gs pos="0">
                      <a:srgbClr val="9D8CFF"/>
                    </a:gs>
                    <a:gs pos="50000">
                      <a:srgbClr val="FF6FB5"/>
                    </a:gs>
                    <a:gs pos="100000">
                      <a:srgbClr val="FFC94D"/>
                    </a:gs>
                  </a:gsLst>
                  <a:lin ang="0" scaled="0"/>
                </a:gradFill>
                <a:latin typeface="+mj-lt"/>
              </a:rPr>
              <a:t>Then watch it drawn.</a:t>
            </a:r>
            <a:endParaRPr lang="en-US" sz="3200" dirty="0"/>
          </a:p>
        </p:txBody>
      </p:sp>
      <p:sp>
        <p:nvSpPr>
          <p:cNvPr id="6" name="footer"/>
          <p:cNvSpPr txBox="1"/>
          <p:nvPr/>
        </p:nvSpPr>
        <p:spPr>
          <a:xfrm>
            <a:off x="640080" y="6400800"/>
            <a:ext cx="5486400" cy="228600"/>
          </a:xfrm>
          <a:prstGeom prst="rect">
            <a:avLst/>
          </a:prstGeom>
          <a:noFill/>
          <a:ln>
            <a:noFill/>
          </a:ln>
        </p:spPr>
        <p:txBody>
          <a:bodyPr wrap="square" lIns="0" tIns="0" rIns="0" bIns="0" rtlCol="0" anchor="t">
            <a:noAutofit/>
          </a:bodyPr>
          <a:lstStyle/>
          <a:p>
            <a:pPr algn="l" marL="0" indent="0">
              <a:buNone/>
            </a:pPr>
            <a:r>
              <a:rPr lang="en-US" sz="1000" spc="300" dirty="0">
                <a:solidFill>
                  <a:schemeClr val="accent6"/>
                </a:solidFill>
              </a:rPr>
              <a:t>NEURALEARN  ·  COMPUTED, NOT HALLUCINATED</a:t>
            </a:r>
            <a:endParaRPr lang="en-US" sz="1000" dirty="0"/>
          </a:p>
        </p:txBody>
      </p:sp>
      <p:sp>
        <p:nvSpPr>
          <p:cNvPr id="7" name="pageNum"/>
          <p:cNvSpPr txBox="1"/>
          <p:nvPr/>
        </p:nvSpPr>
        <p:spPr>
          <a:xfrm>
            <a:off x="10637215" y="6400800"/>
            <a:ext cx="914400" cy="228600"/>
          </a:xfrm>
          <a:prstGeom prst="rect">
            <a:avLst/>
          </a:prstGeom>
          <a:noFill/>
          <a:ln>
            <a:noFill/>
          </a:ln>
        </p:spPr>
        <p:txBody>
          <a:bodyPr wrap="square" lIns="0" tIns="0" rIns="0" bIns="0" rtlCol="0" anchor="t">
            <a:noAutofit/>
          </a:bodyPr>
          <a:lstStyle/>
          <a:p>
            <a:pPr algn="r" marL="0" indent="0">
              <a:buNone/>
            </a:pPr>
            <a:r>
              <a:rPr lang="en-US" sz="1000" b="1" spc="200" dirty="0">
                <a:solidFill>
                  <a:schemeClr val="accent6"/>
                </a:solidFill>
              </a:rPr>
              <a:t>05</a:t>
            </a:r>
            <a:endParaRPr lang="en-US" sz="1000" dirty="0"/>
          </a:p>
        </p:txBody>
      </p:sp>
      <p:sp>
        <p:nvSpPr>
          <p:cNvPr id="8" name="sub"/>
          <p:cNvSpPr txBox="1"/>
          <p:nvPr/>
        </p:nvSpPr>
        <p:spPr>
          <a:xfrm>
            <a:off x="640080" y="1783080"/>
            <a:ext cx="10911535" cy="548640"/>
          </a:xfrm>
          <a:prstGeom prst="rect">
            <a:avLst/>
          </a:prstGeom>
          <a:noFill/>
          <a:ln>
            <a:noFill/>
          </a:ln>
        </p:spPr>
        <p:txBody>
          <a:bodyPr wrap="square" lIns="0" tIns="0" rIns="0" bIns="0" rtlCol="0" anchor="t">
            <a:noAutofit/>
          </a:bodyPr>
          <a:lstStyle/>
          <a:p>
            <a:pPr algn="l" marL="0" indent="0">
              <a:lnSpc>
                <a:spcPct val="115000"/>
              </a:lnSpc>
              <a:buNone/>
            </a:pPr>
            <a:r>
              <a:rPr lang="en-US" sz="1800" dirty="0">
                <a:solidFill>
                  <a:schemeClr val="accent6"/>
                </a:solidFill>
              </a:rPr>
              <a:t>Three steps, every single time. The text always arrives first: that is our UX promise.</a:t>
            </a:r>
            <a:endParaRPr lang="en-US" sz="1800" dirty="0"/>
          </a:p>
        </p:txBody>
      </p:sp>
      <p:sp>
        <p:nvSpPr>
          <p:cNvPr id="9" name="step0"/>
          <p:cNvSpPr/>
          <p:nvPr/>
        </p:nvSpPr>
        <p:spPr>
          <a:xfrm>
            <a:off x="640080" y="2560320"/>
            <a:ext cx="3474720" cy="3520440"/>
          </a:xfrm>
          <a:prstGeom prst="roundRect">
            <a:avLst>
              <a:gd name="adj" fmla="val 4211"/>
            </a:avLst>
          </a:prstGeom>
          <a:solidFill>
            <a:schemeClr val="tx2"/>
          </a:solidFill>
          <a:ln w="12700">
            <a:solidFill>
              <a:schemeClr val="accent2"/>
            </a:solidFill>
          </a:ln>
        </p:spPr>
      </p:sp>
      <p:sp>
        <p:nvSpPr>
          <p:cNvPr id="10" name="num0"/>
          <p:cNvSpPr txBox="1"/>
          <p:nvPr/>
        </p:nvSpPr>
        <p:spPr>
          <a:xfrm>
            <a:off x="960120" y="2788920"/>
            <a:ext cx="1828800" cy="822960"/>
          </a:xfrm>
          <a:prstGeom prst="rect">
            <a:avLst/>
          </a:prstGeom>
          <a:noFill/>
          <a:ln>
            <a:noFill/>
          </a:ln>
        </p:spPr>
        <p:txBody>
          <a:bodyPr wrap="square" lIns="0" tIns="0" rIns="0" bIns="0" rtlCol="0" anchor="t">
            <a:noAutofit/>
          </a:bodyPr>
          <a:lstStyle/>
          <a:p>
            <a:pPr algn="l" marL="0" indent="0">
              <a:buNone/>
            </a:pPr>
            <a:r>
              <a:rPr lang="en-US" sz="4800" b="1" dirty="0">
                <a:solidFill>
                  <a:schemeClr val="accent2"/>
                </a:solidFill>
                <a:latin typeface="+mj-lt"/>
              </a:rPr>
              <a:t>01</a:t>
            </a:r>
            <a:endParaRPr lang="en-US" sz="4800" dirty="0"/>
          </a:p>
        </p:txBody>
      </p:sp>
      <p:sp>
        <p:nvSpPr>
          <p:cNvPr id="11" name="st0"/>
          <p:cNvSpPr txBox="1"/>
          <p:nvPr/>
        </p:nvSpPr>
        <p:spPr>
          <a:xfrm>
            <a:off x="960120" y="3703320"/>
            <a:ext cx="2926080" cy="457200"/>
          </a:xfrm>
          <a:prstGeom prst="rect">
            <a:avLst/>
          </a:prstGeom>
          <a:noFill/>
          <a:ln>
            <a:noFill/>
          </a:ln>
        </p:spPr>
        <p:txBody>
          <a:bodyPr wrap="square" lIns="0" tIns="0" rIns="0" bIns="0" rtlCol="0" anchor="t">
            <a:noAutofit/>
          </a:bodyPr>
          <a:lstStyle/>
          <a:p>
            <a:pPr algn="l" marL="0" indent="0">
              <a:buNone/>
            </a:pPr>
            <a:r>
              <a:rPr lang="en-US" sz="2200" b="1" dirty="0">
                <a:solidFill>
                  <a:schemeClr val="bg1"/>
                </a:solidFill>
                <a:latin typeface="+mj-lt"/>
              </a:rPr>
              <a:t>You ask</a:t>
            </a:r>
            <a:endParaRPr lang="en-US" sz="2200" dirty="0"/>
          </a:p>
        </p:txBody>
      </p:sp>
      <p:sp>
        <p:nvSpPr>
          <p:cNvPr id="12" name="sd0"/>
          <p:cNvSpPr txBox="1"/>
          <p:nvPr/>
        </p:nvSpPr>
        <p:spPr>
          <a:xfrm>
            <a:off x="960120" y="4251960"/>
            <a:ext cx="2880360" cy="1737360"/>
          </a:xfrm>
          <a:prstGeom prst="rect">
            <a:avLst/>
          </a:prstGeom>
          <a:noFill/>
          <a:ln>
            <a:noFill/>
          </a:ln>
        </p:spPr>
        <p:txBody>
          <a:bodyPr wrap="square" lIns="0" tIns="0" rIns="0" bIns="0" rtlCol="0" anchor="t">
            <a:noAutofit/>
          </a:bodyPr>
          <a:lstStyle/>
          <a:p>
            <a:pPr algn="l" marL="0" indent="0">
              <a:lnSpc>
                <a:spcPct val="115000"/>
              </a:lnSpc>
              <a:buNone/>
            </a:pPr>
            <a:r>
              <a:rPr lang="en-US" sz="1600" dirty="0">
                <a:solidFill>
                  <a:schemeClr val="accent6"/>
                </a:solidFill>
              </a:rPr>
              <a:t>“Explain packet switching”, or attach your own syllabus PDF. Level-aware, from fundamentals up to rigour.</a:t>
            </a:r>
            <a:endParaRPr lang="en-US" sz="1600" dirty="0"/>
          </a:p>
        </p:txBody>
      </p:sp>
      <p:sp>
        <p:nvSpPr>
          <p:cNvPr id="13" name="step1"/>
          <p:cNvSpPr/>
          <p:nvPr/>
        </p:nvSpPr>
        <p:spPr>
          <a:xfrm>
            <a:off x="4361688" y="2560320"/>
            <a:ext cx="3474720" cy="3520440"/>
          </a:xfrm>
          <a:prstGeom prst="roundRect">
            <a:avLst>
              <a:gd name="adj" fmla="val 4211"/>
            </a:avLst>
          </a:prstGeom>
          <a:solidFill>
            <a:schemeClr val="tx2"/>
          </a:solidFill>
          <a:ln w="12700">
            <a:solidFill>
              <a:schemeClr val="accent1"/>
            </a:solidFill>
          </a:ln>
        </p:spPr>
      </p:sp>
      <p:sp>
        <p:nvSpPr>
          <p:cNvPr id="14" name="num1"/>
          <p:cNvSpPr txBox="1"/>
          <p:nvPr/>
        </p:nvSpPr>
        <p:spPr>
          <a:xfrm>
            <a:off x="4681728" y="2788920"/>
            <a:ext cx="1828800" cy="822960"/>
          </a:xfrm>
          <a:prstGeom prst="rect">
            <a:avLst/>
          </a:prstGeom>
          <a:noFill/>
          <a:ln>
            <a:noFill/>
          </a:ln>
        </p:spPr>
        <p:txBody>
          <a:bodyPr wrap="square" lIns="0" tIns="0" rIns="0" bIns="0" rtlCol="0" anchor="t">
            <a:noAutofit/>
          </a:bodyPr>
          <a:lstStyle/>
          <a:p>
            <a:pPr algn="l" marL="0" indent="0">
              <a:buNone/>
            </a:pPr>
            <a:r>
              <a:rPr lang="en-US" sz="4800" b="1" dirty="0">
                <a:solidFill>
                  <a:schemeClr val="accent1"/>
                </a:solidFill>
                <a:latin typeface="+mj-lt"/>
              </a:rPr>
              <a:t>02</a:t>
            </a:r>
            <a:endParaRPr lang="en-US" sz="4800" dirty="0"/>
          </a:p>
        </p:txBody>
      </p:sp>
      <p:sp>
        <p:nvSpPr>
          <p:cNvPr id="15" name="st1"/>
          <p:cNvSpPr txBox="1"/>
          <p:nvPr/>
        </p:nvSpPr>
        <p:spPr>
          <a:xfrm>
            <a:off x="4681728" y="3703320"/>
            <a:ext cx="2926080" cy="457200"/>
          </a:xfrm>
          <a:prstGeom prst="rect">
            <a:avLst/>
          </a:prstGeom>
          <a:noFill/>
          <a:ln>
            <a:noFill/>
          </a:ln>
        </p:spPr>
        <p:txBody>
          <a:bodyPr wrap="square" lIns="0" tIns="0" rIns="0" bIns="0" rtlCol="0" anchor="t">
            <a:noAutofit/>
          </a:bodyPr>
          <a:lstStyle/>
          <a:p>
            <a:pPr algn="l" marL="0" indent="0">
              <a:buNone/>
            </a:pPr>
            <a:r>
              <a:rPr lang="en-US" sz="2200" b="1" dirty="0">
                <a:solidFill>
                  <a:schemeClr val="bg1"/>
                </a:solidFill>
                <a:latin typeface="+mj-lt"/>
              </a:rPr>
              <a:t>Text first</a:t>
            </a:r>
            <a:endParaRPr lang="en-US" sz="2200" dirty="0"/>
          </a:p>
        </p:txBody>
      </p:sp>
      <p:sp>
        <p:nvSpPr>
          <p:cNvPr id="16" name="sd1"/>
          <p:cNvSpPr txBox="1"/>
          <p:nvPr/>
        </p:nvSpPr>
        <p:spPr>
          <a:xfrm>
            <a:off x="4681728" y="4251960"/>
            <a:ext cx="2880360" cy="1737360"/>
          </a:xfrm>
          <a:prstGeom prst="rect">
            <a:avLst/>
          </a:prstGeom>
          <a:noFill/>
          <a:ln>
            <a:noFill/>
          </a:ln>
        </p:spPr>
        <p:txBody>
          <a:bodyPr wrap="square" lIns="0" tIns="0" rIns="0" bIns="0" rtlCol="0" anchor="t">
            <a:noAutofit/>
          </a:bodyPr>
          <a:lstStyle/>
          <a:p>
            <a:pPr algn="l" marL="0" indent="0">
              <a:lnSpc>
                <a:spcPct val="115000"/>
              </a:lnSpc>
              <a:buNone/>
            </a:pPr>
            <a:r>
              <a:rPr lang="en-US" sz="1600" dirty="0">
                <a:solidFill>
                  <a:schemeClr val="accent6"/>
                </a:solidFill>
              </a:rPr>
              <a:t>A complete, structured explanation appears before anything else: clean notes worth saving and studying.</a:t>
            </a:r>
            <a:endParaRPr lang="en-US" sz="1600" dirty="0"/>
          </a:p>
        </p:txBody>
      </p:sp>
      <p:sp>
        <p:nvSpPr>
          <p:cNvPr id="17" name="step2"/>
          <p:cNvSpPr/>
          <p:nvPr/>
        </p:nvSpPr>
        <p:spPr>
          <a:xfrm>
            <a:off x="8083296" y="2560320"/>
            <a:ext cx="3474720" cy="3520440"/>
          </a:xfrm>
          <a:prstGeom prst="roundRect">
            <a:avLst>
              <a:gd name="adj" fmla="val 4211"/>
            </a:avLst>
          </a:prstGeom>
          <a:solidFill>
            <a:schemeClr val="tx2"/>
          </a:solidFill>
          <a:ln w="12700">
            <a:solidFill>
              <a:schemeClr val="accent5"/>
            </a:solidFill>
          </a:ln>
        </p:spPr>
      </p:sp>
      <p:sp>
        <p:nvSpPr>
          <p:cNvPr id="18" name="num2"/>
          <p:cNvSpPr txBox="1"/>
          <p:nvPr/>
        </p:nvSpPr>
        <p:spPr>
          <a:xfrm>
            <a:off x="8403336" y="2788920"/>
            <a:ext cx="1828800" cy="822960"/>
          </a:xfrm>
          <a:prstGeom prst="rect">
            <a:avLst/>
          </a:prstGeom>
          <a:noFill/>
          <a:ln>
            <a:noFill/>
          </a:ln>
        </p:spPr>
        <p:txBody>
          <a:bodyPr wrap="square" lIns="0" tIns="0" rIns="0" bIns="0" rtlCol="0" anchor="t">
            <a:noAutofit/>
          </a:bodyPr>
          <a:lstStyle/>
          <a:p>
            <a:pPr algn="l" marL="0" indent="0">
              <a:buNone/>
            </a:pPr>
            <a:r>
              <a:rPr lang="en-US" sz="4800" b="1" dirty="0">
                <a:solidFill>
                  <a:schemeClr val="accent5"/>
                </a:solidFill>
                <a:latin typeface="+mj-lt"/>
              </a:rPr>
              <a:t>03</a:t>
            </a:r>
            <a:endParaRPr lang="en-US" sz="4800" dirty="0"/>
          </a:p>
        </p:txBody>
      </p:sp>
      <p:sp>
        <p:nvSpPr>
          <p:cNvPr id="19" name="st2"/>
          <p:cNvSpPr txBox="1"/>
          <p:nvPr/>
        </p:nvSpPr>
        <p:spPr>
          <a:xfrm>
            <a:off x="8403336" y="3703320"/>
            <a:ext cx="2926080" cy="457200"/>
          </a:xfrm>
          <a:prstGeom prst="rect">
            <a:avLst/>
          </a:prstGeom>
          <a:noFill/>
          <a:ln>
            <a:noFill/>
          </a:ln>
        </p:spPr>
        <p:txBody>
          <a:bodyPr wrap="square" lIns="0" tIns="0" rIns="0" bIns="0" rtlCol="0" anchor="t">
            <a:noAutofit/>
          </a:bodyPr>
          <a:lstStyle/>
          <a:p>
            <a:pPr algn="l" marL="0" indent="0">
              <a:buNone/>
            </a:pPr>
            <a:r>
              <a:rPr lang="en-US" sz="2200" b="1" dirty="0">
                <a:solidFill>
                  <a:schemeClr val="bg1"/>
                </a:solidFill>
                <a:latin typeface="+mj-lt"/>
              </a:rPr>
              <a:t>Then the visual</a:t>
            </a:r>
            <a:endParaRPr lang="en-US" sz="2200" dirty="0"/>
          </a:p>
        </p:txBody>
      </p:sp>
      <p:sp>
        <p:nvSpPr>
          <p:cNvPr id="20" name="sd2"/>
          <p:cNvSpPr txBox="1"/>
          <p:nvPr/>
        </p:nvSpPr>
        <p:spPr>
          <a:xfrm>
            <a:off x="8403336" y="4251960"/>
            <a:ext cx="2880360" cy="1737360"/>
          </a:xfrm>
          <a:prstGeom prst="rect">
            <a:avLst/>
          </a:prstGeom>
          <a:noFill/>
          <a:ln>
            <a:noFill/>
          </a:ln>
        </p:spPr>
        <p:txBody>
          <a:bodyPr wrap="square" lIns="0" tIns="0" rIns="0" bIns="0" rtlCol="0" anchor="t">
            <a:noAutofit/>
          </a:bodyPr>
          <a:lstStyle/>
          <a:p>
            <a:pPr algn="l" marL="0" indent="0">
              <a:lnSpc>
                <a:spcPct val="115000"/>
              </a:lnSpc>
              <a:buNone/>
            </a:pPr>
            <a:r>
              <a:rPr lang="en-US" sz="1600" dirty="0">
                <a:solidFill>
                  <a:schemeClr val="accent6"/>
                </a:solidFill>
              </a:rPr>
              <a:t>A live, narrated animation synced with the text. For algorithms, the engine runs the code and animates every real step.</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glow"/>
          <p:cNvSpPr/>
          <p:nvPr/>
        </p:nvSpPr>
        <p:spPr>
          <a:xfrm>
            <a:off x="-914400" y="-1371600"/>
            <a:ext cx="4114800" cy="4114800"/>
          </a:xfrm>
          <a:prstGeom prst="rect">
            <a:avLst/>
          </a:prstGeom>
          <a:solidFill>
            <a:schemeClr val="accent1">
              <a:alpha val="12000"/>
            </a:schemeClr>
          </a:solidFill>
          <a:ln>
            <a:noFill/>
          </a:ln>
        </p:spPr>
      </p:sp>
      <p:sp>
        <p:nvSpPr>
          <p:cNvPr id="3" name="glow2"/>
          <p:cNvSpPr/>
          <p:nvPr/>
        </p:nvSpPr>
        <p:spPr>
          <a:xfrm>
            <a:off x="9601200" y="4754880"/>
            <a:ext cx="3657600" cy="3657600"/>
          </a:xfrm>
          <a:prstGeom prst="rect">
            <a:avLst/>
          </a:prstGeom>
          <a:solidFill>
            <a:schemeClr val="accent2">
              <a:alpha val="8000"/>
            </a:schemeClr>
          </a:solidFill>
          <a:ln>
            <a:noFill/>
          </a:ln>
        </p:spPr>
      </p:sp>
      <p:sp>
        <p:nvSpPr>
          <p:cNvPr id="4" name="kicker"/>
          <p:cNvSpPr txBox="1"/>
          <p:nvPr/>
        </p:nvSpPr>
        <p:spPr>
          <a:xfrm>
            <a:off x="640080" y="457200"/>
            <a:ext cx="9144000" cy="274320"/>
          </a:xfrm>
          <a:prstGeom prst="rect">
            <a:avLst/>
          </a:prstGeom>
          <a:noFill/>
          <a:ln>
            <a:noFill/>
          </a:ln>
        </p:spPr>
        <p:txBody>
          <a:bodyPr wrap="square" lIns="0" tIns="0" rIns="0" bIns="0" rtlCol="0" anchor="t">
            <a:noAutofit/>
          </a:bodyPr>
          <a:lstStyle/>
          <a:p>
            <a:pPr algn="l" marL="0" indent="0">
              <a:buNone/>
            </a:pPr>
            <a:r>
              <a:rPr lang="en-US" sz="1200" b="1" spc="400" dirty="0">
                <a:solidFill>
                  <a:schemeClr val="accent2"/>
                </a:solidFill>
              </a:rPr>
              <a:t>STORYBOARD  ·  1 / 3</a:t>
            </a:r>
            <a:endParaRPr lang="en-US" sz="1200" dirty="0"/>
          </a:p>
        </p:txBody>
      </p:sp>
      <p:sp>
        <p:nvSpPr>
          <p:cNvPr id="5" name="title"/>
          <p:cNvSpPr txBox="1"/>
          <p:nvPr/>
        </p:nvSpPr>
        <p:spPr>
          <a:xfrm>
            <a:off x="640080" y="777240"/>
            <a:ext cx="10911535" cy="1188720"/>
          </a:xfrm>
          <a:prstGeom prst="rect">
            <a:avLst/>
          </a:prstGeom>
          <a:noFill/>
          <a:ln>
            <a:noFill/>
          </a:ln>
        </p:spPr>
        <p:txBody>
          <a:bodyPr wrap="square" lIns="0" tIns="0" rIns="0" bIns="0" rtlCol="0" anchor="t">
            <a:noAutofit/>
          </a:bodyPr>
          <a:lstStyle/>
          <a:p>
            <a:pPr algn="l" marL="0" indent="0">
              <a:lnSpc>
                <a:spcPct val="95000"/>
              </a:lnSpc>
              <a:buNone/>
            </a:pPr>
            <a:r>
              <a:rPr lang="en-US" sz="3200" b="1" dirty="0">
                <a:solidFill>
                  <a:schemeClr val="bg1"/>
                </a:solidFill>
                <a:latin typeface="+mj-lt"/>
              </a:rPr>
              <a:t>A student asks. </a:t>
            </a:r>
            <a:r>
              <a:rPr lang="en-US" sz="3200" b="1" dirty="0">
                <a:gradFill>
                  <a:gsLst>
                    <a:gs pos="0">
                      <a:srgbClr val="9D8CFF"/>
                    </a:gs>
                    <a:gs pos="50000">
                      <a:srgbClr val="FF6FB5"/>
                    </a:gs>
                    <a:gs pos="100000">
                      <a:srgbClr val="FFC94D"/>
                    </a:gs>
                  </a:gsLst>
                  <a:lin ang="0" scaled="0"/>
                </a:gradFill>
                <a:latin typeface="+mj-lt"/>
              </a:rPr>
              <a:t>A tutor answers — then draws.</a:t>
            </a:r>
            <a:endParaRPr lang="en-US" sz="3200" dirty="0"/>
          </a:p>
        </p:txBody>
      </p:sp>
      <p:sp>
        <p:nvSpPr>
          <p:cNvPr id="6" name="footer"/>
          <p:cNvSpPr txBox="1"/>
          <p:nvPr/>
        </p:nvSpPr>
        <p:spPr>
          <a:xfrm>
            <a:off x="640080" y="6400800"/>
            <a:ext cx="5486400" cy="228600"/>
          </a:xfrm>
          <a:prstGeom prst="rect">
            <a:avLst/>
          </a:prstGeom>
          <a:noFill/>
          <a:ln>
            <a:noFill/>
          </a:ln>
        </p:spPr>
        <p:txBody>
          <a:bodyPr wrap="square" lIns="0" tIns="0" rIns="0" bIns="0" rtlCol="0" anchor="t">
            <a:noAutofit/>
          </a:bodyPr>
          <a:lstStyle/>
          <a:p>
            <a:pPr algn="l" marL="0" indent="0">
              <a:buNone/>
            </a:pPr>
            <a:r>
              <a:rPr lang="en-US" sz="1000" spc="300" dirty="0">
                <a:solidFill>
                  <a:schemeClr val="accent6"/>
                </a:solidFill>
              </a:rPr>
              <a:t>NEURALEARN  ·  COMPUTED, NOT HALLUCINATED</a:t>
            </a:r>
            <a:endParaRPr lang="en-US" sz="1000" dirty="0"/>
          </a:p>
        </p:txBody>
      </p:sp>
      <p:sp>
        <p:nvSpPr>
          <p:cNvPr id="7" name="pageNum"/>
          <p:cNvSpPr txBox="1"/>
          <p:nvPr/>
        </p:nvSpPr>
        <p:spPr>
          <a:xfrm>
            <a:off x="10637215" y="6400800"/>
            <a:ext cx="914400" cy="228600"/>
          </a:xfrm>
          <a:prstGeom prst="rect">
            <a:avLst/>
          </a:prstGeom>
          <a:noFill/>
          <a:ln>
            <a:noFill/>
          </a:ln>
        </p:spPr>
        <p:txBody>
          <a:bodyPr wrap="square" lIns="0" tIns="0" rIns="0" bIns="0" rtlCol="0" anchor="t">
            <a:noAutofit/>
          </a:bodyPr>
          <a:lstStyle/>
          <a:p>
            <a:pPr algn="r" marL="0" indent="0">
              <a:buNone/>
            </a:pPr>
            <a:r>
              <a:rPr lang="en-US" sz="1000" b="1" spc="200" dirty="0">
                <a:solidFill>
                  <a:schemeClr val="accent6"/>
                </a:solidFill>
              </a:rPr>
              <a:t>06</a:t>
            </a:r>
            <a:endParaRPr lang="en-US" sz="1000" dirty="0"/>
          </a:p>
        </p:txBody>
      </p:sp>
      <p:sp>
        <p:nvSpPr>
          <p:cNvPr id="8" name="window"/>
          <p:cNvSpPr/>
          <p:nvPr/>
        </p:nvSpPr>
        <p:spPr>
          <a:xfrm>
            <a:off x="640080" y="2011680"/>
            <a:ext cx="6720840" cy="4114800"/>
          </a:xfrm>
          <a:prstGeom prst="roundRect">
            <a:avLst>
              <a:gd name="adj" fmla="val 3556"/>
            </a:avLst>
          </a:prstGeom>
          <a:solidFill>
            <a:schemeClr val="tx2"/>
          </a:solidFill>
          <a:ln w="12700">
            <a:solidFill>
              <a:schemeClr val="accent1"/>
            </a:solidFill>
          </a:ln>
        </p:spPr>
      </p:sp>
      <p:sp>
        <p:nvSpPr>
          <p:cNvPr id="9" name="dot0"/>
          <p:cNvSpPr/>
          <p:nvPr/>
        </p:nvSpPr>
        <p:spPr>
          <a:xfrm>
            <a:off x="896112" y="2231136"/>
            <a:ext cx="118872" cy="118872"/>
          </a:xfrm>
          <a:prstGeom prst="ellipse">
            <a:avLst/>
          </a:prstGeom>
          <a:solidFill>
            <a:schemeClr val="accent3"/>
          </a:solidFill>
          <a:ln>
            <a:noFill/>
          </a:ln>
        </p:spPr>
      </p:sp>
      <p:sp>
        <p:nvSpPr>
          <p:cNvPr id="10" name="dot1"/>
          <p:cNvSpPr/>
          <p:nvPr/>
        </p:nvSpPr>
        <p:spPr>
          <a:xfrm>
            <a:off x="1115568" y="2231136"/>
            <a:ext cx="118872" cy="118872"/>
          </a:xfrm>
          <a:prstGeom prst="ellipse">
            <a:avLst/>
          </a:prstGeom>
          <a:solidFill>
            <a:schemeClr val="accent4"/>
          </a:solidFill>
          <a:ln>
            <a:noFill/>
          </a:ln>
        </p:spPr>
      </p:sp>
      <p:sp>
        <p:nvSpPr>
          <p:cNvPr id="11" name="dot2"/>
          <p:cNvSpPr/>
          <p:nvPr/>
        </p:nvSpPr>
        <p:spPr>
          <a:xfrm>
            <a:off x="1335024" y="2231136"/>
            <a:ext cx="118872" cy="118872"/>
          </a:xfrm>
          <a:prstGeom prst="ellipse">
            <a:avLst/>
          </a:prstGeom>
          <a:solidFill>
            <a:schemeClr val="accent5"/>
          </a:solidFill>
          <a:ln>
            <a:noFill/>
          </a:ln>
        </p:spPr>
      </p:sp>
      <p:sp>
        <p:nvSpPr>
          <p:cNvPr id="12" name="winTitle"/>
          <p:cNvSpPr txBox="1"/>
          <p:nvPr/>
        </p:nvSpPr>
        <p:spPr>
          <a:xfrm>
            <a:off x="1645920" y="2130552"/>
            <a:ext cx="3291840" cy="320040"/>
          </a:xfrm>
          <a:prstGeom prst="rect">
            <a:avLst/>
          </a:prstGeom>
          <a:noFill/>
          <a:ln>
            <a:noFill/>
          </a:ln>
        </p:spPr>
        <p:txBody>
          <a:bodyPr wrap="square" lIns="0" tIns="0" rIns="0" bIns="0" rtlCol="0" anchor="ctr">
            <a:noAutofit/>
          </a:bodyPr>
          <a:lstStyle/>
          <a:p>
            <a:pPr algn="l" marL="0" indent="0">
              <a:buNone/>
            </a:pPr>
            <a:r>
              <a:rPr lang="en-US" sz="1200" dirty="0">
                <a:solidFill>
                  <a:schemeClr val="accent6"/>
                </a:solidFill>
              </a:rPr>
              <a:t>neuralearn  ·  inorder traversal</a:t>
            </a:r>
            <a:endParaRPr lang="en-US" sz="1200" dirty="0"/>
          </a:p>
        </p:txBody>
      </p:sp>
      <p:sp>
        <p:nvSpPr>
          <p:cNvPr id="13" name="winStep"/>
          <p:cNvSpPr/>
          <p:nvPr/>
        </p:nvSpPr>
        <p:spPr>
          <a:xfrm>
            <a:off x="5760720" y="2130552"/>
            <a:ext cx="1371600" cy="329184"/>
          </a:xfrm>
          <a:prstGeom prst="roundRect">
            <a:avLst>
              <a:gd name="adj" fmla="val 50000"/>
            </a:avLst>
          </a:prstGeom>
          <a:solidFill>
            <a:schemeClr val="tx1"/>
          </a:solidFill>
          <a:ln w="12700">
            <a:solidFill>
              <a:schemeClr val="accent2"/>
            </a:solidFill>
          </a:ln>
        </p:spPr>
        <p:txBody>
          <a:bodyPr wrap="square" lIns="73152" tIns="73152" rIns="73152" bIns="73152" rtlCol="0" anchor="ctr">
            <a:noAutofit/>
          </a:bodyPr>
          <a:lstStyle/>
          <a:p>
            <a:pPr algn="ctr" marL="0" indent="0">
              <a:buNone/>
            </a:pPr>
            <a:r>
              <a:rPr lang="en-US" sz="1100" b="1" spc="100" dirty="0">
                <a:solidFill>
                  <a:schemeClr val="accent2"/>
                </a:solidFill>
              </a:rPr>
              <a:t>STEP 4/14</a:t>
            </a:r>
            <a:endParaRPr lang="en-US" sz="1100" dirty="0"/>
          </a:p>
        </p:txBody>
      </p:sp>
      <p:cxnSp>
        <p:nvCxnSpPr>
          <p:cNvPr id="14" name="edge42"/>
          <p:cNvCxnSpPr/>
          <p:nvPr/>
        </p:nvCxnSpPr>
        <p:spPr>
          <a:xfrm flipH="1">
            <a:off x="2011680" y="2880360"/>
            <a:ext cx="868680" cy="868680"/>
          </a:xfrm>
          <a:prstGeom prst="line">
            <a:avLst/>
          </a:prstGeom>
          <a:ln w="38100">
            <a:solidFill>
              <a:schemeClr val="accent2"/>
            </a:solidFill>
          </a:ln>
        </p:spPr>
      </p:cxnSp>
      <p:cxnSp>
        <p:nvCxnSpPr>
          <p:cNvPr id="15" name="edge46"/>
          <p:cNvCxnSpPr/>
          <p:nvPr/>
        </p:nvCxnSpPr>
        <p:spPr>
          <a:xfrm>
            <a:off x="2880360" y="2880360"/>
            <a:ext cx="868680" cy="868680"/>
          </a:xfrm>
          <a:prstGeom prst="line">
            <a:avLst/>
          </a:prstGeom>
          <a:ln w="15875">
            <a:solidFill>
              <a:schemeClr val="accent6">
                <a:alpha val="45000"/>
              </a:schemeClr>
            </a:solidFill>
          </a:ln>
        </p:spPr>
      </p:cxnSp>
      <p:cxnSp>
        <p:nvCxnSpPr>
          <p:cNvPr id="16" name="edge21"/>
          <p:cNvCxnSpPr/>
          <p:nvPr/>
        </p:nvCxnSpPr>
        <p:spPr>
          <a:xfrm flipH="1">
            <a:off x="1577340" y="3749040"/>
            <a:ext cx="434340" cy="868680"/>
          </a:xfrm>
          <a:prstGeom prst="line">
            <a:avLst/>
          </a:prstGeom>
          <a:ln w="38100">
            <a:solidFill>
              <a:schemeClr val="accent2"/>
            </a:solidFill>
          </a:ln>
        </p:spPr>
      </p:cxnSp>
      <p:cxnSp>
        <p:nvCxnSpPr>
          <p:cNvPr id="17" name="edge23"/>
          <p:cNvCxnSpPr/>
          <p:nvPr/>
        </p:nvCxnSpPr>
        <p:spPr>
          <a:xfrm>
            <a:off x="2011680" y="3749040"/>
            <a:ext cx="434340" cy="868680"/>
          </a:xfrm>
          <a:prstGeom prst="line">
            <a:avLst/>
          </a:prstGeom>
          <a:ln w="15875">
            <a:solidFill>
              <a:schemeClr val="accent6">
                <a:alpha val="45000"/>
              </a:schemeClr>
            </a:solidFill>
          </a:ln>
        </p:spPr>
      </p:cxnSp>
      <p:cxnSp>
        <p:nvCxnSpPr>
          <p:cNvPr id="18" name="edge65"/>
          <p:cNvCxnSpPr/>
          <p:nvPr/>
        </p:nvCxnSpPr>
        <p:spPr>
          <a:xfrm flipH="1">
            <a:off x="3314700" y="3749040"/>
            <a:ext cx="434340" cy="868680"/>
          </a:xfrm>
          <a:prstGeom prst="line">
            <a:avLst/>
          </a:prstGeom>
          <a:ln w="15875">
            <a:solidFill>
              <a:schemeClr val="accent6">
                <a:alpha val="45000"/>
              </a:schemeClr>
            </a:solidFill>
          </a:ln>
        </p:spPr>
      </p:cxnSp>
      <p:cxnSp>
        <p:nvCxnSpPr>
          <p:cNvPr id="19" name="edge67"/>
          <p:cNvCxnSpPr/>
          <p:nvPr/>
        </p:nvCxnSpPr>
        <p:spPr>
          <a:xfrm>
            <a:off x="3749040" y="3749040"/>
            <a:ext cx="434340" cy="868680"/>
          </a:xfrm>
          <a:prstGeom prst="line">
            <a:avLst/>
          </a:prstGeom>
          <a:ln w="15875">
            <a:solidFill>
              <a:schemeClr val="accent6">
                <a:alpha val="45000"/>
              </a:schemeClr>
            </a:solidFill>
          </a:ln>
        </p:spPr>
      </p:cxnSp>
      <p:sp>
        <p:nvSpPr>
          <p:cNvPr id="20" name="node4"/>
          <p:cNvSpPr/>
          <p:nvPr/>
        </p:nvSpPr>
        <p:spPr>
          <a:xfrm>
            <a:off x="2651760" y="2651760"/>
            <a:ext cx="457200" cy="457200"/>
          </a:xfrm>
          <a:prstGeom prst="ellipse">
            <a:avLst/>
          </a:prstGeom>
          <a:solidFill>
            <a:schemeClr val="tx1"/>
          </a:solidFill>
          <a:ln w="28575">
            <a:solidFill>
              <a:schemeClr val="accent2"/>
            </a:solidFill>
          </a:ln>
        </p:spPr>
        <p:txBody>
          <a:bodyPr wrap="square" lIns="0" tIns="0" rIns="0" bIns="0" rtlCol="0" anchor="ctr">
            <a:noAutofit/>
          </a:bodyPr>
          <a:lstStyle/>
          <a:p>
            <a:pPr algn="ctr" marL="0" indent="0">
              <a:buNone/>
            </a:pPr>
            <a:r>
              <a:rPr lang="en-US" sz="1400" b="1" dirty="0">
                <a:solidFill>
                  <a:schemeClr val="bg1"/>
                </a:solidFill>
                <a:latin typeface="+mj-lt"/>
              </a:rPr>
              <a:t>4</a:t>
            </a:r>
            <a:endParaRPr lang="en-US" sz="1400" dirty="0"/>
          </a:p>
        </p:txBody>
      </p:sp>
      <p:sp>
        <p:nvSpPr>
          <p:cNvPr id="21" name="node2"/>
          <p:cNvSpPr/>
          <p:nvPr/>
        </p:nvSpPr>
        <p:spPr>
          <a:xfrm>
            <a:off x="1783080" y="3520440"/>
            <a:ext cx="457200" cy="457200"/>
          </a:xfrm>
          <a:prstGeom prst="ellipse">
            <a:avLst/>
          </a:prstGeom>
          <a:solidFill>
            <a:schemeClr val="tx1"/>
          </a:solidFill>
          <a:ln w="28575">
            <a:solidFill>
              <a:schemeClr val="accent2"/>
            </a:solidFill>
          </a:ln>
        </p:spPr>
        <p:txBody>
          <a:bodyPr wrap="square" lIns="0" tIns="0" rIns="0" bIns="0" rtlCol="0" anchor="ctr">
            <a:noAutofit/>
          </a:bodyPr>
          <a:lstStyle/>
          <a:p>
            <a:pPr algn="ctr" marL="0" indent="0">
              <a:buNone/>
            </a:pPr>
            <a:r>
              <a:rPr lang="en-US" sz="1400" b="1" dirty="0">
                <a:solidFill>
                  <a:schemeClr val="bg1"/>
                </a:solidFill>
                <a:latin typeface="+mj-lt"/>
              </a:rPr>
              <a:t>2</a:t>
            </a:r>
            <a:endParaRPr lang="en-US" sz="1400" dirty="0"/>
          </a:p>
        </p:txBody>
      </p:sp>
      <p:sp>
        <p:nvSpPr>
          <p:cNvPr id="22" name="node6"/>
          <p:cNvSpPr/>
          <p:nvPr/>
        </p:nvSpPr>
        <p:spPr>
          <a:xfrm>
            <a:off x="3520440" y="3520440"/>
            <a:ext cx="457200" cy="457200"/>
          </a:xfrm>
          <a:prstGeom prst="ellipse">
            <a:avLst/>
          </a:prstGeom>
          <a:solidFill>
            <a:schemeClr val="tx1"/>
          </a:solidFill>
          <a:ln w="15875">
            <a:solidFill>
              <a:schemeClr val="accent6"/>
            </a:solidFill>
          </a:ln>
        </p:spPr>
        <p:txBody>
          <a:bodyPr wrap="square" lIns="0" tIns="0" rIns="0" bIns="0" rtlCol="0" anchor="ctr">
            <a:noAutofit/>
          </a:bodyPr>
          <a:lstStyle/>
          <a:p>
            <a:pPr algn="ctr" marL="0" indent="0">
              <a:buNone/>
            </a:pPr>
            <a:r>
              <a:rPr lang="en-US" sz="1400" b="1" dirty="0">
                <a:solidFill>
                  <a:schemeClr val="bg1"/>
                </a:solidFill>
                <a:latin typeface="+mj-lt"/>
              </a:rPr>
              <a:t>6</a:t>
            </a:r>
            <a:endParaRPr lang="en-US" sz="1400" dirty="0"/>
          </a:p>
        </p:txBody>
      </p:sp>
      <p:sp>
        <p:nvSpPr>
          <p:cNvPr id="23" name="node1"/>
          <p:cNvSpPr/>
          <p:nvPr/>
        </p:nvSpPr>
        <p:spPr>
          <a:xfrm>
            <a:off x="1348740" y="4389120"/>
            <a:ext cx="457200" cy="457200"/>
          </a:xfrm>
          <a:prstGeom prst="ellipse">
            <a:avLst/>
          </a:prstGeom>
          <a:solidFill>
            <a:schemeClr val="accent4"/>
          </a:solidFill>
          <a:ln w="28575">
            <a:solidFill>
              <a:schemeClr val="accent4"/>
            </a:solidFill>
          </a:ln>
        </p:spPr>
        <p:txBody>
          <a:bodyPr wrap="square" lIns="0" tIns="0" rIns="0" bIns="0" rtlCol="0" anchor="ctr">
            <a:noAutofit/>
          </a:bodyPr>
          <a:lstStyle/>
          <a:p>
            <a:pPr algn="ctr" marL="0" indent="0">
              <a:buNone/>
            </a:pPr>
            <a:r>
              <a:rPr lang="en-US" sz="1400" b="1" dirty="0">
                <a:solidFill>
                  <a:schemeClr val="tx1"/>
                </a:solidFill>
                <a:latin typeface="+mj-lt"/>
              </a:rPr>
              <a:t>1</a:t>
            </a:r>
            <a:endParaRPr lang="en-US" sz="1400" dirty="0"/>
          </a:p>
        </p:txBody>
      </p:sp>
      <p:sp>
        <p:nvSpPr>
          <p:cNvPr id="24" name="node3"/>
          <p:cNvSpPr/>
          <p:nvPr/>
        </p:nvSpPr>
        <p:spPr>
          <a:xfrm>
            <a:off x="2217420" y="4389120"/>
            <a:ext cx="457200" cy="457200"/>
          </a:xfrm>
          <a:prstGeom prst="ellipse">
            <a:avLst/>
          </a:prstGeom>
          <a:solidFill>
            <a:schemeClr val="tx1"/>
          </a:solidFill>
          <a:ln w="15875">
            <a:solidFill>
              <a:schemeClr val="accent6"/>
            </a:solidFill>
          </a:ln>
        </p:spPr>
        <p:txBody>
          <a:bodyPr wrap="square" lIns="0" tIns="0" rIns="0" bIns="0" rtlCol="0" anchor="ctr">
            <a:noAutofit/>
          </a:bodyPr>
          <a:lstStyle/>
          <a:p>
            <a:pPr algn="ctr" marL="0" indent="0">
              <a:buNone/>
            </a:pPr>
            <a:r>
              <a:rPr lang="en-US" sz="1400" b="1" dirty="0">
                <a:solidFill>
                  <a:schemeClr val="bg1"/>
                </a:solidFill>
                <a:latin typeface="+mj-lt"/>
              </a:rPr>
              <a:t>3</a:t>
            </a:r>
            <a:endParaRPr lang="en-US" sz="1400" dirty="0"/>
          </a:p>
        </p:txBody>
      </p:sp>
      <p:sp>
        <p:nvSpPr>
          <p:cNvPr id="25" name="node5"/>
          <p:cNvSpPr/>
          <p:nvPr/>
        </p:nvSpPr>
        <p:spPr>
          <a:xfrm>
            <a:off x="3086100" y="4389120"/>
            <a:ext cx="457200" cy="457200"/>
          </a:xfrm>
          <a:prstGeom prst="ellipse">
            <a:avLst/>
          </a:prstGeom>
          <a:solidFill>
            <a:schemeClr val="tx1"/>
          </a:solidFill>
          <a:ln w="15875">
            <a:solidFill>
              <a:schemeClr val="accent6"/>
            </a:solidFill>
          </a:ln>
        </p:spPr>
        <p:txBody>
          <a:bodyPr wrap="square" lIns="0" tIns="0" rIns="0" bIns="0" rtlCol="0" anchor="ctr">
            <a:noAutofit/>
          </a:bodyPr>
          <a:lstStyle/>
          <a:p>
            <a:pPr algn="ctr" marL="0" indent="0">
              <a:buNone/>
            </a:pPr>
            <a:r>
              <a:rPr lang="en-US" sz="1400" b="1" dirty="0">
                <a:solidFill>
                  <a:schemeClr val="bg1"/>
                </a:solidFill>
                <a:latin typeface="+mj-lt"/>
              </a:rPr>
              <a:t>5</a:t>
            </a:r>
            <a:endParaRPr lang="en-US" sz="1400" dirty="0"/>
          </a:p>
        </p:txBody>
      </p:sp>
      <p:sp>
        <p:nvSpPr>
          <p:cNvPr id="26" name="node7"/>
          <p:cNvSpPr/>
          <p:nvPr/>
        </p:nvSpPr>
        <p:spPr>
          <a:xfrm>
            <a:off x="3954780" y="4389120"/>
            <a:ext cx="457200" cy="457200"/>
          </a:xfrm>
          <a:prstGeom prst="ellipse">
            <a:avLst/>
          </a:prstGeom>
          <a:solidFill>
            <a:schemeClr val="tx1"/>
          </a:solidFill>
          <a:ln w="15875">
            <a:solidFill>
              <a:schemeClr val="accent6"/>
            </a:solidFill>
          </a:ln>
        </p:spPr>
        <p:txBody>
          <a:bodyPr wrap="square" lIns="0" tIns="0" rIns="0" bIns="0" rtlCol="0" anchor="ctr">
            <a:noAutofit/>
          </a:bodyPr>
          <a:lstStyle/>
          <a:p>
            <a:pPr algn="ctr" marL="0" indent="0">
              <a:buNone/>
            </a:pPr>
            <a:r>
              <a:rPr lang="en-US" sz="1400" b="1" dirty="0">
                <a:solidFill>
                  <a:schemeClr val="bg1"/>
                </a:solidFill>
                <a:latin typeface="+mj-lt"/>
              </a:rPr>
              <a:t>7</a:t>
            </a:r>
            <a:endParaRPr lang="en-US" sz="1400" dirty="0"/>
          </a:p>
        </p:txBody>
      </p:sp>
      <p:sp>
        <p:nvSpPr>
          <p:cNvPr id="27" name="stackK"/>
          <p:cNvSpPr txBox="1"/>
          <p:nvPr/>
        </p:nvSpPr>
        <p:spPr>
          <a:xfrm>
            <a:off x="4983480" y="2743200"/>
            <a:ext cx="2103120" cy="274320"/>
          </a:xfrm>
          <a:prstGeom prst="rect">
            <a:avLst/>
          </a:prstGeom>
          <a:noFill/>
          <a:ln>
            <a:noFill/>
          </a:ln>
        </p:spPr>
        <p:txBody>
          <a:bodyPr wrap="square" lIns="0" tIns="0" rIns="0" bIns="0" rtlCol="0" anchor="t">
            <a:noAutofit/>
          </a:bodyPr>
          <a:lstStyle/>
          <a:p>
            <a:pPr algn="l" marL="0" indent="0">
              <a:buNone/>
            </a:pPr>
            <a:r>
              <a:rPr lang="en-US" sz="1000" b="1" spc="200" dirty="0">
                <a:solidFill>
                  <a:schemeClr val="accent6"/>
                </a:solidFill>
              </a:rPr>
              <a:t>CALL STACK</a:t>
            </a:r>
            <a:endParaRPr lang="en-US" sz="1000" dirty="0"/>
          </a:p>
        </p:txBody>
      </p:sp>
      <p:sp>
        <p:nvSpPr>
          <p:cNvPr id="28" name="frame0"/>
          <p:cNvSpPr/>
          <p:nvPr/>
        </p:nvSpPr>
        <p:spPr>
          <a:xfrm>
            <a:off x="4983480" y="3063240"/>
            <a:ext cx="2057400" cy="347472"/>
          </a:xfrm>
          <a:prstGeom prst="roundRect">
            <a:avLst>
              <a:gd name="adj" fmla="val 21053"/>
            </a:avLst>
          </a:prstGeom>
          <a:solidFill>
            <a:schemeClr val="tx1"/>
          </a:solidFill>
          <a:ln w="12700">
            <a:solidFill>
              <a:schemeClr val="accent2"/>
            </a:solidFill>
          </a:ln>
        </p:spPr>
        <p:txBody>
          <a:bodyPr wrap="square" lIns="109728" tIns="109728" rIns="109728" bIns="109728" rtlCol="0" anchor="ctr">
            <a:noAutofit/>
          </a:bodyPr>
          <a:lstStyle/>
          <a:p>
            <a:pPr algn="l" marL="0" indent="0">
              <a:buNone/>
            </a:pPr>
            <a:r>
              <a:rPr lang="en-US" sz="1300" b="1" dirty="0">
                <a:solidFill>
                  <a:schemeClr val="bg1"/>
                </a:solidFill>
                <a:latin typeface="Consolas"/>
              </a:rPr>
              <a:t>inorder(1)</a:t>
            </a:r>
            <a:endParaRPr lang="en-US" sz="1300" dirty="0"/>
          </a:p>
        </p:txBody>
      </p:sp>
      <p:sp>
        <p:nvSpPr>
          <p:cNvPr id="29" name="frame1"/>
          <p:cNvSpPr/>
          <p:nvPr/>
        </p:nvSpPr>
        <p:spPr>
          <a:xfrm>
            <a:off x="4983480" y="3493008"/>
            <a:ext cx="2057400" cy="347472"/>
          </a:xfrm>
          <a:prstGeom prst="roundRect">
            <a:avLst>
              <a:gd name="adj" fmla="val 21053"/>
            </a:avLst>
          </a:prstGeom>
          <a:solidFill>
            <a:schemeClr val="tx1"/>
          </a:solidFill>
          <a:ln w="12700">
            <a:solidFill>
              <a:schemeClr val="accent6">
                <a:alpha val="50000"/>
              </a:schemeClr>
            </a:solidFill>
          </a:ln>
        </p:spPr>
        <p:txBody>
          <a:bodyPr wrap="square" lIns="109728" tIns="109728" rIns="109728" bIns="109728" rtlCol="0" anchor="ctr">
            <a:noAutofit/>
          </a:bodyPr>
          <a:lstStyle/>
          <a:p>
            <a:pPr algn="l" marL="0" indent="0">
              <a:buNone/>
            </a:pPr>
            <a:r>
              <a:rPr lang="en-US" sz="1300" b="1" dirty="0">
                <a:solidFill>
                  <a:schemeClr val="bg1"/>
                </a:solidFill>
                <a:latin typeface="Consolas"/>
              </a:rPr>
              <a:t>inorder(2)</a:t>
            </a:r>
            <a:endParaRPr lang="en-US" sz="1300" dirty="0"/>
          </a:p>
        </p:txBody>
      </p:sp>
      <p:sp>
        <p:nvSpPr>
          <p:cNvPr id="30" name="frame2"/>
          <p:cNvSpPr/>
          <p:nvPr/>
        </p:nvSpPr>
        <p:spPr>
          <a:xfrm>
            <a:off x="4983480" y="3922776"/>
            <a:ext cx="2057400" cy="347472"/>
          </a:xfrm>
          <a:prstGeom prst="roundRect">
            <a:avLst>
              <a:gd name="adj" fmla="val 21053"/>
            </a:avLst>
          </a:prstGeom>
          <a:solidFill>
            <a:schemeClr val="tx1"/>
          </a:solidFill>
          <a:ln w="12700">
            <a:solidFill>
              <a:schemeClr val="accent6">
                <a:alpha val="50000"/>
              </a:schemeClr>
            </a:solidFill>
          </a:ln>
        </p:spPr>
        <p:txBody>
          <a:bodyPr wrap="square" lIns="109728" tIns="109728" rIns="109728" bIns="109728" rtlCol="0" anchor="ctr">
            <a:noAutofit/>
          </a:bodyPr>
          <a:lstStyle/>
          <a:p>
            <a:pPr algn="l" marL="0" indent="0">
              <a:buNone/>
            </a:pPr>
            <a:r>
              <a:rPr lang="en-US" sz="1300" b="1" dirty="0">
                <a:solidFill>
                  <a:schemeClr val="bg1"/>
                </a:solidFill>
                <a:latin typeface="Consolas"/>
              </a:rPr>
              <a:t>inorder(4)</a:t>
            </a:r>
            <a:endParaRPr lang="en-US" sz="1300" dirty="0"/>
          </a:p>
        </p:txBody>
      </p:sp>
      <p:sp>
        <p:nvSpPr>
          <p:cNvPr id="31" name="outK"/>
          <p:cNvSpPr txBox="1"/>
          <p:nvPr/>
        </p:nvSpPr>
        <p:spPr>
          <a:xfrm>
            <a:off x="960120" y="4983480"/>
            <a:ext cx="1097280" cy="274320"/>
          </a:xfrm>
          <a:prstGeom prst="rect">
            <a:avLst/>
          </a:prstGeom>
          <a:noFill/>
          <a:ln>
            <a:noFill/>
          </a:ln>
        </p:spPr>
        <p:txBody>
          <a:bodyPr wrap="square" lIns="0" tIns="0" rIns="0" bIns="0" rtlCol="0" anchor="t">
            <a:noAutofit/>
          </a:bodyPr>
          <a:lstStyle/>
          <a:p>
            <a:pPr algn="l" marL="0" indent="0">
              <a:buNone/>
            </a:pPr>
            <a:r>
              <a:rPr lang="en-US" sz="1000" b="1" spc="200" dirty="0">
                <a:solidFill>
                  <a:schemeClr val="accent6"/>
                </a:solidFill>
              </a:rPr>
              <a:t>OUTPUT</a:t>
            </a:r>
            <a:endParaRPr lang="en-US" sz="1000" dirty="0"/>
          </a:p>
        </p:txBody>
      </p:sp>
      <p:sp>
        <p:nvSpPr>
          <p:cNvPr id="32" name="out1"/>
          <p:cNvSpPr/>
          <p:nvPr/>
        </p:nvSpPr>
        <p:spPr>
          <a:xfrm>
            <a:off x="1874520" y="4910328"/>
            <a:ext cx="384048" cy="384048"/>
          </a:xfrm>
          <a:prstGeom prst="roundRect">
            <a:avLst>
              <a:gd name="adj" fmla="val 19048"/>
            </a:avLst>
          </a:prstGeom>
          <a:solidFill>
            <a:schemeClr val="accent5"/>
          </a:solidFill>
          <a:ln>
            <a:noFill/>
          </a:ln>
        </p:spPr>
        <p:txBody>
          <a:bodyPr wrap="square" lIns="0" tIns="0" rIns="0" bIns="0" rtlCol="0" anchor="ctr">
            <a:noAutofit/>
          </a:bodyPr>
          <a:lstStyle/>
          <a:p>
            <a:pPr algn="ctr" marL="0" indent="0">
              <a:buNone/>
            </a:pPr>
            <a:r>
              <a:rPr lang="en-US" sz="1400" b="1" dirty="0">
                <a:solidFill>
                  <a:schemeClr val="tx1"/>
                </a:solidFill>
              </a:rPr>
              <a:t>1</a:t>
            </a:r>
            <a:endParaRPr lang="en-US" sz="1400" dirty="0"/>
          </a:p>
        </p:txBody>
      </p:sp>
      <p:sp>
        <p:nvSpPr>
          <p:cNvPr id="33" name="subtitle"/>
          <p:cNvSpPr/>
          <p:nvPr/>
        </p:nvSpPr>
        <p:spPr>
          <a:xfrm>
            <a:off x="960120" y="5440680"/>
            <a:ext cx="6080760" cy="457200"/>
          </a:xfrm>
          <a:prstGeom prst="roundRect">
            <a:avLst>
              <a:gd name="adj" fmla="val 24000"/>
            </a:avLst>
          </a:prstGeom>
          <a:solidFill>
            <a:schemeClr val="tx1"/>
          </a:solidFill>
          <a:ln>
            <a:noFill/>
          </a:ln>
        </p:spPr>
        <p:txBody>
          <a:bodyPr wrap="square" lIns="0" tIns="0" rIns="0" bIns="0" rtlCol="0" anchor="ctr">
            <a:noAutofit/>
          </a:bodyPr>
          <a:lstStyle/>
          <a:p>
            <a:pPr algn="ctr" marL="0" indent="0">
              <a:buNone/>
            </a:pPr>
            <a:r>
              <a:rPr lang="en-US" sz="1400" b="1" dirty="0">
                <a:solidFill>
                  <a:schemeClr val="bg1"/>
                </a:solidFill>
              </a:rPr>
              <a:t>1 has no left child, so it is printed first.</a:t>
            </a:r>
            <a:endParaRPr lang="en-US" sz="1400" dirty="0"/>
          </a:p>
        </p:txBody>
      </p:sp>
      <p:sp>
        <p:nvSpPr>
          <p:cNvPr id="34" name="m0"/>
          <p:cNvSpPr/>
          <p:nvPr/>
        </p:nvSpPr>
        <p:spPr>
          <a:xfrm>
            <a:off x="7726680" y="2176272"/>
            <a:ext cx="109728" cy="457200"/>
          </a:xfrm>
          <a:prstGeom prst="rect">
            <a:avLst/>
          </a:prstGeom>
          <a:solidFill>
            <a:schemeClr val="accent2"/>
          </a:solidFill>
          <a:ln>
            <a:noFill/>
          </a:ln>
        </p:spPr>
      </p:sp>
      <p:sp>
        <p:nvSpPr>
          <p:cNvPr id="35" name="mt0"/>
          <p:cNvSpPr txBox="1"/>
          <p:nvPr/>
        </p:nvSpPr>
        <p:spPr>
          <a:xfrm>
            <a:off x="8019288" y="2103120"/>
            <a:ext cx="3532327" cy="914400"/>
          </a:xfrm>
          <a:prstGeom prst="rect">
            <a:avLst/>
          </a:prstGeom>
          <a:noFill/>
          <a:ln>
            <a:noFill/>
          </a:ln>
        </p:spPr>
        <p:txBody>
          <a:bodyPr wrap="square" lIns="0" tIns="0" rIns="0" bIns="0" rtlCol="0" anchor="t">
            <a:noAutofit/>
          </a:bodyPr>
          <a:lstStyle/>
          <a:p>
            <a:pPr algn="l" marL="0" indent="0">
              <a:lnSpc>
                <a:spcPct val="115000"/>
              </a:lnSpc>
              <a:buNone/>
            </a:pPr>
            <a:r>
              <a:rPr lang="en-US" sz="1600" dirty="0">
                <a:solidFill>
                  <a:schemeClr val="bg1"/>
                </a:solidFill>
              </a:rPr>
              <a:t>One ask-bar, zero learning curve: type a doubt, pick a sample, or attach a PDF</a:t>
            </a:r>
            <a:endParaRPr lang="en-US" sz="1600" dirty="0"/>
          </a:p>
        </p:txBody>
      </p:sp>
      <p:sp>
        <p:nvSpPr>
          <p:cNvPr id="36" name="m1"/>
          <p:cNvSpPr/>
          <p:nvPr/>
        </p:nvSpPr>
        <p:spPr>
          <a:xfrm>
            <a:off x="7726680" y="3182112"/>
            <a:ext cx="109728" cy="457200"/>
          </a:xfrm>
          <a:prstGeom prst="rect">
            <a:avLst/>
          </a:prstGeom>
          <a:solidFill>
            <a:schemeClr val="accent1"/>
          </a:solidFill>
          <a:ln>
            <a:noFill/>
          </a:ln>
        </p:spPr>
      </p:sp>
      <p:sp>
        <p:nvSpPr>
          <p:cNvPr id="37" name="mt1"/>
          <p:cNvSpPr txBox="1"/>
          <p:nvPr/>
        </p:nvSpPr>
        <p:spPr>
          <a:xfrm>
            <a:off x="8019288" y="3108960"/>
            <a:ext cx="3532327" cy="914400"/>
          </a:xfrm>
          <a:prstGeom prst="rect">
            <a:avLst/>
          </a:prstGeom>
          <a:noFill/>
          <a:ln>
            <a:noFill/>
          </a:ln>
        </p:spPr>
        <p:txBody>
          <a:bodyPr wrap="square" lIns="0" tIns="0" rIns="0" bIns="0" rtlCol="0" anchor="t">
            <a:noAutofit/>
          </a:bodyPr>
          <a:lstStyle/>
          <a:p>
            <a:pPr algn="l" marL="0" indent="0">
              <a:lnSpc>
                <a:spcPct val="115000"/>
              </a:lnSpc>
              <a:buNone/>
            </a:pPr>
            <a:r>
              <a:rPr lang="en-US" sz="1600" dirty="0">
                <a:solidFill>
                  <a:schemeClr val="bg1"/>
                </a:solidFill>
              </a:rPr>
              <a:t>Full text answer first, level-aware: fundamentals up to rigour</a:t>
            </a:r>
            <a:endParaRPr lang="en-US" sz="1600" dirty="0"/>
          </a:p>
        </p:txBody>
      </p:sp>
      <p:sp>
        <p:nvSpPr>
          <p:cNvPr id="38" name="m2"/>
          <p:cNvSpPr/>
          <p:nvPr/>
        </p:nvSpPr>
        <p:spPr>
          <a:xfrm>
            <a:off x="7726680" y="4187952"/>
            <a:ext cx="109728" cy="457200"/>
          </a:xfrm>
          <a:prstGeom prst="rect">
            <a:avLst/>
          </a:prstGeom>
          <a:solidFill>
            <a:schemeClr val="accent5"/>
          </a:solidFill>
          <a:ln>
            <a:noFill/>
          </a:ln>
        </p:spPr>
      </p:sp>
      <p:sp>
        <p:nvSpPr>
          <p:cNvPr id="39" name="mt2"/>
          <p:cNvSpPr txBox="1"/>
          <p:nvPr/>
        </p:nvSpPr>
        <p:spPr>
          <a:xfrm>
            <a:off x="8019288" y="4114800"/>
            <a:ext cx="3532327" cy="914400"/>
          </a:xfrm>
          <a:prstGeom prst="rect">
            <a:avLst/>
          </a:prstGeom>
          <a:noFill/>
          <a:ln>
            <a:noFill/>
          </a:ln>
        </p:spPr>
        <p:txBody>
          <a:bodyPr wrap="square" lIns="0" tIns="0" rIns="0" bIns="0" rtlCol="0" anchor="t">
            <a:noAutofit/>
          </a:bodyPr>
          <a:lstStyle/>
          <a:p>
            <a:pPr algn="l" marL="0" indent="0">
              <a:lnSpc>
                <a:spcPct val="115000"/>
              </a:lnSpc>
              <a:buNone/>
            </a:pPr>
            <a:r>
              <a:rPr lang="en-US" sz="1600" dirty="0">
                <a:solidFill>
                  <a:schemeClr val="bg1"/>
                </a:solidFill>
              </a:rPr>
              <a:t>Then the board takes over and the lesson builds itself, narrated</a:t>
            </a:r>
            <a:endParaRPr lang="en-US" sz="1600" dirty="0"/>
          </a:p>
        </p:txBody>
      </p:sp>
      <p:sp>
        <p:nvSpPr>
          <p:cNvPr id="40" name="m3"/>
          <p:cNvSpPr/>
          <p:nvPr/>
        </p:nvSpPr>
        <p:spPr>
          <a:xfrm>
            <a:off x="7726680" y="5193792"/>
            <a:ext cx="109728" cy="457200"/>
          </a:xfrm>
          <a:prstGeom prst="rect">
            <a:avLst/>
          </a:prstGeom>
          <a:solidFill>
            <a:schemeClr val="accent4"/>
          </a:solidFill>
          <a:ln>
            <a:noFill/>
          </a:ln>
        </p:spPr>
      </p:sp>
      <p:sp>
        <p:nvSpPr>
          <p:cNvPr id="41" name="mt3"/>
          <p:cNvSpPr txBox="1"/>
          <p:nvPr/>
        </p:nvSpPr>
        <p:spPr>
          <a:xfrm>
            <a:off x="8019288" y="5120640"/>
            <a:ext cx="3532327" cy="914400"/>
          </a:xfrm>
          <a:prstGeom prst="rect">
            <a:avLst/>
          </a:prstGeom>
          <a:noFill/>
          <a:ln>
            <a:noFill/>
          </a:ln>
        </p:spPr>
        <p:txBody>
          <a:bodyPr wrap="square" lIns="0" tIns="0" rIns="0" bIns="0" rtlCol="0" anchor="t">
            <a:noAutofit/>
          </a:bodyPr>
          <a:lstStyle/>
          <a:p>
            <a:pPr algn="l" marL="0" indent="0">
              <a:lnSpc>
                <a:spcPct val="115000"/>
              </a:lnSpc>
              <a:buNone/>
            </a:pPr>
            <a:r>
              <a:rPr lang="en-US" sz="1600" dirty="0">
                <a:solidFill>
                  <a:schemeClr val="bg1"/>
                </a:solidFill>
              </a:rPr>
              <a:t>This tree is computed: the engine really ran inorder traversal</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glow"/>
          <p:cNvSpPr/>
          <p:nvPr/>
        </p:nvSpPr>
        <p:spPr>
          <a:xfrm>
            <a:off x="-914400" y="-1371600"/>
            <a:ext cx="4114800" cy="4114800"/>
          </a:xfrm>
          <a:prstGeom prst="rect">
            <a:avLst/>
          </a:prstGeom>
          <a:solidFill>
            <a:schemeClr val="accent1">
              <a:alpha val="12000"/>
            </a:schemeClr>
          </a:solidFill>
          <a:ln>
            <a:noFill/>
          </a:ln>
        </p:spPr>
      </p:sp>
      <p:sp>
        <p:nvSpPr>
          <p:cNvPr id="3" name="glow2"/>
          <p:cNvSpPr/>
          <p:nvPr/>
        </p:nvSpPr>
        <p:spPr>
          <a:xfrm>
            <a:off x="9601200" y="4754880"/>
            <a:ext cx="3657600" cy="3657600"/>
          </a:xfrm>
          <a:prstGeom prst="rect">
            <a:avLst/>
          </a:prstGeom>
          <a:solidFill>
            <a:schemeClr val="accent2">
              <a:alpha val="8000"/>
            </a:schemeClr>
          </a:solidFill>
          <a:ln>
            <a:noFill/>
          </a:ln>
        </p:spPr>
      </p:sp>
      <p:sp>
        <p:nvSpPr>
          <p:cNvPr id="4" name="kicker"/>
          <p:cNvSpPr txBox="1"/>
          <p:nvPr/>
        </p:nvSpPr>
        <p:spPr>
          <a:xfrm>
            <a:off x="640080" y="457200"/>
            <a:ext cx="9144000" cy="274320"/>
          </a:xfrm>
          <a:prstGeom prst="rect">
            <a:avLst/>
          </a:prstGeom>
          <a:noFill/>
          <a:ln>
            <a:noFill/>
          </a:ln>
        </p:spPr>
        <p:txBody>
          <a:bodyPr wrap="square" lIns="0" tIns="0" rIns="0" bIns="0" rtlCol="0" anchor="t">
            <a:noAutofit/>
          </a:bodyPr>
          <a:lstStyle/>
          <a:p>
            <a:pPr algn="l" marL="0" indent="0">
              <a:buNone/>
            </a:pPr>
            <a:r>
              <a:rPr lang="en-US" sz="1200" b="1" spc="400" dirty="0">
                <a:solidFill>
                  <a:schemeClr val="accent2"/>
                </a:solidFill>
              </a:rPr>
              <a:t>STORYBOARD  ·  2 / 3</a:t>
            </a:r>
            <a:endParaRPr lang="en-US" sz="1200" dirty="0"/>
          </a:p>
        </p:txBody>
      </p:sp>
      <p:sp>
        <p:nvSpPr>
          <p:cNvPr id="5" name="title"/>
          <p:cNvSpPr txBox="1"/>
          <p:nvPr/>
        </p:nvSpPr>
        <p:spPr>
          <a:xfrm>
            <a:off x="640080" y="777240"/>
            <a:ext cx="10911535" cy="1188720"/>
          </a:xfrm>
          <a:prstGeom prst="rect">
            <a:avLst/>
          </a:prstGeom>
          <a:noFill/>
          <a:ln>
            <a:noFill/>
          </a:ln>
        </p:spPr>
        <p:txBody>
          <a:bodyPr wrap="square" lIns="0" tIns="0" rIns="0" bIns="0" rtlCol="0" anchor="t">
            <a:noAutofit/>
          </a:bodyPr>
          <a:lstStyle/>
          <a:p>
            <a:pPr algn="l" marL="0" indent="0">
              <a:lnSpc>
                <a:spcPct val="95000"/>
              </a:lnSpc>
              <a:buNone/>
            </a:pPr>
            <a:r>
              <a:rPr lang="en-US" sz="3200" b="1" dirty="0">
                <a:solidFill>
                  <a:schemeClr val="bg1"/>
                </a:solidFill>
                <a:latin typeface="+mj-lt"/>
              </a:rPr>
              <a:t>The lesson draws itself. </a:t>
            </a:r>
            <a:r>
              <a:rPr lang="en-US" sz="3200" b="1" dirty="0">
                <a:gradFill>
                  <a:gsLst>
                    <a:gs pos="0">
                      <a:srgbClr val="9D8CFF"/>
                    </a:gs>
                    <a:gs pos="50000">
                      <a:srgbClr val="FF6FB5"/>
                    </a:gs>
                    <a:gs pos="100000">
                      <a:srgbClr val="FFC94D"/>
                    </a:gs>
                  </a:gsLst>
                  <a:lin ang="0" scaled="0"/>
                </a:gradFill>
                <a:latin typeface="+mj-lt"/>
              </a:rPr>
              <a:t>Doubts never wait.</a:t>
            </a:r>
            <a:endParaRPr lang="en-US" sz="3200" dirty="0"/>
          </a:p>
        </p:txBody>
      </p:sp>
      <p:sp>
        <p:nvSpPr>
          <p:cNvPr id="6" name="footer"/>
          <p:cNvSpPr txBox="1"/>
          <p:nvPr/>
        </p:nvSpPr>
        <p:spPr>
          <a:xfrm>
            <a:off x="640080" y="6400800"/>
            <a:ext cx="5486400" cy="228600"/>
          </a:xfrm>
          <a:prstGeom prst="rect">
            <a:avLst/>
          </a:prstGeom>
          <a:noFill/>
          <a:ln>
            <a:noFill/>
          </a:ln>
        </p:spPr>
        <p:txBody>
          <a:bodyPr wrap="square" lIns="0" tIns="0" rIns="0" bIns="0" rtlCol="0" anchor="t">
            <a:noAutofit/>
          </a:bodyPr>
          <a:lstStyle/>
          <a:p>
            <a:pPr algn="l" marL="0" indent="0">
              <a:buNone/>
            </a:pPr>
            <a:r>
              <a:rPr lang="en-US" sz="1000" spc="300" dirty="0">
                <a:solidFill>
                  <a:schemeClr val="accent6"/>
                </a:solidFill>
              </a:rPr>
              <a:t>NEURALEARN  ·  COMPUTED, NOT HALLUCINATED</a:t>
            </a:r>
            <a:endParaRPr lang="en-US" sz="1000" dirty="0"/>
          </a:p>
        </p:txBody>
      </p:sp>
      <p:sp>
        <p:nvSpPr>
          <p:cNvPr id="7" name="pageNum"/>
          <p:cNvSpPr txBox="1"/>
          <p:nvPr/>
        </p:nvSpPr>
        <p:spPr>
          <a:xfrm>
            <a:off x="10637215" y="6400800"/>
            <a:ext cx="914400" cy="228600"/>
          </a:xfrm>
          <a:prstGeom prst="rect">
            <a:avLst/>
          </a:prstGeom>
          <a:noFill/>
          <a:ln>
            <a:noFill/>
          </a:ln>
        </p:spPr>
        <p:txBody>
          <a:bodyPr wrap="square" lIns="0" tIns="0" rIns="0" bIns="0" rtlCol="0" anchor="t">
            <a:noAutofit/>
          </a:bodyPr>
          <a:lstStyle/>
          <a:p>
            <a:pPr algn="r" marL="0" indent="0">
              <a:buNone/>
            </a:pPr>
            <a:r>
              <a:rPr lang="en-US" sz="1000" b="1" spc="200" dirty="0">
                <a:solidFill>
                  <a:schemeClr val="accent6"/>
                </a:solidFill>
              </a:rPr>
              <a:t>07</a:t>
            </a:r>
            <a:endParaRPr lang="en-US" sz="1000" dirty="0"/>
          </a:p>
        </p:txBody>
      </p:sp>
      <p:sp>
        <p:nvSpPr>
          <p:cNvPr id="8" name="chat"/>
          <p:cNvSpPr/>
          <p:nvPr/>
        </p:nvSpPr>
        <p:spPr>
          <a:xfrm>
            <a:off x="640080" y="2011680"/>
            <a:ext cx="5394960" cy="4114800"/>
          </a:xfrm>
          <a:prstGeom prst="roundRect">
            <a:avLst>
              <a:gd name="adj" fmla="val 3556"/>
            </a:avLst>
          </a:prstGeom>
          <a:solidFill>
            <a:schemeClr val="tx2"/>
          </a:solidFill>
          <a:ln w="12700">
            <a:solidFill>
              <a:schemeClr val="accent3"/>
            </a:solidFill>
          </a:ln>
        </p:spPr>
      </p:sp>
      <p:sp>
        <p:nvSpPr>
          <p:cNvPr id="9" name="stuK"/>
          <p:cNvSpPr txBox="1"/>
          <p:nvPr/>
        </p:nvSpPr>
        <p:spPr>
          <a:xfrm>
            <a:off x="960120" y="2286000"/>
            <a:ext cx="3657600" cy="274320"/>
          </a:xfrm>
          <a:prstGeom prst="rect">
            <a:avLst/>
          </a:prstGeom>
          <a:noFill/>
          <a:ln>
            <a:noFill/>
          </a:ln>
        </p:spPr>
        <p:txBody>
          <a:bodyPr wrap="square" lIns="0" tIns="0" rIns="0" bIns="0" rtlCol="0" anchor="t">
            <a:noAutofit/>
          </a:bodyPr>
          <a:lstStyle/>
          <a:p>
            <a:pPr algn="l" marL="0" indent="0">
              <a:buNone/>
            </a:pPr>
            <a:r>
              <a:rPr lang="en-US" sz="1100" b="1" spc="300" dirty="0">
                <a:solidFill>
                  <a:schemeClr val="accent3"/>
                </a:solidFill>
              </a:rPr>
              <a:t>STUDENT  ·  INTERRUPT</a:t>
            </a:r>
            <a:endParaRPr lang="en-US" sz="1100" dirty="0"/>
          </a:p>
        </p:txBody>
      </p:sp>
      <p:sp>
        <p:nvSpPr>
          <p:cNvPr id="10" name="stuQ"/>
          <p:cNvSpPr/>
          <p:nvPr/>
        </p:nvSpPr>
        <p:spPr>
          <a:xfrm>
            <a:off x="960120" y="2633472"/>
            <a:ext cx="4754880" cy="566928"/>
          </a:xfrm>
          <a:prstGeom prst="roundRect">
            <a:avLst>
              <a:gd name="adj" fmla="val 19355"/>
            </a:avLst>
          </a:prstGeom>
          <a:solidFill>
            <a:schemeClr val="accent3">
              <a:alpha val="18000"/>
            </a:schemeClr>
          </a:solidFill>
          <a:ln>
            <a:noFill/>
          </a:ln>
        </p:spPr>
        <p:txBody>
          <a:bodyPr wrap="square" lIns="164592" tIns="164592" rIns="164592" bIns="164592" rtlCol="0" anchor="ctr">
            <a:noAutofit/>
          </a:bodyPr>
          <a:lstStyle/>
          <a:p>
            <a:pPr algn="l" marL="0" indent="0">
              <a:buNone/>
            </a:pPr>
            <a:r>
              <a:rPr lang="en-US" sz="1700" b="1" dirty="0">
                <a:solidFill>
                  <a:schemeClr val="bg1"/>
                </a:solidFill>
              </a:rPr>
              <a:t>“But WHY does water split?”</a:t>
            </a:r>
            <a:endParaRPr lang="en-US" sz="1700" dirty="0"/>
          </a:p>
        </p:txBody>
      </p:sp>
      <p:sp>
        <p:nvSpPr>
          <p:cNvPr id="11" name="tutK"/>
          <p:cNvSpPr txBox="1"/>
          <p:nvPr/>
        </p:nvSpPr>
        <p:spPr>
          <a:xfrm>
            <a:off x="960120" y="3474720"/>
            <a:ext cx="3657600" cy="274320"/>
          </a:xfrm>
          <a:prstGeom prst="rect">
            <a:avLst/>
          </a:prstGeom>
          <a:noFill/>
          <a:ln>
            <a:noFill/>
          </a:ln>
        </p:spPr>
        <p:txBody>
          <a:bodyPr wrap="square" lIns="0" tIns="0" rIns="0" bIns="0" rtlCol="0" anchor="t">
            <a:noAutofit/>
          </a:bodyPr>
          <a:lstStyle/>
          <a:p>
            <a:pPr algn="l" marL="0" indent="0">
              <a:buNone/>
            </a:pPr>
            <a:r>
              <a:rPr lang="en-US" sz="1100" b="1" spc="300" dirty="0">
                <a:solidFill>
                  <a:schemeClr val="accent2"/>
                </a:solidFill>
              </a:rPr>
              <a:t>NEURALEARN</a:t>
            </a:r>
            <a:endParaRPr lang="en-US" sz="1100" dirty="0"/>
          </a:p>
        </p:txBody>
      </p:sp>
      <p:sp>
        <p:nvSpPr>
          <p:cNvPr id="12" name="tutA"/>
          <p:cNvSpPr/>
          <p:nvPr/>
        </p:nvSpPr>
        <p:spPr>
          <a:xfrm>
            <a:off x="960120" y="3794760"/>
            <a:ext cx="4754880" cy="868680"/>
          </a:xfrm>
          <a:prstGeom prst="roundRect">
            <a:avLst>
              <a:gd name="adj" fmla="val 12632"/>
            </a:avLst>
          </a:prstGeom>
          <a:solidFill>
            <a:schemeClr val="tx1"/>
          </a:solidFill>
          <a:ln>
            <a:noFill/>
          </a:ln>
        </p:spPr>
        <p:txBody>
          <a:bodyPr wrap="square" lIns="164592" tIns="164592" rIns="164592" bIns="164592" rtlCol="0" anchor="ctr">
            <a:noAutofit/>
          </a:bodyPr>
          <a:lstStyle/>
          <a:p>
            <a:pPr algn="l" marL="0" indent="0">
              <a:lnSpc>
                <a:spcPct val="115000"/>
              </a:lnSpc>
              <a:buNone/>
            </a:pPr>
            <a:r>
              <a:rPr lang="en-US" sz="1500" dirty="0">
                <a:solidFill>
                  <a:schemeClr val="bg1"/>
                </a:solidFill>
              </a:rPr>
              <a:t>Great question: light energy breaks the O–H bonds. A new visual is drawn right after this answer.</a:t>
            </a:r>
            <a:endParaRPr lang="en-US" sz="1500" dirty="0"/>
          </a:p>
        </p:txBody>
      </p:sp>
      <p:sp>
        <p:nvSpPr>
          <p:cNvPr id="13" name="stripK"/>
          <p:cNvSpPr txBox="1"/>
          <p:nvPr/>
        </p:nvSpPr>
        <p:spPr>
          <a:xfrm>
            <a:off x="960120" y="4892040"/>
            <a:ext cx="3657600" cy="274320"/>
          </a:xfrm>
          <a:prstGeom prst="rect">
            <a:avLst/>
          </a:prstGeom>
          <a:noFill/>
          <a:ln>
            <a:noFill/>
          </a:ln>
        </p:spPr>
        <p:txBody>
          <a:bodyPr wrap="square" lIns="0" tIns="0" rIns="0" bIns="0" rtlCol="0" anchor="t">
            <a:noAutofit/>
          </a:bodyPr>
          <a:lstStyle/>
          <a:p>
            <a:pPr algn="l" marL="0" indent="0">
              <a:buNone/>
            </a:pPr>
            <a:r>
              <a:rPr lang="en-US" sz="1000" b="1" spc="200" dirty="0">
                <a:solidFill>
                  <a:schemeClr val="accent6"/>
                </a:solidFill>
              </a:rPr>
              <a:t>LESSON</a:t>
            </a:r>
            <a:endParaRPr lang="en-US" sz="1000" dirty="0"/>
          </a:p>
        </p:txBody>
      </p:sp>
      <p:sp>
        <p:nvSpPr>
          <p:cNvPr id="14" name="sc0"/>
          <p:cNvSpPr/>
          <p:nvPr/>
        </p:nvSpPr>
        <p:spPr>
          <a:xfrm>
            <a:off x="960120" y="5257800"/>
            <a:ext cx="1463040" cy="384048"/>
          </a:xfrm>
          <a:prstGeom prst="roundRect">
            <a:avLst>
              <a:gd name="adj" fmla="val 50000"/>
            </a:avLst>
          </a:prstGeom>
          <a:solidFill>
            <a:schemeClr val="tx1"/>
          </a:solidFill>
          <a:ln w="12700">
            <a:solidFill>
              <a:schemeClr val="accent6"/>
            </a:solidFill>
          </a:ln>
        </p:spPr>
        <p:txBody>
          <a:bodyPr wrap="square" lIns="73152" tIns="73152" rIns="73152" bIns="73152" rtlCol="0" anchor="ctr">
            <a:noAutofit/>
          </a:bodyPr>
          <a:lstStyle/>
          <a:p>
            <a:pPr algn="ctr" marL="0" indent="0">
              <a:buNone/>
            </a:pPr>
            <a:r>
              <a:rPr lang="en-US" sz="1100" dirty="0">
                <a:solidFill>
                  <a:schemeClr val="accent6"/>
                </a:solidFill>
              </a:rPr>
              <a:t>Light reactions</a:t>
            </a:r>
            <a:endParaRPr lang="en-US" sz="1100" dirty="0"/>
          </a:p>
        </p:txBody>
      </p:sp>
      <p:sp>
        <p:nvSpPr>
          <p:cNvPr id="15" name="sc1"/>
          <p:cNvSpPr/>
          <p:nvPr/>
        </p:nvSpPr>
        <p:spPr>
          <a:xfrm>
            <a:off x="2514600" y="5257800"/>
            <a:ext cx="1783080" cy="384048"/>
          </a:xfrm>
          <a:prstGeom prst="roundRect">
            <a:avLst>
              <a:gd name="adj" fmla="val 50000"/>
            </a:avLst>
          </a:prstGeom>
          <a:solidFill>
            <a:schemeClr val="accent4"/>
          </a:solidFill>
          <a:ln>
            <a:noFill/>
          </a:ln>
        </p:spPr>
        <p:txBody>
          <a:bodyPr wrap="square" lIns="73152" tIns="73152" rIns="73152" bIns="73152" rtlCol="0" anchor="ctr">
            <a:noAutofit/>
          </a:bodyPr>
          <a:lstStyle/>
          <a:p>
            <a:pPr algn="ctr" marL="0" indent="0">
              <a:buNone/>
            </a:pPr>
            <a:r>
              <a:rPr lang="en-US" sz="1100" b="1" dirty="0">
                <a:solidFill>
                  <a:schemeClr val="tx1"/>
                </a:solidFill>
              </a:rPr>
              <a:t>? Why water splits</a:t>
            </a:r>
            <a:endParaRPr lang="en-US" sz="1100" dirty="0"/>
          </a:p>
        </p:txBody>
      </p:sp>
      <p:sp>
        <p:nvSpPr>
          <p:cNvPr id="16" name="sc2"/>
          <p:cNvSpPr/>
          <p:nvPr/>
        </p:nvSpPr>
        <p:spPr>
          <a:xfrm>
            <a:off x="4389120" y="5257800"/>
            <a:ext cx="1325880" cy="384048"/>
          </a:xfrm>
          <a:prstGeom prst="roundRect">
            <a:avLst>
              <a:gd name="adj" fmla="val 50000"/>
            </a:avLst>
          </a:prstGeom>
          <a:solidFill>
            <a:schemeClr val="tx1"/>
          </a:solidFill>
          <a:ln w="12700">
            <a:solidFill>
              <a:schemeClr val="accent6"/>
            </a:solidFill>
          </a:ln>
        </p:spPr>
        <p:txBody>
          <a:bodyPr wrap="square" lIns="73152" tIns="73152" rIns="73152" bIns="73152" rtlCol="0" anchor="ctr">
            <a:noAutofit/>
          </a:bodyPr>
          <a:lstStyle/>
          <a:p>
            <a:pPr algn="ctr" marL="0" indent="0">
              <a:buNone/>
            </a:pPr>
            <a:r>
              <a:rPr lang="en-US" sz="1100" dirty="0">
                <a:solidFill>
                  <a:schemeClr val="accent6"/>
                </a:solidFill>
              </a:rPr>
              <a:t>Calvin cycle</a:t>
            </a:r>
            <a:endParaRPr lang="en-US" sz="1100" dirty="0"/>
          </a:p>
        </p:txBody>
      </p:sp>
      <p:sp>
        <p:nvSpPr>
          <p:cNvPr id="17" name="m0"/>
          <p:cNvSpPr/>
          <p:nvPr/>
        </p:nvSpPr>
        <p:spPr>
          <a:xfrm>
            <a:off x="6446520" y="2130552"/>
            <a:ext cx="109728" cy="457200"/>
          </a:xfrm>
          <a:prstGeom prst="rect">
            <a:avLst/>
          </a:prstGeom>
          <a:solidFill>
            <a:schemeClr val="accent3"/>
          </a:solidFill>
          <a:ln>
            <a:noFill/>
          </a:ln>
        </p:spPr>
      </p:sp>
      <p:sp>
        <p:nvSpPr>
          <p:cNvPr id="18" name="mt0"/>
          <p:cNvSpPr txBox="1"/>
          <p:nvPr/>
        </p:nvSpPr>
        <p:spPr>
          <a:xfrm>
            <a:off x="6739128" y="2057400"/>
            <a:ext cx="4812487" cy="932688"/>
          </a:xfrm>
          <a:prstGeom prst="rect">
            <a:avLst/>
          </a:prstGeom>
          <a:noFill/>
          <a:ln>
            <a:noFill/>
          </a:ln>
        </p:spPr>
        <p:txBody>
          <a:bodyPr wrap="square" lIns="0" tIns="0" rIns="0" bIns="0" rtlCol="0" anchor="t">
            <a:noAutofit/>
          </a:bodyPr>
          <a:lstStyle/>
          <a:p>
            <a:pPr algn="l" marL="0" indent="0">
              <a:lnSpc>
                <a:spcPct val="115000"/>
              </a:lnSpc>
              <a:buNone/>
            </a:pPr>
            <a:r>
              <a:rPr lang="en-US" sz="1600" dirty="0">
                <a:solidFill>
                  <a:schemeClr val="bg1"/>
                </a:solidFill>
              </a:rPr>
              <a:t>Every spoken sentence changes the picture: reveal, move, transform. Never static slides</a:t>
            </a:r>
            <a:endParaRPr lang="en-US" sz="1600" dirty="0"/>
          </a:p>
        </p:txBody>
      </p:sp>
      <p:sp>
        <p:nvSpPr>
          <p:cNvPr id="19" name="m1"/>
          <p:cNvSpPr/>
          <p:nvPr/>
        </p:nvSpPr>
        <p:spPr>
          <a:xfrm>
            <a:off x="6446520" y="3154680"/>
            <a:ext cx="109728" cy="457200"/>
          </a:xfrm>
          <a:prstGeom prst="rect">
            <a:avLst/>
          </a:prstGeom>
          <a:solidFill>
            <a:schemeClr val="accent2"/>
          </a:solidFill>
          <a:ln>
            <a:noFill/>
          </a:ln>
        </p:spPr>
      </p:sp>
      <p:sp>
        <p:nvSpPr>
          <p:cNvPr id="20" name="mt1"/>
          <p:cNvSpPr txBox="1"/>
          <p:nvPr/>
        </p:nvSpPr>
        <p:spPr>
          <a:xfrm>
            <a:off x="6739128" y="3081528"/>
            <a:ext cx="4812487" cy="932688"/>
          </a:xfrm>
          <a:prstGeom prst="rect">
            <a:avLst/>
          </a:prstGeom>
          <a:noFill/>
          <a:ln>
            <a:noFill/>
          </a:ln>
        </p:spPr>
        <p:txBody>
          <a:bodyPr wrap="square" lIns="0" tIns="0" rIns="0" bIns="0" rtlCol="0" anchor="t">
            <a:noAutofit/>
          </a:bodyPr>
          <a:lstStyle/>
          <a:p>
            <a:pPr algn="l" marL="0" indent="0">
              <a:lnSpc>
                <a:spcPct val="115000"/>
              </a:lnSpc>
              <a:buNone/>
            </a:pPr>
            <a:r>
              <a:rPr lang="en-US" sz="1600" dirty="0">
                <a:solidFill>
                  <a:schemeClr val="bg1"/>
                </a:solidFill>
              </a:rPr>
              <a:t>Narration is synced line by line with the text on screen</a:t>
            </a:r>
            <a:endParaRPr lang="en-US" sz="1600" dirty="0"/>
          </a:p>
        </p:txBody>
      </p:sp>
      <p:sp>
        <p:nvSpPr>
          <p:cNvPr id="21" name="m2"/>
          <p:cNvSpPr/>
          <p:nvPr/>
        </p:nvSpPr>
        <p:spPr>
          <a:xfrm>
            <a:off x="6446520" y="4178808"/>
            <a:ext cx="109728" cy="457200"/>
          </a:xfrm>
          <a:prstGeom prst="rect">
            <a:avLst/>
          </a:prstGeom>
          <a:solidFill>
            <a:schemeClr val="accent1"/>
          </a:solidFill>
          <a:ln>
            <a:noFill/>
          </a:ln>
        </p:spPr>
      </p:sp>
      <p:sp>
        <p:nvSpPr>
          <p:cNvPr id="22" name="mt2"/>
          <p:cNvSpPr txBox="1"/>
          <p:nvPr/>
        </p:nvSpPr>
        <p:spPr>
          <a:xfrm>
            <a:off x="6739128" y="4105656"/>
            <a:ext cx="4812487" cy="932688"/>
          </a:xfrm>
          <a:prstGeom prst="rect">
            <a:avLst/>
          </a:prstGeom>
          <a:noFill/>
          <a:ln>
            <a:noFill/>
          </a:ln>
        </p:spPr>
        <p:txBody>
          <a:bodyPr wrap="square" lIns="0" tIns="0" rIns="0" bIns="0" rtlCol="0" anchor="t">
            <a:noAutofit/>
          </a:bodyPr>
          <a:lstStyle/>
          <a:p>
            <a:pPr algn="l" marL="0" indent="0">
              <a:lnSpc>
                <a:spcPct val="115000"/>
              </a:lnSpc>
              <a:buNone/>
            </a:pPr>
            <a:r>
              <a:rPr lang="en-US" sz="1600" dirty="0">
                <a:solidFill>
                  <a:schemeClr val="bg1"/>
                </a:solidFill>
              </a:rPr>
              <a:t>Ask a doubt mid-lesson: answered instantly, with a follow-up visual drawn right after</a:t>
            </a:r>
            <a:endParaRPr lang="en-US" sz="1600" dirty="0"/>
          </a:p>
        </p:txBody>
      </p:sp>
      <p:sp>
        <p:nvSpPr>
          <p:cNvPr id="23" name="m3"/>
          <p:cNvSpPr/>
          <p:nvPr/>
        </p:nvSpPr>
        <p:spPr>
          <a:xfrm>
            <a:off x="6446520" y="5202936"/>
            <a:ext cx="109728" cy="457200"/>
          </a:xfrm>
          <a:prstGeom prst="rect">
            <a:avLst/>
          </a:prstGeom>
          <a:solidFill>
            <a:schemeClr val="accent5"/>
          </a:solidFill>
          <a:ln>
            <a:noFill/>
          </a:ln>
        </p:spPr>
      </p:sp>
      <p:sp>
        <p:nvSpPr>
          <p:cNvPr id="24" name="mt3"/>
          <p:cNvSpPr txBox="1"/>
          <p:nvPr/>
        </p:nvSpPr>
        <p:spPr>
          <a:xfrm>
            <a:off x="6739128" y="5129784"/>
            <a:ext cx="4812487" cy="932688"/>
          </a:xfrm>
          <a:prstGeom prst="rect">
            <a:avLst/>
          </a:prstGeom>
          <a:noFill/>
          <a:ln>
            <a:noFill/>
          </a:ln>
        </p:spPr>
        <p:txBody>
          <a:bodyPr wrap="square" lIns="0" tIns="0" rIns="0" bIns="0" rtlCol="0" anchor="t">
            <a:noAutofit/>
          </a:bodyPr>
          <a:lstStyle/>
          <a:p>
            <a:pPr algn="l" marL="0" indent="0">
              <a:lnSpc>
                <a:spcPct val="115000"/>
              </a:lnSpc>
              <a:buNone/>
            </a:pPr>
            <a:r>
              <a:rPr lang="en-US" sz="1600" dirty="0">
                <a:solidFill>
                  <a:schemeClr val="bg1"/>
                </a:solidFill>
              </a:rPr>
              <a:t>Replay any line: purpose-built for revision the night before an exam</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glow"/>
          <p:cNvSpPr/>
          <p:nvPr/>
        </p:nvSpPr>
        <p:spPr>
          <a:xfrm>
            <a:off x="-914400" y="-1371600"/>
            <a:ext cx="4114800" cy="4114800"/>
          </a:xfrm>
          <a:prstGeom prst="rect">
            <a:avLst/>
          </a:prstGeom>
          <a:solidFill>
            <a:schemeClr val="accent1">
              <a:alpha val="12000"/>
            </a:schemeClr>
          </a:solidFill>
          <a:ln>
            <a:noFill/>
          </a:ln>
        </p:spPr>
      </p:sp>
      <p:sp>
        <p:nvSpPr>
          <p:cNvPr id="3" name="glow2"/>
          <p:cNvSpPr/>
          <p:nvPr/>
        </p:nvSpPr>
        <p:spPr>
          <a:xfrm>
            <a:off x="9601200" y="4754880"/>
            <a:ext cx="3657600" cy="3657600"/>
          </a:xfrm>
          <a:prstGeom prst="rect">
            <a:avLst/>
          </a:prstGeom>
          <a:solidFill>
            <a:schemeClr val="accent2">
              <a:alpha val="8000"/>
            </a:schemeClr>
          </a:solidFill>
          <a:ln>
            <a:noFill/>
          </a:ln>
        </p:spPr>
      </p:sp>
      <p:sp>
        <p:nvSpPr>
          <p:cNvPr id="4" name="kicker"/>
          <p:cNvSpPr txBox="1"/>
          <p:nvPr/>
        </p:nvSpPr>
        <p:spPr>
          <a:xfrm>
            <a:off x="640080" y="457200"/>
            <a:ext cx="9144000" cy="274320"/>
          </a:xfrm>
          <a:prstGeom prst="rect">
            <a:avLst/>
          </a:prstGeom>
          <a:noFill/>
          <a:ln>
            <a:noFill/>
          </a:ln>
        </p:spPr>
        <p:txBody>
          <a:bodyPr wrap="square" lIns="0" tIns="0" rIns="0" bIns="0" rtlCol="0" anchor="t">
            <a:noAutofit/>
          </a:bodyPr>
          <a:lstStyle/>
          <a:p>
            <a:pPr algn="l" marL="0" indent="0">
              <a:buNone/>
            </a:pPr>
            <a:r>
              <a:rPr lang="en-US" sz="1200" b="1" spc="400" dirty="0">
                <a:solidFill>
                  <a:schemeClr val="accent2"/>
                </a:solidFill>
              </a:rPr>
              <a:t>STORYBOARD  ·  3 / 3</a:t>
            </a:r>
            <a:endParaRPr lang="en-US" sz="1200" dirty="0"/>
          </a:p>
        </p:txBody>
      </p:sp>
      <p:sp>
        <p:nvSpPr>
          <p:cNvPr id="5" name="title"/>
          <p:cNvSpPr txBox="1"/>
          <p:nvPr/>
        </p:nvSpPr>
        <p:spPr>
          <a:xfrm>
            <a:off x="640080" y="777240"/>
            <a:ext cx="10911535" cy="1188720"/>
          </a:xfrm>
          <a:prstGeom prst="rect">
            <a:avLst/>
          </a:prstGeom>
          <a:noFill/>
          <a:ln>
            <a:noFill/>
          </a:ln>
        </p:spPr>
        <p:txBody>
          <a:bodyPr wrap="square" lIns="0" tIns="0" rIns="0" bIns="0" rtlCol="0" anchor="t">
            <a:noAutofit/>
          </a:bodyPr>
          <a:lstStyle/>
          <a:p>
            <a:pPr algn="l" marL="0" indent="0">
              <a:lnSpc>
                <a:spcPct val="95000"/>
              </a:lnSpc>
              <a:buNone/>
            </a:pPr>
            <a:r>
              <a:rPr lang="en-US" sz="3200" b="1" dirty="0">
                <a:solidFill>
                  <a:schemeClr val="bg1"/>
                </a:solidFill>
                <a:latin typeface="+mj-lt"/>
              </a:rPr>
              <a:t>Learn from </a:t>
            </a:r>
            <a:r>
              <a:rPr lang="en-US" sz="3200" b="1" dirty="0">
                <a:gradFill>
                  <a:gsLst>
                    <a:gs pos="0">
                      <a:srgbClr val="9D8CFF"/>
                    </a:gs>
                    <a:gs pos="50000">
                      <a:srgbClr val="FF6FB5"/>
                    </a:gs>
                    <a:gs pos="100000">
                      <a:srgbClr val="FFC94D"/>
                    </a:gs>
                  </a:gsLst>
                  <a:lin ang="0" scaled="0"/>
                </a:gradFill>
                <a:latin typeface="+mj-lt"/>
              </a:rPr>
              <a:t>YOUR OWN book.</a:t>
            </a:r>
            <a:endParaRPr lang="en-US" sz="3200" dirty="0"/>
          </a:p>
        </p:txBody>
      </p:sp>
      <p:sp>
        <p:nvSpPr>
          <p:cNvPr id="6" name="footer"/>
          <p:cNvSpPr txBox="1"/>
          <p:nvPr/>
        </p:nvSpPr>
        <p:spPr>
          <a:xfrm>
            <a:off x="640080" y="6400800"/>
            <a:ext cx="5486400" cy="228600"/>
          </a:xfrm>
          <a:prstGeom prst="rect">
            <a:avLst/>
          </a:prstGeom>
          <a:noFill/>
          <a:ln>
            <a:noFill/>
          </a:ln>
        </p:spPr>
        <p:txBody>
          <a:bodyPr wrap="square" lIns="0" tIns="0" rIns="0" bIns="0" rtlCol="0" anchor="t">
            <a:noAutofit/>
          </a:bodyPr>
          <a:lstStyle/>
          <a:p>
            <a:pPr algn="l" marL="0" indent="0">
              <a:buNone/>
            </a:pPr>
            <a:r>
              <a:rPr lang="en-US" sz="1000" spc="300" dirty="0">
                <a:solidFill>
                  <a:schemeClr val="accent6"/>
                </a:solidFill>
              </a:rPr>
              <a:t>NEURALEARN  ·  COMPUTED, NOT HALLUCINATED</a:t>
            </a:r>
            <a:endParaRPr lang="en-US" sz="1000" dirty="0"/>
          </a:p>
        </p:txBody>
      </p:sp>
      <p:sp>
        <p:nvSpPr>
          <p:cNvPr id="7" name="pageNum"/>
          <p:cNvSpPr txBox="1"/>
          <p:nvPr/>
        </p:nvSpPr>
        <p:spPr>
          <a:xfrm>
            <a:off x="10637215" y="6400800"/>
            <a:ext cx="914400" cy="228600"/>
          </a:xfrm>
          <a:prstGeom prst="rect">
            <a:avLst/>
          </a:prstGeom>
          <a:noFill/>
          <a:ln>
            <a:noFill/>
          </a:ln>
        </p:spPr>
        <p:txBody>
          <a:bodyPr wrap="square" lIns="0" tIns="0" rIns="0" bIns="0" rtlCol="0" anchor="t">
            <a:noAutofit/>
          </a:bodyPr>
          <a:lstStyle/>
          <a:p>
            <a:pPr algn="r" marL="0" indent="0">
              <a:buNone/>
            </a:pPr>
            <a:r>
              <a:rPr lang="en-US" sz="1000" b="1" spc="200" dirty="0">
                <a:solidFill>
                  <a:schemeClr val="accent6"/>
                </a:solidFill>
              </a:rPr>
              <a:t>08</a:t>
            </a:r>
            <a:endParaRPr lang="en-US" sz="1000" dirty="0"/>
          </a:p>
        </p:txBody>
      </p:sp>
      <p:sp>
        <p:nvSpPr>
          <p:cNvPr id="8" name="pipe"/>
          <p:cNvSpPr/>
          <p:nvPr/>
        </p:nvSpPr>
        <p:spPr>
          <a:xfrm>
            <a:off x="640080" y="2011680"/>
            <a:ext cx="5120640" cy="4114800"/>
          </a:xfrm>
          <a:prstGeom prst="roundRect">
            <a:avLst>
              <a:gd name="adj" fmla="val 3556"/>
            </a:avLst>
          </a:prstGeom>
          <a:solidFill>
            <a:schemeClr val="tx2"/>
          </a:solidFill>
          <a:ln w="12700">
            <a:solidFill>
              <a:schemeClr val="accent4"/>
            </a:solidFill>
          </a:ln>
        </p:spPr>
      </p:sp>
      <p:sp>
        <p:nvSpPr>
          <p:cNvPr id="9" name="pipeK"/>
          <p:cNvSpPr txBox="1"/>
          <p:nvPr/>
        </p:nvSpPr>
        <p:spPr>
          <a:xfrm>
            <a:off x="960120" y="2286000"/>
            <a:ext cx="4480560" cy="274320"/>
          </a:xfrm>
          <a:prstGeom prst="rect">
            <a:avLst/>
          </a:prstGeom>
          <a:noFill/>
          <a:ln>
            <a:noFill/>
          </a:ln>
        </p:spPr>
        <p:txBody>
          <a:bodyPr wrap="square" lIns="0" tIns="0" rIns="0" bIns="0" rtlCol="0" anchor="t">
            <a:noAutofit/>
          </a:bodyPr>
          <a:lstStyle/>
          <a:p>
            <a:pPr algn="l" marL="0" indent="0">
              <a:buNone/>
            </a:pPr>
            <a:r>
              <a:rPr lang="en-US" sz="1100" b="1" spc="300" dirty="0">
                <a:solidFill>
                  <a:schemeClr val="accent4"/>
                </a:solidFill>
              </a:rPr>
              <a:t>PDF PIPELINE</a:t>
            </a:r>
            <a:endParaRPr lang="en-US" sz="1100" dirty="0"/>
          </a:p>
        </p:txBody>
      </p:sp>
      <p:sp>
        <p:nvSpPr>
          <p:cNvPr id="10" name="file"/>
          <p:cNvSpPr/>
          <p:nvPr/>
        </p:nvSpPr>
        <p:spPr>
          <a:xfrm>
            <a:off x="960120" y="2651760"/>
            <a:ext cx="4480560" cy="502920"/>
          </a:xfrm>
          <a:prstGeom prst="roundRect">
            <a:avLst>
              <a:gd name="adj" fmla="val 18182"/>
            </a:avLst>
          </a:prstGeom>
          <a:solidFill>
            <a:schemeClr val="tx1"/>
          </a:solidFill>
          <a:ln>
            <a:noFill/>
          </a:ln>
        </p:spPr>
        <p:txBody>
          <a:bodyPr wrap="square" lIns="164592" tIns="164592" rIns="164592" bIns="164592" rtlCol="0" anchor="ctr">
            <a:noAutofit/>
          </a:bodyPr>
          <a:lstStyle/>
          <a:p>
            <a:pPr algn="l" marL="0" indent="0">
              <a:buNone/>
            </a:pPr>
            <a:r>
              <a:rPr lang="en-US" sz="1500" b="1" dirty="0">
                <a:solidFill>
                  <a:schemeClr val="bg1"/>
                </a:solidFill>
              </a:rPr>
              <a:t>Unit-4 Operating Systems.pdf</a:t>
            </a:r>
            <a:r>
              <a:rPr lang="en-US" sz="1300" dirty="0">
                <a:solidFill>
                  <a:schemeClr val="accent6"/>
                </a:solidFill>
              </a:rPr>
              <a:t>   32 pages · 9 sections</a:t>
            </a:r>
            <a:endParaRPr lang="en-US" sz="1500" dirty="0"/>
          </a:p>
        </p:txBody>
      </p:sp>
      <p:sp>
        <p:nvSpPr>
          <p:cNvPr id="11" name="qK"/>
          <p:cNvSpPr txBox="1"/>
          <p:nvPr/>
        </p:nvSpPr>
        <p:spPr>
          <a:xfrm>
            <a:off x="960120" y="3383280"/>
            <a:ext cx="4480560" cy="274320"/>
          </a:xfrm>
          <a:prstGeom prst="rect">
            <a:avLst/>
          </a:prstGeom>
          <a:noFill/>
          <a:ln>
            <a:noFill/>
          </a:ln>
        </p:spPr>
        <p:txBody>
          <a:bodyPr wrap="square" lIns="0" tIns="0" rIns="0" bIns="0" rtlCol="0" anchor="t">
            <a:noAutofit/>
          </a:bodyPr>
          <a:lstStyle/>
          <a:p>
            <a:pPr algn="l" marL="0" indent="0">
              <a:buNone/>
            </a:pPr>
            <a:r>
              <a:rPr lang="en-US" sz="1000" b="1" spc="200" dirty="0">
                <a:solidFill>
                  <a:schemeClr val="accent6"/>
                </a:solidFill>
              </a:rPr>
              <a:t>SECTION QUEUE</a:t>
            </a:r>
            <a:endParaRPr lang="en-US" sz="1000" dirty="0"/>
          </a:p>
        </p:txBody>
      </p:sp>
      <p:sp>
        <p:nvSpPr>
          <p:cNvPr id="12" name="qd0"/>
          <p:cNvSpPr/>
          <p:nvPr/>
        </p:nvSpPr>
        <p:spPr>
          <a:xfrm>
            <a:off x="1005840" y="3813048"/>
            <a:ext cx="164592" cy="164592"/>
          </a:xfrm>
          <a:prstGeom prst="ellipse">
            <a:avLst/>
          </a:prstGeom>
          <a:solidFill>
            <a:schemeClr val="accent5"/>
          </a:solidFill>
          <a:ln>
            <a:noFill/>
          </a:ln>
        </p:spPr>
      </p:sp>
      <p:sp>
        <p:nvSpPr>
          <p:cNvPr id="13" name="qn0"/>
          <p:cNvSpPr txBox="1"/>
          <p:nvPr/>
        </p:nvSpPr>
        <p:spPr>
          <a:xfrm>
            <a:off x="1325880" y="3703320"/>
            <a:ext cx="2286000" cy="384048"/>
          </a:xfrm>
          <a:prstGeom prst="rect">
            <a:avLst/>
          </a:prstGeom>
          <a:noFill/>
          <a:ln>
            <a:noFill/>
          </a:ln>
        </p:spPr>
        <p:txBody>
          <a:bodyPr wrap="square" lIns="0" tIns="0" rIns="0" bIns="0" rtlCol="0" anchor="ctr">
            <a:noAutofit/>
          </a:bodyPr>
          <a:lstStyle/>
          <a:p>
            <a:pPr algn="l" marL="0" indent="0">
              <a:buNone/>
            </a:pPr>
            <a:r>
              <a:rPr lang="en-US" sz="1500" b="1" dirty="0">
                <a:solidFill>
                  <a:schemeClr val="bg1"/>
                </a:solidFill>
              </a:rPr>
              <a:t>Summary</a:t>
            </a:r>
            <a:endParaRPr lang="en-US" sz="1500" dirty="0"/>
          </a:p>
        </p:txBody>
      </p:sp>
      <p:sp>
        <p:nvSpPr>
          <p:cNvPr id="14" name="qs0"/>
          <p:cNvSpPr txBox="1"/>
          <p:nvPr/>
        </p:nvSpPr>
        <p:spPr>
          <a:xfrm>
            <a:off x="3383280" y="3703320"/>
            <a:ext cx="2057400" cy="384048"/>
          </a:xfrm>
          <a:prstGeom prst="rect">
            <a:avLst/>
          </a:prstGeom>
          <a:noFill/>
          <a:ln>
            <a:noFill/>
          </a:ln>
        </p:spPr>
        <p:txBody>
          <a:bodyPr wrap="square" lIns="0" tIns="0" rIns="0" bIns="0" rtlCol="0" anchor="ctr">
            <a:noAutofit/>
          </a:bodyPr>
          <a:lstStyle/>
          <a:p>
            <a:pPr algn="r" marL="0" indent="0">
              <a:buNone/>
            </a:pPr>
            <a:r>
              <a:rPr lang="en-US" sz="1300" dirty="0">
                <a:solidFill>
                  <a:schemeClr val="accent5"/>
                </a:solidFill>
              </a:rPr>
              <a:t>done</a:t>
            </a:r>
            <a:endParaRPr lang="en-US" sz="1300" dirty="0"/>
          </a:p>
        </p:txBody>
      </p:sp>
      <p:sp>
        <p:nvSpPr>
          <p:cNvPr id="15" name="qd1"/>
          <p:cNvSpPr/>
          <p:nvPr/>
        </p:nvSpPr>
        <p:spPr>
          <a:xfrm>
            <a:off x="1005840" y="4270248"/>
            <a:ext cx="164592" cy="164592"/>
          </a:xfrm>
          <a:prstGeom prst="ellipse">
            <a:avLst/>
          </a:prstGeom>
          <a:solidFill>
            <a:schemeClr val="accent5"/>
          </a:solidFill>
          <a:ln>
            <a:noFill/>
          </a:ln>
        </p:spPr>
      </p:sp>
      <p:sp>
        <p:nvSpPr>
          <p:cNvPr id="16" name="qn1"/>
          <p:cNvSpPr txBox="1"/>
          <p:nvPr/>
        </p:nvSpPr>
        <p:spPr>
          <a:xfrm>
            <a:off x="1325880" y="4160520"/>
            <a:ext cx="2286000" cy="384048"/>
          </a:xfrm>
          <a:prstGeom prst="rect">
            <a:avLst/>
          </a:prstGeom>
          <a:noFill/>
          <a:ln>
            <a:noFill/>
          </a:ln>
        </p:spPr>
        <p:txBody>
          <a:bodyPr wrap="square" lIns="0" tIns="0" rIns="0" bIns="0" rtlCol="0" anchor="ctr">
            <a:noAutofit/>
          </a:bodyPr>
          <a:lstStyle/>
          <a:p>
            <a:pPr algn="l" marL="0" indent="0">
              <a:buNone/>
            </a:pPr>
            <a:r>
              <a:rPr lang="en-US" sz="1500" b="1" dirty="0">
                <a:solidFill>
                  <a:schemeClr val="bg1"/>
                </a:solidFill>
              </a:rPr>
              <a:t>Section 1</a:t>
            </a:r>
            <a:endParaRPr lang="en-US" sz="1500" dirty="0"/>
          </a:p>
        </p:txBody>
      </p:sp>
      <p:sp>
        <p:nvSpPr>
          <p:cNvPr id="17" name="qs1"/>
          <p:cNvSpPr txBox="1"/>
          <p:nvPr/>
        </p:nvSpPr>
        <p:spPr>
          <a:xfrm>
            <a:off x="3383280" y="4160520"/>
            <a:ext cx="2057400" cy="384048"/>
          </a:xfrm>
          <a:prstGeom prst="rect">
            <a:avLst/>
          </a:prstGeom>
          <a:noFill/>
          <a:ln>
            <a:noFill/>
          </a:ln>
        </p:spPr>
        <p:txBody>
          <a:bodyPr wrap="square" lIns="0" tIns="0" rIns="0" bIns="0" rtlCol="0" anchor="ctr">
            <a:noAutofit/>
          </a:bodyPr>
          <a:lstStyle/>
          <a:p>
            <a:pPr algn="r" marL="0" indent="0">
              <a:buNone/>
            </a:pPr>
            <a:r>
              <a:rPr lang="en-US" sz="1300" dirty="0">
                <a:solidFill>
                  <a:schemeClr val="accent5"/>
                </a:solidFill>
              </a:rPr>
              <a:t>done</a:t>
            </a:r>
            <a:endParaRPr lang="en-US" sz="1300" dirty="0"/>
          </a:p>
        </p:txBody>
      </p:sp>
      <p:sp>
        <p:nvSpPr>
          <p:cNvPr id="18" name="qd2"/>
          <p:cNvSpPr/>
          <p:nvPr/>
        </p:nvSpPr>
        <p:spPr>
          <a:xfrm>
            <a:off x="1005840" y="4727448"/>
            <a:ext cx="164592" cy="164592"/>
          </a:xfrm>
          <a:prstGeom prst="ellipse">
            <a:avLst/>
          </a:prstGeom>
          <a:solidFill>
            <a:schemeClr val="accent2"/>
          </a:solidFill>
          <a:ln>
            <a:noFill/>
          </a:ln>
        </p:spPr>
      </p:sp>
      <p:sp>
        <p:nvSpPr>
          <p:cNvPr id="19" name="qn2"/>
          <p:cNvSpPr txBox="1"/>
          <p:nvPr/>
        </p:nvSpPr>
        <p:spPr>
          <a:xfrm>
            <a:off x="1325880" y="4617720"/>
            <a:ext cx="2286000" cy="384048"/>
          </a:xfrm>
          <a:prstGeom prst="rect">
            <a:avLst/>
          </a:prstGeom>
          <a:noFill/>
          <a:ln>
            <a:noFill/>
          </a:ln>
        </p:spPr>
        <p:txBody>
          <a:bodyPr wrap="square" lIns="0" tIns="0" rIns="0" bIns="0" rtlCol="0" anchor="ctr">
            <a:noAutofit/>
          </a:bodyPr>
          <a:lstStyle/>
          <a:p>
            <a:pPr algn="l" marL="0" indent="0">
              <a:buNone/>
            </a:pPr>
            <a:r>
              <a:rPr lang="en-US" sz="1500" b="1" dirty="0">
                <a:solidFill>
                  <a:schemeClr val="bg1"/>
                </a:solidFill>
              </a:rPr>
              <a:t>Section 2</a:t>
            </a:r>
            <a:endParaRPr lang="en-US" sz="1500" dirty="0"/>
          </a:p>
        </p:txBody>
      </p:sp>
      <p:sp>
        <p:nvSpPr>
          <p:cNvPr id="20" name="qs2"/>
          <p:cNvSpPr txBox="1"/>
          <p:nvPr/>
        </p:nvSpPr>
        <p:spPr>
          <a:xfrm>
            <a:off x="3383280" y="4617720"/>
            <a:ext cx="2057400" cy="384048"/>
          </a:xfrm>
          <a:prstGeom prst="rect">
            <a:avLst/>
          </a:prstGeom>
          <a:noFill/>
          <a:ln>
            <a:noFill/>
          </a:ln>
        </p:spPr>
        <p:txBody>
          <a:bodyPr wrap="square" lIns="0" tIns="0" rIns="0" bIns="0" rtlCol="0" anchor="ctr">
            <a:noAutofit/>
          </a:bodyPr>
          <a:lstStyle/>
          <a:p>
            <a:pPr algn="r" marL="0" indent="0">
              <a:buNone/>
            </a:pPr>
            <a:r>
              <a:rPr lang="en-US" sz="1300" dirty="0">
                <a:solidFill>
                  <a:schemeClr val="accent2"/>
                </a:solidFill>
              </a:rPr>
              <a:t>drawing now</a:t>
            </a:r>
            <a:endParaRPr lang="en-US" sz="1300" dirty="0"/>
          </a:p>
        </p:txBody>
      </p:sp>
      <p:sp>
        <p:nvSpPr>
          <p:cNvPr id="21" name="qd3"/>
          <p:cNvSpPr/>
          <p:nvPr/>
        </p:nvSpPr>
        <p:spPr>
          <a:xfrm>
            <a:off x="1005840" y="5184648"/>
            <a:ext cx="164592" cy="164592"/>
          </a:xfrm>
          <a:prstGeom prst="ellipse">
            <a:avLst/>
          </a:prstGeom>
          <a:solidFill>
            <a:schemeClr val="accent6">
              <a:alpha val="45000"/>
            </a:schemeClr>
          </a:solidFill>
          <a:ln>
            <a:noFill/>
          </a:ln>
        </p:spPr>
      </p:sp>
      <p:sp>
        <p:nvSpPr>
          <p:cNvPr id="22" name="qn3"/>
          <p:cNvSpPr txBox="1"/>
          <p:nvPr/>
        </p:nvSpPr>
        <p:spPr>
          <a:xfrm>
            <a:off x="1325880" y="5074920"/>
            <a:ext cx="2286000" cy="384048"/>
          </a:xfrm>
          <a:prstGeom prst="rect">
            <a:avLst/>
          </a:prstGeom>
          <a:noFill/>
          <a:ln>
            <a:noFill/>
          </a:ln>
        </p:spPr>
        <p:txBody>
          <a:bodyPr wrap="square" lIns="0" tIns="0" rIns="0" bIns="0" rtlCol="0" anchor="ctr">
            <a:noAutofit/>
          </a:bodyPr>
          <a:lstStyle/>
          <a:p>
            <a:pPr algn="l" marL="0" indent="0">
              <a:buNone/>
            </a:pPr>
            <a:r>
              <a:rPr lang="en-US" sz="1500" dirty="0">
                <a:solidFill>
                  <a:schemeClr val="accent6"/>
                </a:solidFill>
              </a:rPr>
              <a:t>Section 3</a:t>
            </a:r>
            <a:endParaRPr lang="en-US" sz="1500" dirty="0"/>
          </a:p>
        </p:txBody>
      </p:sp>
      <p:sp>
        <p:nvSpPr>
          <p:cNvPr id="23" name="qs3"/>
          <p:cNvSpPr txBox="1"/>
          <p:nvPr/>
        </p:nvSpPr>
        <p:spPr>
          <a:xfrm>
            <a:off x="3383280" y="5074920"/>
            <a:ext cx="2057400" cy="384048"/>
          </a:xfrm>
          <a:prstGeom prst="rect">
            <a:avLst/>
          </a:prstGeom>
          <a:noFill/>
          <a:ln>
            <a:noFill/>
          </a:ln>
        </p:spPr>
        <p:txBody>
          <a:bodyPr wrap="square" lIns="0" tIns="0" rIns="0" bIns="0" rtlCol="0" anchor="ctr">
            <a:noAutofit/>
          </a:bodyPr>
          <a:lstStyle/>
          <a:p>
            <a:pPr algn="r" marL="0" indent="0">
              <a:buNone/>
            </a:pPr>
            <a:r>
              <a:rPr lang="en-US" sz="1300" dirty="0">
                <a:solidFill>
                  <a:schemeClr val="accent6"/>
                </a:solidFill>
              </a:rPr>
              <a:t>queued</a:t>
            </a:r>
            <a:endParaRPr lang="en-US" sz="1300" dirty="0"/>
          </a:p>
        </p:txBody>
      </p:sp>
      <p:sp>
        <p:nvSpPr>
          <p:cNvPr id="24" name="qd4"/>
          <p:cNvSpPr/>
          <p:nvPr/>
        </p:nvSpPr>
        <p:spPr>
          <a:xfrm>
            <a:off x="1005840" y="5641848"/>
            <a:ext cx="164592" cy="164592"/>
          </a:xfrm>
          <a:prstGeom prst="ellipse">
            <a:avLst/>
          </a:prstGeom>
          <a:solidFill>
            <a:schemeClr val="accent6">
              <a:alpha val="45000"/>
            </a:schemeClr>
          </a:solidFill>
          <a:ln>
            <a:noFill/>
          </a:ln>
        </p:spPr>
      </p:sp>
      <p:sp>
        <p:nvSpPr>
          <p:cNvPr id="25" name="qn4"/>
          <p:cNvSpPr txBox="1"/>
          <p:nvPr/>
        </p:nvSpPr>
        <p:spPr>
          <a:xfrm>
            <a:off x="1325880" y="5532120"/>
            <a:ext cx="2286000" cy="384048"/>
          </a:xfrm>
          <a:prstGeom prst="rect">
            <a:avLst/>
          </a:prstGeom>
          <a:noFill/>
          <a:ln>
            <a:noFill/>
          </a:ln>
        </p:spPr>
        <p:txBody>
          <a:bodyPr wrap="square" lIns="0" tIns="0" rIns="0" bIns="0" rtlCol="0" anchor="ctr">
            <a:noAutofit/>
          </a:bodyPr>
          <a:lstStyle/>
          <a:p>
            <a:pPr algn="l" marL="0" indent="0">
              <a:buNone/>
            </a:pPr>
            <a:r>
              <a:rPr lang="en-US" sz="1500" dirty="0">
                <a:solidFill>
                  <a:schemeClr val="accent6"/>
                </a:solidFill>
              </a:rPr>
              <a:t>Section 4</a:t>
            </a:r>
            <a:endParaRPr lang="en-US" sz="1500" dirty="0"/>
          </a:p>
        </p:txBody>
      </p:sp>
      <p:sp>
        <p:nvSpPr>
          <p:cNvPr id="26" name="qs4"/>
          <p:cNvSpPr txBox="1"/>
          <p:nvPr/>
        </p:nvSpPr>
        <p:spPr>
          <a:xfrm>
            <a:off x="3383280" y="5532120"/>
            <a:ext cx="2057400" cy="384048"/>
          </a:xfrm>
          <a:prstGeom prst="rect">
            <a:avLst/>
          </a:prstGeom>
          <a:noFill/>
          <a:ln>
            <a:noFill/>
          </a:ln>
        </p:spPr>
        <p:txBody>
          <a:bodyPr wrap="square" lIns="0" tIns="0" rIns="0" bIns="0" rtlCol="0" anchor="ctr">
            <a:noAutofit/>
          </a:bodyPr>
          <a:lstStyle/>
          <a:p>
            <a:pPr algn="r" marL="0" indent="0">
              <a:buNone/>
            </a:pPr>
            <a:r>
              <a:rPr lang="en-US" sz="1300" dirty="0">
                <a:solidFill>
                  <a:schemeClr val="accent6"/>
                </a:solidFill>
              </a:rPr>
              <a:t>queued</a:t>
            </a:r>
            <a:endParaRPr lang="en-US" sz="1300" dirty="0"/>
          </a:p>
        </p:txBody>
      </p:sp>
      <p:sp>
        <p:nvSpPr>
          <p:cNvPr id="27" name="m0"/>
          <p:cNvSpPr/>
          <p:nvPr/>
        </p:nvSpPr>
        <p:spPr>
          <a:xfrm>
            <a:off x="6172200" y="2130552"/>
            <a:ext cx="109728" cy="457200"/>
          </a:xfrm>
          <a:prstGeom prst="rect">
            <a:avLst/>
          </a:prstGeom>
          <a:solidFill>
            <a:schemeClr val="accent4"/>
          </a:solidFill>
          <a:ln>
            <a:noFill/>
          </a:ln>
        </p:spPr>
      </p:sp>
      <p:sp>
        <p:nvSpPr>
          <p:cNvPr id="28" name="mt0"/>
          <p:cNvSpPr txBox="1"/>
          <p:nvPr/>
        </p:nvSpPr>
        <p:spPr>
          <a:xfrm>
            <a:off x="6464808" y="2057400"/>
            <a:ext cx="5086807" cy="932688"/>
          </a:xfrm>
          <a:prstGeom prst="rect">
            <a:avLst/>
          </a:prstGeom>
          <a:noFill/>
          <a:ln>
            <a:noFill/>
          </a:ln>
        </p:spPr>
        <p:txBody>
          <a:bodyPr wrap="square" lIns="0" tIns="0" rIns="0" bIns="0" rtlCol="0" anchor="t">
            <a:noAutofit/>
          </a:bodyPr>
          <a:lstStyle/>
          <a:p>
            <a:pPr algn="l" marL="0" indent="0">
              <a:lnSpc>
                <a:spcPct val="115000"/>
              </a:lnSpc>
              <a:buNone/>
            </a:pPr>
            <a:r>
              <a:rPr lang="en-US" sz="1600" dirty="0">
                <a:solidFill>
                  <a:schemeClr val="bg1"/>
                </a:solidFill>
              </a:rPr>
              <a:t>Attach your college or school PDF: syllabus, notes, chapters</a:t>
            </a:r>
            <a:endParaRPr lang="en-US" sz="1600" dirty="0"/>
          </a:p>
        </p:txBody>
      </p:sp>
      <p:sp>
        <p:nvSpPr>
          <p:cNvPr id="29" name="m1"/>
          <p:cNvSpPr/>
          <p:nvPr/>
        </p:nvSpPr>
        <p:spPr>
          <a:xfrm>
            <a:off x="6172200" y="3154680"/>
            <a:ext cx="109728" cy="457200"/>
          </a:xfrm>
          <a:prstGeom prst="rect">
            <a:avLst/>
          </a:prstGeom>
          <a:solidFill>
            <a:schemeClr val="accent2"/>
          </a:solidFill>
          <a:ln>
            <a:noFill/>
          </a:ln>
        </p:spPr>
      </p:sp>
      <p:sp>
        <p:nvSpPr>
          <p:cNvPr id="30" name="mt1"/>
          <p:cNvSpPr txBox="1"/>
          <p:nvPr/>
        </p:nvSpPr>
        <p:spPr>
          <a:xfrm>
            <a:off x="6464808" y="3081528"/>
            <a:ext cx="5086807" cy="932688"/>
          </a:xfrm>
          <a:prstGeom prst="rect">
            <a:avLst/>
          </a:prstGeom>
          <a:noFill/>
          <a:ln>
            <a:noFill/>
          </a:ln>
        </p:spPr>
        <p:txBody>
          <a:bodyPr wrap="square" lIns="0" tIns="0" rIns="0" bIns="0" rtlCol="0" anchor="t">
            <a:noAutofit/>
          </a:bodyPr>
          <a:lstStyle/>
          <a:p>
            <a:pPr algn="l" marL="0" indent="0">
              <a:lnSpc>
                <a:spcPct val="115000"/>
              </a:lnSpc>
              <a:buNone/>
            </a:pPr>
            <a:r>
              <a:rPr lang="en-US" sz="1600" dirty="0">
                <a:solidFill>
                  <a:schemeClr val="bg1"/>
                </a:solidFill>
              </a:rPr>
              <a:t>NeuraLearn reads all of it and writes a full-document summary, shown first, always</a:t>
            </a:r>
            <a:endParaRPr lang="en-US" sz="1600" dirty="0"/>
          </a:p>
        </p:txBody>
      </p:sp>
      <p:sp>
        <p:nvSpPr>
          <p:cNvPr id="31" name="m2"/>
          <p:cNvSpPr/>
          <p:nvPr/>
        </p:nvSpPr>
        <p:spPr>
          <a:xfrm>
            <a:off x="6172200" y="4178808"/>
            <a:ext cx="109728" cy="457200"/>
          </a:xfrm>
          <a:prstGeom prst="rect">
            <a:avLst/>
          </a:prstGeom>
          <a:solidFill>
            <a:schemeClr val="accent1"/>
          </a:solidFill>
          <a:ln>
            <a:noFill/>
          </a:ln>
        </p:spPr>
      </p:sp>
      <p:sp>
        <p:nvSpPr>
          <p:cNvPr id="32" name="mt2"/>
          <p:cNvSpPr txBox="1"/>
          <p:nvPr/>
        </p:nvSpPr>
        <p:spPr>
          <a:xfrm>
            <a:off x="6464808" y="4105656"/>
            <a:ext cx="5086807" cy="932688"/>
          </a:xfrm>
          <a:prstGeom prst="rect">
            <a:avLst/>
          </a:prstGeom>
          <a:noFill/>
          <a:ln>
            <a:noFill/>
          </a:ln>
        </p:spPr>
        <p:txBody>
          <a:bodyPr wrap="square" lIns="0" tIns="0" rIns="0" bIns="0" rtlCol="0" anchor="t">
            <a:noAutofit/>
          </a:bodyPr>
          <a:lstStyle/>
          <a:p>
            <a:pPr algn="l" marL="0" indent="0">
              <a:lnSpc>
                <a:spcPct val="115000"/>
              </a:lnSpc>
              <a:buNone/>
            </a:pPr>
            <a:r>
              <a:rPr lang="en-US" sz="1600" dirty="0">
                <a:solidFill>
                  <a:schemeClr val="bg1"/>
                </a:solidFill>
              </a:rPr>
              <a:t>Then it teaches section by section with live visuals, nonstop</a:t>
            </a:r>
            <a:endParaRPr lang="en-US" sz="1600" dirty="0"/>
          </a:p>
        </p:txBody>
      </p:sp>
      <p:sp>
        <p:nvSpPr>
          <p:cNvPr id="33" name="m3"/>
          <p:cNvSpPr/>
          <p:nvPr/>
        </p:nvSpPr>
        <p:spPr>
          <a:xfrm>
            <a:off x="6172200" y="5202936"/>
            <a:ext cx="109728" cy="457200"/>
          </a:xfrm>
          <a:prstGeom prst="rect">
            <a:avLst/>
          </a:prstGeom>
          <a:solidFill>
            <a:schemeClr val="accent5"/>
          </a:solidFill>
          <a:ln>
            <a:noFill/>
          </a:ln>
        </p:spPr>
      </p:sp>
      <p:sp>
        <p:nvSpPr>
          <p:cNvPr id="34" name="mt3"/>
          <p:cNvSpPr txBox="1"/>
          <p:nvPr/>
        </p:nvSpPr>
        <p:spPr>
          <a:xfrm>
            <a:off x="6464808" y="5129784"/>
            <a:ext cx="5086807" cy="932688"/>
          </a:xfrm>
          <a:prstGeom prst="rect">
            <a:avLst/>
          </a:prstGeom>
          <a:noFill/>
          <a:ln>
            <a:noFill/>
          </a:ln>
        </p:spPr>
        <p:txBody>
          <a:bodyPr wrap="square" lIns="0" tIns="0" rIns="0" bIns="0" rtlCol="0" anchor="t">
            <a:noAutofit/>
          </a:bodyPr>
          <a:lstStyle/>
          <a:p>
            <a:pPr algn="l" marL="0" indent="0">
              <a:lnSpc>
                <a:spcPct val="115000"/>
              </a:lnSpc>
              <a:buNone/>
            </a:pPr>
            <a:r>
              <a:rPr lang="en-US" sz="1600" dirty="0">
                <a:solidFill>
                  <a:schemeClr val="bg1"/>
                </a:solidFill>
              </a:rPr>
              <a:t>Your book, your terms, your exam. If the summary fails, the raw text shows and lessons still run</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glow"/>
          <p:cNvSpPr/>
          <p:nvPr/>
        </p:nvSpPr>
        <p:spPr>
          <a:xfrm>
            <a:off x="-914400" y="-1371600"/>
            <a:ext cx="4114800" cy="4114800"/>
          </a:xfrm>
          <a:prstGeom prst="rect">
            <a:avLst/>
          </a:prstGeom>
          <a:solidFill>
            <a:schemeClr val="accent1">
              <a:alpha val="12000"/>
            </a:schemeClr>
          </a:solidFill>
          <a:ln>
            <a:noFill/>
          </a:ln>
        </p:spPr>
      </p:sp>
      <p:sp>
        <p:nvSpPr>
          <p:cNvPr id="3" name="glow2"/>
          <p:cNvSpPr/>
          <p:nvPr/>
        </p:nvSpPr>
        <p:spPr>
          <a:xfrm>
            <a:off x="9601200" y="4754880"/>
            <a:ext cx="3657600" cy="3657600"/>
          </a:xfrm>
          <a:prstGeom prst="rect">
            <a:avLst/>
          </a:prstGeom>
          <a:solidFill>
            <a:schemeClr val="accent2">
              <a:alpha val="8000"/>
            </a:schemeClr>
          </a:solidFill>
          <a:ln>
            <a:noFill/>
          </a:ln>
        </p:spPr>
      </p:sp>
      <p:sp>
        <p:nvSpPr>
          <p:cNvPr id="4" name="kicker"/>
          <p:cNvSpPr txBox="1"/>
          <p:nvPr/>
        </p:nvSpPr>
        <p:spPr>
          <a:xfrm>
            <a:off x="640080" y="457200"/>
            <a:ext cx="9144000" cy="274320"/>
          </a:xfrm>
          <a:prstGeom prst="rect">
            <a:avLst/>
          </a:prstGeom>
          <a:noFill/>
          <a:ln>
            <a:noFill/>
          </a:ln>
        </p:spPr>
        <p:txBody>
          <a:bodyPr wrap="square" lIns="0" tIns="0" rIns="0" bIns="0" rtlCol="0" anchor="t">
            <a:noAutofit/>
          </a:bodyPr>
          <a:lstStyle/>
          <a:p>
            <a:pPr algn="l" marL="0" indent="0">
              <a:buNone/>
            </a:pPr>
            <a:r>
              <a:rPr lang="en-US" sz="1200" b="1" spc="400" dirty="0">
                <a:solidFill>
                  <a:schemeClr val="accent2"/>
                </a:solidFill>
              </a:rPr>
              <a:t>WHY STUDENTS NEED IT</a:t>
            </a:r>
            <a:endParaRPr lang="en-US" sz="1200" dirty="0"/>
          </a:p>
        </p:txBody>
      </p:sp>
      <p:sp>
        <p:nvSpPr>
          <p:cNvPr id="5" name="title"/>
          <p:cNvSpPr txBox="1"/>
          <p:nvPr/>
        </p:nvSpPr>
        <p:spPr>
          <a:xfrm>
            <a:off x="640080" y="777240"/>
            <a:ext cx="10911535" cy="1188720"/>
          </a:xfrm>
          <a:prstGeom prst="rect">
            <a:avLst/>
          </a:prstGeom>
          <a:noFill/>
          <a:ln>
            <a:noFill/>
          </a:ln>
        </p:spPr>
        <p:txBody>
          <a:bodyPr wrap="square" lIns="0" tIns="0" rIns="0" bIns="0" rtlCol="0" anchor="t">
            <a:noAutofit/>
          </a:bodyPr>
          <a:lstStyle/>
          <a:p>
            <a:pPr algn="l" marL="0" indent="0">
              <a:lnSpc>
                <a:spcPct val="95000"/>
              </a:lnSpc>
              <a:buNone/>
            </a:pPr>
            <a:r>
              <a:rPr lang="en-US" sz="3200" b="1" dirty="0">
                <a:solidFill>
                  <a:schemeClr val="bg1"/>
                </a:solidFill>
                <a:latin typeface="+mj-lt"/>
              </a:rPr>
              <a:t>What actually changes </a:t>
            </a:r>
            <a:r>
              <a:rPr lang="en-US" sz="3200" b="1" dirty="0">
                <a:gradFill>
                  <a:gsLst>
                    <a:gs pos="0">
                      <a:srgbClr val="9D8CFF"/>
                    </a:gs>
                    <a:gs pos="50000">
                      <a:srgbClr val="FF6FB5"/>
                    </a:gs>
                    <a:gs pos="100000">
                      <a:srgbClr val="FFC94D"/>
                    </a:gs>
                  </a:gsLst>
                  <a:lin ang="0" scaled="0"/>
                </a:gradFill>
                <a:latin typeface="+mj-lt"/>
              </a:rPr>
              <a:t>for a student</a:t>
            </a:r>
            <a:endParaRPr lang="en-US" sz="3200" dirty="0"/>
          </a:p>
        </p:txBody>
      </p:sp>
      <p:sp>
        <p:nvSpPr>
          <p:cNvPr id="6" name="footer"/>
          <p:cNvSpPr txBox="1"/>
          <p:nvPr/>
        </p:nvSpPr>
        <p:spPr>
          <a:xfrm>
            <a:off x="640080" y="6400800"/>
            <a:ext cx="5486400" cy="228600"/>
          </a:xfrm>
          <a:prstGeom prst="rect">
            <a:avLst/>
          </a:prstGeom>
          <a:noFill/>
          <a:ln>
            <a:noFill/>
          </a:ln>
        </p:spPr>
        <p:txBody>
          <a:bodyPr wrap="square" lIns="0" tIns="0" rIns="0" bIns="0" rtlCol="0" anchor="t">
            <a:noAutofit/>
          </a:bodyPr>
          <a:lstStyle/>
          <a:p>
            <a:pPr algn="l" marL="0" indent="0">
              <a:buNone/>
            </a:pPr>
            <a:r>
              <a:rPr lang="en-US" sz="1000" spc="300" dirty="0">
                <a:solidFill>
                  <a:schemeClr val="accent6"/>
                </a:solidFill>
              </a:rPr>
              <a:t>NEURALEARN  ·  COMPUTED, NOT HALLUCINATED</a:t>
            </a:r>
            <a:endParaRPr lang="en-US" sz="1000" dirty="0"/>
          </a:p>
        </p:txBody>
      </p:sp>
      <p:sp>
        <p:nvSpPr>
          <p:cNvPr id="7" name="pageNum"/>
          <p:cNvSpPr txBox="1"/>
          <p:nvPr/>
        </p:nvSpPr>
        <p:spPr>
          <a:xfrm>
            <a:off x="10637215" y="6400800"/>
            <a:ext cx="914400" cy="228600"/>
          </a:xfrm>
          <a:prstGeom prst="rect">
            <a:avLst/>
          </a:prstGeom>
          <a:noFill/>
          <a:ln>
            <a:noFill/>
          </a:ln>
        </p:spPr>
        <p:txBody>
          <a:bodyPr wrap="square" lIns="0" tIns="0" rIns="0" bIns="0" rtlCol="0" anchor="t">
            <a:noAutofit/>
          </a:bodyPr>
          <a:lstStyle/>
          <a:p>
            <a:pPr algn="r" marL="0" indent="0">
              <a:buNone/>
            </a:pPr>
            <a:r>
              <a:rPr lang="en-US" sz="1000" b="1" spc="200" dirty="0">
                <a:solidFill>
                  <a:schemeClr val="accent6"/>
                </a:solidFill>
              </a:rPr>
              <a:t>09</a:t>
            </a:r>
            <a:endParaRPr lang="en-US" sz="1000" dirty="0"/>
          </a:p>
        </p:txBody>
      </p:sp>
      <p:sp>
        <p:nvSpPr>
          <p:cNvPr id="8" name="why0"/>
          <p:cNvSpPr/>
          <p:nvPr/>
        </p:nvSpPr>
        <p:spPr>
          <a:xfrm>
            <a:off x="640080" y="2057400"/>
            <a:ext cx="5349240" cy="1874520"/>
          </a:xfrm>
          <a:prstGeom prst="roundRect">
            <a:avLst>
              <a:gd name="adj" fmla="val 7805"/>
            </a:avLst>
          </a:prstGeom>
          <a:solidFill>
            <a:schemeClr val="tx2"/>
          </a:solidFill>
          <a:ln w="12700">
            <a:solidFill>
              <a:schemeClr val="accent2"/>
            </a:solidFill>
          </a:ln>
        </p:spPr>
      </p:sp>
      <p:sp>
        <p:nvSpPr>
          <p:cNvPr id="9" name="why0Mark"/>
          <p:cNvSpPr/>
          <p:nvPr/>
        </p:nvSpPr>
        <p:spPr>
          <a:xfrm>
            <a:off x="896112" y="2331720"/>
            <a:ext cx="109728" cy="384048"/>
          </a:xfrm>
          <a:prstGeom prst="rect">
            <a:avLst/>
          </a:prstGeom>
          <a:solidFill>
            <a:schemeClr val="accent2"/>
          </a:solidFill>
          <a:ln>
            <a:noFill/>
          </a:ln>
        </p:spPr>
      </p:sp>
      <p:sp>
        <p:nvSpPr>
          <p:cNvPr id="10" name="why0Title"/>
          <p:cNvSpPr txBox="1"/>
          <p:nvPr/>
        </p:nvSpPr>
        <p:spPr>
          <a:xfrm>
            <a:off x="1170432" y="2295144"/>
            <a:ext cx="4562856" cy="457200"/>
          </a:xfrm>
          <a:prstGeom prst="rect">
            <a:avLst/>
          </a:prstGeom>
          <a:noFill/>
          <a:ln>
            <a:noFill/>
          </a:ln>
        </p:spPr>
        <p:txBody>
          <a:bodyPr wrap="square" lIns="0" tIns="0" rIns="0" bIns="0" rtlCol="0" anchor="ctr">
            <a:noAutofit/>
          </a:bodyPr>
          <a:lstStyle/>
          <a:p>
            <a:pPr algn="l" marL="0" indent="0">
              <a:lnSpc>
                <a:spcPct val="95000"/>
              </a:lnSpc>
              <a:buNone/>
            </a:pPr>
            <a:r>
              <a:rPr lang="en-US" sz="2000" b="1" dirty="0">
                <a:solidFill>
                  <a:schemeClr val="bg1"/>
                </a:solidFill>
                <a:latin typeface="+mj-lt"/>
              </a:rPr>
              <a:t>Understand, don't memorize</a:t>
            </a:r>
            <a:endParaRPr lang="en-US" sz="2000" dirty="0"/>
          </a:p>
        </p:txBody>
      </p:sp>
      <p:sp>
        <p:nvSpPr>
          <p:cNvPr id="11" name="why0Desc"/>
          <p:cNvSpPr txBox="1"/>
          <p:nvPr/>
        </p:nvSpPr>
        <p:spPr>
          <a:xfrm>
            <a:off x="1170432" y="2880360"/>
            <a:ext cx="4562856" cy="914400"/>
          </a:xfrm>
          <a:prstGeom prst="rect">
            <a:avLst/>
          </a:prstGeom>
          <a:noFill/>
          <a:ln>
            <a:noFill/>
          </a:ln>
        </p:spPr>
        <p:txBody>
          <a:bodyPr wrap="square" lIns="0" tIns="0" rIns="0" bIns="0" rtlCol="0" anchor="t">
            <a:noAutofit/>
          </a:bodyPr>
          <a:lstStyle/>
          <a:p>
            <a:pPr algn="l" marL="0" indent="0">
              <a:lnSpc>
                <a:spcPct val="115000"/>
              </a:lnSpc>
              <a:buNone/>
            </a:pPr>
            <a:r>
              <a:rPr lang="en-US" sz="1600" dirty="0">
                <a:solidFill>
                  <a:schemeClr val="accent6"/>
                </a:solidFill>
              </a:rPr>
              <a:t>See it, hear it, read it: three senses, one concept. Every sentence matches a change on the board, so memory hooks itself.</a:t>
            </a:r>
            <a:endParaRPr lang="en-US" sz="1600" dirty="0"/>
          </a:p>
        </p:txBody>
      </p:sp>
      <p:sp>
        <p:nvSpPr>
          <p:cNvPr id="12" name="why1"/>
          <p:cNvSpPr/>
          <p:nvPr/>
        </p:nvSpPr>
        <p:spPr>
          <a:xfrm>
            <a:off x="6199632" y="2057400"/>
            <a:ext cx="5349240" cy="1874520"/>
          </a:xfrm>
          <a:prstGeom prst="roundRect">
            <a:avLst>
              <a:gd name="adj" fmla="val 7805"/>
            </a:avLst>
          </a:prstGeom>
          <a:solidFill>
            <a:schemeClr val="tx2"/>
          </a:solidFill>
          <a:ln w="12700">
            <a:solidFill>
              <a:schemeClr val="accent5"/>
            </a:solidFill>
          </a:ln>
        </p:spPr>
      </p:sp>
      <p:sp>
        <p:nvSpPr>
          <p:cNvPr id="13" name="why1Mark"/>
          <p:cNvSpPr/>
          <p:nvPr/>
        </p:nvSpPr>
        <p:spPr>
          <a:xfrm>
            <a:off x="6455664" y="2331720"/>
            <a:ext cx="109728" cy="384048"/>
          </a:xfrm>
          <a:prstGeom prst="rect">
            <a:avLst/>
          </a:prstGeom>
          <a:solidFill>
            <a:schemeClr val="accent5"/>
          </a:solidFill>
          <a:ln>
            <a:noFill/>
          </a:ln>
        </p:spPr>
      </p:sp>
      <p:sp>
        <p:nvSpPr>
          <p:cNvPr id="14" name="why1Title"/>
          <p:cNvSpPr txBox="1"/>
          <p:nvPr/>
        </p:nvSpPr>
        <p:spPr>
          <a:xfrm>
            <a:off x="6729984" y="2295144"/>
            <a:ext cx="4562856" cy="457200"/>
          </a:xfrm>
          <a:prstGeom prst="rect">
            <a:avLst/>
          </a:prstGeom>
          <a:noFill/>
          <a:ln>
            <a:noFill/>
          </a:ln>
        </p:spPr>
        <p:txBody>
          <a:bodyPr wrap="square" lIns="0" tIns="0" rIns="0" bIns="0" rtlCol="0" anchor="ctr">
            <a:noAutofit/>
          </a:bodyPr>
          <a:lstStyle/>
          <a:p>
            <a:pPr algn="l" marL="0" indent="0">
              <a:lnSpc>
                <a:spcPct val="95000"/>
              </a:lnSpc>
              <a:buNone/>
            </a:pPr>
            <a:r>
              <a:rPr lang="en-US" sz="2000" b="1" dirty="0">
                <a:solidFill>
                  <a:schemeClr val="bg1"/>
                </a:solidFill>
                <a:latin typeface="+mj-lt"/>
              </a:rPr>
              <a:t>Hours → minutes</a:t>
            </a:r>
            <a:endParaRPr lang="en-US" sz="2000" dirty="0"/>
          </a:p>
        </p:txBody>
      </p:sp>
      <p:sp>
        <p:nvSpPr>
          <p:cNvPr id="15" name="why1Desc"/>
          <p:cNvSpPr txBox="1"/>
          <p:nvPr/>
        </p:nvSpPr>
        <p:spPr>
          <a:xfrm>
            <a:off x="6729984" y="2880360"/>
            <a:ext cx="4562856" cy="914400"/>
          </a:xfrm>
          <a:prstGeom prst="rect">
            <a:avLst/>
          </a:prstGeom>
          <a:noFill/>
          <a:ln>
            <a:noFill/>
          </a:ln>
        </p:spPr>
        <p:txBody>
          <a:bodyPr wrap="square" lIns="0" tIns="0" rIns="0" bIns="0" rtlCol="0" anchor="t">
            <a:noAutofit/>
          </a:bodyPr>
          <a:lstStyle/>
          <a:p>
            <a:pPr algn="l" marL="0" indent="0">
              <a:lnSpc>
                <a:spcPct val="115000"/>
              </a:lnSpc>
              <a:buNone/>
            </a:pPr>
            <a:r>
              <a:rPr lang="en-US" sz="1600" dirty="0">
                <a:solidFill>
                  <a:schemeClr val="accent6"/>
                </a:solidFill>
              </a:rPr>
              <a:t>Forty pages and three long videos become one properly made animated lesson, at your speed.</a:t>
            </a:r>
            <a:endParaRPr lang="en-US" sz="1600" dirty="0"/>
          </a:p>
        </p:txBody>
      </p:sp>
      <p:sp>
        <p:nvSpPr>
          <p:cNvPr id="16" name="why2"/>
          <p:cNvSpPr/>
          <p:nvPr/>
        </p:nvSpPr>
        <p:spPr>
          <a:xfrm>
            <a:off x="640080" y="4206240"/>
            <a:ext cx="5349240" cy="1874520"/>
          </a:xfrm>
          <a:prstGeom prst="roundRect">
            <a:avLst>
              <a:gd name="adj" fmla="val 7805"/>
            </a:avLst>
          </a:prstGeom>
          <a:solidFill>
            <a:schemeClr val="tx2"/>
          </a:solidFill>
          <a:ln w="12700">
            <a:solidFill>
              <a:schemeClr val="accent4"/>
            </a:solidFill>
          </a:ln>
        </p:spPr>
      </p:sp>
      <p:sp>
        <p:nvSpPr>
          <p:cNvPr id="17" name="why2Mark"/>
          <p:cNvSpPr/>
          <p:nvPr/>
        </p:nvSpPr>
        <p:spPr>
          <a:xfrm>
            <a:off x="896112" y="4480560"/>
            <a:ext cx="109728" cy="384048"/>
          </a:xfrm>
          <a:prstGeom prst="rect">
            <a:avLst/>
          </a:prstGeom>
          <a:solidFill>
            <a:schemeClr val="accent4"/>
          </a:solidFill>
          <a:ln>
            <a:noFill/>
          </a:ln>
        </p:spPr>
      </p:sp>
      <p:sp>
        <p:nvSpPr>
          <p:cNvPr id="18" name="why2Title"/>
          <p:cNvSpPr txBox="1"/>
          <p:nvPr/>
        </p:nvSpPr>
        <p:spPr>
          <a:xfrm>
            <a:off x="1170432" y="4443984"/>
            <a:ext cx="4562856" cy="457200"/>
          </a:xfrm>
          <a:prstGeom prst="rect">
            <a:avLst/>
          </a:prstGeom>
          <a:noFill/>
          <a:ln>
            <a:noFill/>
          </a:ln>
        </p:spPr>
        <p:txBody>
          <a:bodyPr wrap="square" lIns="0" tIns="0" rIns="0" bIns="0" rtlCol="0" anchor="ctr">
            <a:noAutofit/>
          </a:bodyPr>
          <a:lstStyle/>
          <a:p>
            <a:pPr algn="l" marL="0" indent="0">
              <a:lnSpc>
                <a:spcPct val="95000"/>
              </a:lnSpc>
              <a:buNone/>
            </a:pPr>
            <a:r>
              <a:rPr lang="en-US" sz="2000" b="1" dirty="0">
                <a:solidFill>
                  <a:schemeClr val="bg1"/>
                </a:solidFill>
                <a:latin typeface="+mj-lt"/>
              </a:rPr>
              <a:t>Doubts never wait</a:t>
            </a:r>
            <a:endParaRPr lang="en-US" sz="2000" dirty="0"/>
          </a:p>
        </p:txBody>
      </p:sp>
      <p:sp>
        <p:nvSpPr>
          <p:cNvPr id="19" name="why2Desc"/>
          <p:cNvSpPr txBox="1"/>
          <p:nvPr/>
        </p:nvSpPr>
        <p:spPr>
          <a:xfrm>
            <a:off x="1170432" y="5029200"/>
            <a:ext cx="4562856" cy="914400"/>
          </a:xfrm>
          <a:prstGeom prst="rect">
            <a:avLst/>
          </a:prstGeom>
          <a:noFill/>
          <a:ln>
            <a:noFill/>
          </a:ln>
        </p:spPr>
        <p:txBody>
          <a:bodyPr wrap="square" lIns="0" tIns="0" rIns="0" bIns="0" rtlCol="0" anchor="t">
            <a:noAutofit/>
          </a:bodyPr>
          <a:lstStyle/>
          <a:p>
            <a:pPr algn="l" marL="0" indent="0">
              <a:lnSpc>
                <a:spcPct val="115000"/>
              </a:lnSpc>
              <a:buNone/>
            </a:pPr>
            <a:r>
              <a:rPr lang="en-US" sz="1600" dirty="0">
                <a:solidFill>
                  <a:schemeClr val="accent6"/>
                </a:solidFill>
              </a:rPr>
              <a:t>A tutor who never sleeps. Ask “why?” as many times as you want, with no judgement.</a:t>
            </a:r>
            <a:endParaRPr lang="en-US" sz="1600" dirty="0"/>
          </a:p>
        </p:txBody>
      </p:sp>
      <p:sp>
        <p:nvSpPr>
          <p:cNvPr id="20" name="why3"/>
          <p:cNvSpPr/>
          <p:nvPr/>
        </p:nvSpPr>
        <p:spPr>
          <a:xfrm>
            <a:off x="6199632" y="4206240"/>
            <a:ext cx="5349240" cy="1874520"/>
          </a:xfrm>
          <a:prstGeom prst="roundRect">
            <a:avLst>
              <a:gd name="adj" fmla="val 7805"/>
            </a:avLst>
          </a:prstGeom>
          <a:solidFill>
            <a:schemeClr val="tx2"/>
          </a:solidFill>
          <a:ln w="12700">
            <a:solidFill>
              <a:schemeClr val="accent1"/>
            </a:solidFill>
          </a:ln>
        </p:spPr>
      </p:sp>
      <p:sp>
        <p:nvSpPr>
          <p:cNvPr id="21" name="why3Mark"/>
          <p:cNvSpPr/>
          <p:nvPr/>
        </p:nvSpPr>
        <p:spPr>
          <a:xfrm>
            <a:off x="6455664" y="4480560"/>
            <a:ext cx="109728" cy="384048"/>
          </a:xfrm>
          <a:prstGeom prst="rect">
            <a:avLst/>
          </a:prstGeom>
          <a:solidFill>
            <a:schemeClr val="accent1"/>
          </a:solidFill>
          <a:ln>
            <a:noFill/>
          </a:ln>
        </p:spPr>
      </p:sp>
      <p:sp>
        <p:nvSpPr>
          <p:cNvPr id="22" name="why3Title"/>
          <p:cNvSpPr txBox="1"/>
          <p:nvPr/>
        </p:nvSpPr>
        <p:spPr>
          <a:xfrm>
            <a:off x="6729984" y="4443984"/>
            <a:ext cx="4562856" cy="457200"/>
          </a:xfrm>
          <a:prstGeom prst="rect">
            <a:avLst/>
          </a:prstGeom>
          <a:noFill/>
          <a:ln>
            <a:noFill/>
          </a:ln>
        </p:spPr>
        <p:txBody>
          <a:bodyPr wrap="square" lIns="0" tIns="0" rIns="0" bIns="0" rtlCol="0" anchor="ctr">
            <a:noAutofit/>
          </a:bodyPr>
          <a:lstStyle/>
          <a:p>
            <a:pPr algn="l" marL="0" indent="0">
              <a:lnSpc>
                <a:spcPct val="95000"/>
              </a:lnSpc>
              <a:buNone/>
            </a:pPr>
            <a:r>
              <a:rPr lang="en-US" sz="2000" b="1" dirty="0">
                <a:solidFill>
                  <a:schemeClr val="bg1"/>
                </a:solidFill>
                <a:latin typeface="+mj-lt"/>
              </a:rPr>
              <a:t>Your syllabus, your pace</a:t>
            </a:r>
            <a:endParaRPr lang="en-US" sz="2000" dirty="0"/>
          </a:p>
        </p:txBody>
      </p:sp>
      <p:sp>
        <p:nvSpPr>
          <p:cNvPr id="23" name="why3Desc"/>
          <p:cNvSpPr txBox="1"/>
          <p:nvPr/>
        </p:nvSpPr>
        <p:spPr>
          <a:xfrm>
            <a:off x="6729984" y="5029200"/>
            <a:ext cx="4562856" cy="914400"/>
          </a:xfrm>
          <a:prstGeom prst="rect">
            <a:avLst/>
          </a:prstGeom>
          <a:noFill/>
          <a:ln>
            <a:noFill/>
          </a:ln>
        </p:spPr>
        <p:txBody>
          <a:bodyPr wrap="square" lIns="0" tIns="0" rIns="0" bIns="0" rtlCol="0" anchor="t">
            <a:noAutofit/>
          </a:bodyPr>
          <a:lstStyle/>
          <a:p>
            <a:pPr algn="l" marL="0" indent="0">
              <a:lnSpc>
                <a:spcPct val="115000"/>
              </a:lnSpc>
              <a:buNone/>
            </a:pPr>
            <a:r>
              <a:rPr lang="en-US" sz="1600" dirty="0">
                <a:solidFill>
                  <a:schemeClr val="accent6"/>
                </a:solidFill>
              </a:rPr>
              <a:t>Taught from your own book. Replay, slow down or jump to any scene: built for revision night.</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glow"/>
          <p:cNvSpPr/>
          <p:nvPr/>
        </p:nvSpPr>
        <p:spPr>
          <a:xfrm>
            <a:off x="-914400" y="-1371600"/>
            <a:ext cx="4114800" cy="4114800"/>
          </a:xfrm>
          <a:prstGeom prst="rect">
            <a:avLst/>
          </a:prstGeom>
          <a:solidFill>
            <a:schemeClr val="accent1">
              <a:alpha val="12000"/>
            </a:schemeClr>
          </a:solidFill>
          <a:ln>
            <a:noFill/>
          </a:ln>
        </p:spPr>
      </p:sp>
      <p:sp>
        <p:nvSpPr>
          <p:cNvPr id="3" name="glow2"/>
          <p:cNvSpPr/>
          <p:nvPr/>
        </p:nvSpPr>
        <p:spPr>
          <a:xfrm>
            <a:off x="9601200" y="4754880"/>
            <a:ext cx="3657600" cy="3657600"/>
          </a:xfrm>
          <a:prstGeom prst="rect">
            <a:avLst/>
          </a:prstGeom>
          <a:solidFill>
            <a:schemeClr val="accent2">
              <a:alpha val="8000"/>
            </a:schemeClr>
          </a:solidFill>
          <a:ln>
            <a:noFill/>
          </a:ln>
        </p:spPr>
      </p:sp>
      <p:sp>
        <p:nvSpPr>
          <p:cNvPr id="4" name="kicker"/>
          <p:cNvSpPr txBox="1"/>
          <p:nvPr/>
        </p:nvSpPr>
        <p:spPr>
          <a:xfrm>
            <a:off x="640080" y="457200"/>
            <a:ext cx="9144000" cy="274320"/>
          </a:xfrm>
          <a:prstGeom prst="rect">
            <a:avLst/>
          </a:prstGeom>
          <a:noFill/>
          <a:ln>
            <a:noFill/>
          </a:ln>
        </p:spPr>
        <p:txBody>
          <a:bodyPr wrap="square" lIns="0" tIns="0" rIns="0" bIns="0" rtlCol="0" anchor="t">
            <a:noAutofit/>
          </a:bodyPr>
          <a:lstStyle/>
          <a:p>
            <a:pPr algn="l" marL="0" indent="0">
              <a:buNone/>
            </a:pPr>
            <a:r>
              <a:rPr lang="en-US" sz="1200" b="1" spc="400" dirty="0">
                <a:solidFill>
                  <a:schemeClr val="accent2"/>
                </a:solidFill>
              </a:rPr>
              <a:t>NOVELTY</a:t>
            </a:r>
            <a:endParaRPr lang="en-US" sz="1200" dirty="0"/>
          </a:p>
        </p:txBody>
      </p:sp>
      <p:sp>
        <p:nvSpPr>
          <p:cNvPr id="5" name="title"/>
          <p:cNvSpPr txBox="1"/>
          <p:nvPr/>
        </p:nvSpPr>
        <p:spPr>
          <a:xfrm>
            <a:off x="640080" y="777240"/>
            <a:ext cx="10911535" cy="1188720"/>
          </a:xfrm>
          <a:prstGeom prst="rect">
            <a:avLst/>
          </a:prstGeom>
          <a:noFill/>
          <a:ln>
            <a:noFill/>
          </a:ln>
        </p:spPr>
        <p:txBody>
          <a:bodyPr wrap="square" lIns="0" tIns="0" rIns="0" bIns="0" rtlCol="0" anchor="t">
            <a:noAutofit/>
          </a:bodyPr>
          <a:lstStyle/>
          <a:p>
            <a:pPr algn="l" marL="0" indent="0">
              <a:lnSpc>
                <a:spcPct val="95000"/>
              </a:lnSpc>
              <a:buNone/>
            </a:pPr>
            <a:r>
              <a:rPr lang="en-US" sz="3200" b="1" dirty="0">
                <a:solidFill>
                  <a:schemeClr val="bg1"/>
                </a:solidFill>
                <a:latin typeface="+mj-lt"/>
              </a:rPr>
              <a:t>Why this is </a:t>
            </a:r>
            <a:r>
              <a:rPr lang="en-US" sz="3200" b="1" dirty="0">
                <a:gradFill>
                  <a:gsLst>
                    <a:gs pos="0">
                      <a:srgbClr val="9D8CFF"/>
                    </a:gs>
                    <a:gs pos="50000">
                      <a:srgbClr val="FF6FB5"/>
                    </a:gs>
                    <a:gs pos="100000">
                      <a:srgbClr val="FFC94D"/>
                    </a:gs>
                  </a:gsLst>
                  <a:lin ang="0" scaled="0"/>
                </a:gradFill>
                <a:latin typeface="+mj-lt"/>
              </a:rPr>
              <a:t>genuinely new.</a:t>
            </a:r>
            <a:endParaRPr lang="en-US" sz="3200" dirty="0"/>
          </a:p>
        </p:txBody>
      </p:sp>
      <p:sp>
        <p:nvSpPr>
          <p:cNvPr id="6" name="footer"/>
          <p:cNvSpPr txBox="1"/>
          <p:nvPr/>
        </p:nvSpPr>
        <p:spPr>
          <a:xfrm>
            <a:off x="640080" y="6400800"/>
            <a:ext cx="5486400" cy="228600"/>
          </a:xfrm>
          <a:prstGeom prst="rect">
            <a:avLst/>
          </a:prstGeom>
          <a:noFill/>
          <a:ln>
            <a:noFill/>
          </a:ln>
        </p:spPr>
        <p:txBody>
          <a:bodyPr wrap="square" lIns="0" tIns="0" rIns="0" bIns="0" rtlCol="0" anchor="t">
            <a:noAutofit/>
          </a:bodyPr>
          <a:lstStyle/>
          <a:p>
            <a:pPr algn="l" marL="0" indent="0">
              <a:buNone/>
            </a:pPr>
            <a:r>
              <a:rPr lang="en-US" sz="1000" spc="300" dirty="0">
                <a:solidFill>
                  <a:schemeClr val="accent6"/>
                </a:solidFill>
              </a:rPr>
              <a:t>NEURALEARN  ·  COMPUTED, NOT HALLUCINATED</a:t>
            </a:r>
            <a:endParaRPr lang="en-US" sz="1000" dirty="0"/>
          </a:p>
        </p:txBody>
      </p:sp>
      <p:sp>
        <p:nvSpPr>
          <p:cNvPr id="7" name="pageNum"/>
          <p:cNvSpPr txBox="1"/>
          <p:nvPr/>
        </p:nvSpPr>
        <p:spPr>
          <a:xfrm>
            <a:off x="10637215" y="6400800"/>
            <a:ext cx="914400" cy="228600"/>
          </a:xfrm>
          <a:prstGeom prst="rect">
            <a:avLst/>
          </a:prstGeom>
          <a:noFill/>
          <a:ln>
            <a:noFill/>
          </a:ln>
        </p:spPr>
        <p:txBody>
          <a:bodyPr wrap="square" lIns="0" tIns="0" rIns="0" bIns="0" rtlCol="0" anchor="t">
            <a:noAutofit/>
          </a:bodyPr>
          <a:lstStyle/>
          <a:p>
            <a:pPr algn="r" marL="0" indent="0">
              <a:buNone/>
            </a:pPr>
            <a:r>
              <a:rPr lang="en-US" sz="1000" b="1" spc="200" dirty="0">
                <a:solidFill>
                  <a:schemeClr val="accent6"/>
                </a:solidFill>
              </a:rPr>
              <a:t>10</a:t>
            </a:r>
            <a:endParaRPr lang="en-US" sz="1000" dirty="0"/>
          </a:p>
        </p:txBody>
      </p:sp>
      <p:sp>
        <p:nvSpPr>
          <p:cNvPr id="8" name="nov0"/>
          <p:cNvSpPr/>
          <p:nvPr/>
        </p:nvSpPr>
        <p:spPr>
          <a:xfrm>
            <a:off x="640080" y="1965960"/>
            <a:ext cx="3520440" cy="2514600"/>
          </a:xfrm>
          <a:prstGeom prst="roundRect">
            <a:avLst>
              <a:gd name="adj" fmla="val 5818"/>
            </a:avLst>
          </a:prstGeom>
          <a:solidFill>
            <a:schemeClr val="tx2"/>
          </a:solidFill>
          <a:ln w="12700">
            <a:solidFill>
              <a:schemeClr val="accent2"/>
            </a:solidFill>
          </a:ln>
        </p:spPr>
      </p:sp>
      <p:sp>
        <p:nvSpPr>
          <p:cNvPr id="9" name="novBig0"/>
          <p:cNvSpPr txBox="1"/>
          <p:nvPr/>
        </p:nvSpPr>
        <p:spPr>
          <a:xfrm>
            <a:off x="960120" y="2240280"/>
            <a:ext cx="2880360" cy="822960"/>
          </a:xfrm>
          <a:prstGeom prst="rect">
            <a:avLst/>
          </a:prstGeom>
          <a:noFill/>
          <a:ln>
            <a:noFill/>
          </a:ln>
        </p:spPr>
        <p:txBody>
          <a:bodyPr wrap="square" lIns="0" tIns="0" rIns="0" bIns="0" rtlCol="0" anchor="ctr">
            <a:noAutofit/>
          </a:bodyPr>
          <a:lstStyle/>
          <a:p>
            <a:pPr algn="l" marL="0" indent="0">
              <a:buNone/>
            </a:pPr>
            <a:r>
              <a:rPr lang="en-US" sz="3000" b="1" dirty="0">
                <a:solidFill>
                  <a:schemeClr val="accent2"/>
                </a:solidFill>
                <a:latin typeface="+mj-lt"/>
              </a:rPr>
              <a:t>1 prompt</a:t>
            </a:r>
            <a:endParaRPr lang="en-US" sz="3000" dirty="0"/>
          </a:p>
        </p:txBody>
      </p:sp>
      <p:sp>
        <p:nvSpPr>
          <p:cNvPr id="10" name="novDe0"/>
          <p:cNvSpPr txBox="1"/>
          <p:nvPr/>
        </p:nvSpPr>
        <p:spPr>
          <a:xfrm>
            <a:off x="960120" y="3154680"/>
            <a:ext cx="2880360" cy="1234440"/>
          </a:xfrm>
          <a:prstGeom prst="rect">
            <a:avLst/>
          </a:prstGeom>
          <a:noFill/>
          <a:ln>
            <a:noFill/>
          </a:ln>
        </p:spPr>
        <p:txBody>
          <a:bodyPr wrap="square" lIns="0" tIns="0" rIns="0" bIns="0" rtlCol="0" anchor="t">
            <a:noAutofit/>
          </a:bodyPr>
          <a:lstStyle/>
          <a:p>
            <a:pPr algn="l" marL="0" indent="0">
              <a:lnSpc>
                <a:spcPct val="115000"/>
              </a:lnSpc>
              <a:buNone/>
            </a:pPr>
            <a:r>
              <a:rPr lang="en-US" sz="1600" dirty="0">
                <a:solidFill>
                  <a:schemeClr val="accent6"/>
                </a:solidFill>
              </a:rPr>
              <a:t>A written answer, a live visual and a tutor for doubts, for your exact question. No tab-hopping.</a:t>
            </a:r>
            <a:endParaRPr lang="en-US" sz="1600" dirty="0"/>
          </a:p>
        </p:txBody>
      </p:sp>
      <p:sp>
        <p:nvSpPr>
          <p:cNvPr id="11" name="nov1"/>
          <p:cNvSpPr/>
          <p:nvPr/>
        </p:nvSpPr>
        <p:spPr>
          <a:xfrm>
            <a:off x="4334256" y="1965960"/>
            <a:ext cx="3520440" cy="2514600"/>
          </a:xfrm>
          <a:prstGeom prst="roundRect">
            <a:avLst>
              <a:gd name="adj" fmla="val 5818"/>
            </a:avLst>
          </a:prstGeom>
          <a:solidFill>
            <a:schemeClr val="tx2"/>
          </a:solidFill>
          <a:ln w="12700">
            <a:solidFill>
              <a:schemeClr val="accent1"/>
            </a:solidFill>
          </a:ln>
        </p:spPr>
      </p:sp>
      <p:sp>
        <p:nvSpPr>
          <p:cNvPr id="12" name="novBig1"/>
          <p:cNvSpPr txBox="1"/>
          <p:nvPr/>
        </p:nvSpPr>
        <p:spPr>
          <a:xfrm>
            <a:off x="4654296" y="2240280"/>
            <a:ext cx="2880360" cy="822960"/>
          </a:xfrm>
          <a:prstGeom prst="rect">
            <a:avLst/>
          </a:prstGeom>
          <a:noFill/>
          <a:ln>
            <a:noFill/>
          </a:ln>
        </p:spPr>
        <p:txBody>
          <a:bodyPr wrap="square" lIns="0" tIns="0" rIns="0" bIns="0" rtlCol="0" anchor="ctr">
            <a:noAutofit/>
          </a:bodyPr>
          <a:lstStyle/>
          <a:p>
            <a:pPr algn="l" marL="0" indent="0">
              <a:buNone/>
            </a:pPr>
            <a:r>
              <a:rPr lang="en-US" sz="3000" b="1" dirty="0">
                <a:solidFill>
                  <a:schemeClr val="accent1"/>
                </a:solidFill>
                <a:latin typeface="+mj-lt"/>
              </a:rPr>
              <a:t>0 guesses</a:t>
            </a:r>
            <a:endParaRPr lang="en-US" sz="3000" dirty="0"/>
          </a:p>
        </p:txBody>
      </p:sp>
      <p:sp>
        <p:nvSpPr>
          <p:cNvPr id="13" name="novDe1"/>
          <p:cNvSpPr txBox="1"/>
          <p:nvPr/>
        </p:nvSpPr>
        <p:spPr>
          <a:xfrm>
            <a:off x="4654296" y="3154680"/>
            <a:ext cx="2880360" cy="1234440"/>
          </a:xfrm>
          <a:prstGeom prst="rect">
            <a:avLst/>
          </a:prstGeom>
          <a:noFill/>
          <a:ln>
            <a:noFill/>
          </a:ln>
        </p:spPr>
        <p:txBody>
          <a:bodyPr wrap="square" lIns="0" tIns="0" rIns="0" bIns="0" rtlCol="0" anchor="t">
            <a:noAutofit/>
          </a:bodyPr>
          <a:lstStyle/>
          <a:p>
            <a:pPr algn="l" marL="0" indent="0">
              <a:lnSpc>
                <a:spcPct val="115000"/>
              </a:lnSpc>
              <a:buNone/>
            </a:pPr>
            <a:r>
              <a:rPr lang="en-US" sz="1600" dirty="0">
                <a:solidFill>
                  <a:schemeClr val="accent6"/>
                </a:solidFill>
              </a:rPr>
              <a:t>Where a topic can be computed, every frame is a real step of the code, not a model's drawing.</a:t>
            </a:r>
            <a:endParaRPr lang="en-US" sz="1600" dirty="0"/>
          </a:p>
        </p:txBody>
      </p:sp>
      <p:sp>
        <p:nvSpPr>
          <p:cNvPr id="14" name="nov2"/>
          <p:cNvSpPr/>
          <p:nvPr/>
        </p:nvSpPr>
        <p:spPr>
          <a:xfrm>
            <a:off x="8028432" y="1965960"/>
            <a:ext cx="3520440" cy="2514600"/>
          </a:xfrm>
          <a:prstGeom prst="roundRect">
            <a:avLst>
              <a:gd name="adj" fmla="val 5818"/>
            </a:avLst>
          </a:prstGeom>
          <a:solidFill>
            <a:schemeClr val="tx2"/>
          </a:solidFill>
          <a:ln w="12700">
            <a:solidFill>
              <a:schemeClr val="accent5"/>
            </a:solidFill>
          </a:ln>
        </p:spPr>
      </p:sp>
      <p:sp>
        <p:nvSpPr>
          <p:cNvPr id="15" name="novBig2"/>
          <p:cNvSpPr txBox="1"/>
          <p:nvPr/>
        </p:nvSpPr>
        <p:spPr>
          <a:xfrm>
            <a:off x="8348472" y="2240280"/>
            <a:ext cx="2880360" cy="822960"/>
          </a:xfrm>
          <a:prstGeom prst="rect">
            <a:avLst/>
          </a:prstGeom>
          <a:noFill/>
          <a:ln>
            <a:noFill/>
          </a:ln>
        </p:spPr>
        <p:txBody>
          <a:bodyPr wrap="square" lIns="0" tIns="0" rIns="0" bIns="0" rtlCol="0" anchor="ctr">
            <a:noAutofit/>
          </a:bodyPr>
          <a:lstStyle/>
          <a:p>
            <a:pPr algn="l" marL="0" indent="0">
              <a:buNone/>
            </a:pPr>
            <a:r>
              <a:rPr lang="en-US" sz="3000" b="1" dirty="0">
                <a:solidFill>
                  <a:schemeClr val="accent5"/>
                </a:solidFill>
                <a:latin typeface="+mj-lt"/>
              </a:rPr>
              <a:t>Any moment</a:t>
            </a:r>
            <a:endParaRPr lang="en-US" sz="3000" dirty="0"/>
          </a:p>
        </p:txBody>
      </p:sp>
      <p:sp>
        <p:nvSpPr>
          <p:cNvPr id="16" name="novDe2"/>
          <p:cNvSpPr txBox="1"/>
          <p:nvPr/>
        </p:nvSpPr>
        <p:spPr>
          <a:xfrm>
            <a:off x="8348472" y="3154680"/>
            <a:ext cx="2880360" cy="1234440"/>
          </a:xfrm>
          <a:prstGeom prst="rect">
            <a:avLst/>
          </a:prstGeom>
          <a:noFill/>
          <a:ln>
            <a:noFill/>
          </a:ln>
        </p:spPr>
        <p:txBody>
          <a:bodyPr wrap="square" lIns="0" tIns="0" rIns="0" bIns="0" rtlCol="0" anchor="t">
            <a:noAutofit/>
          </a:bodyPr>
          <a:lstStyle/>
          <a:p>
            <a:pPr algn="l" marL="0" indent="0">
              <a:lnSpc>
                <a:spcPct val="115000"/>
              </a:lnSpc>
              <a:buNone/>
            </a:pPr>
            <a:r>
              <a:rPr lang="en-US" sz="1600" dirty="0">
                <a:solidFill>
                  <a:schemeClr val="accent6"/>
                </a:solidFill>
              </a:rPr>
              <a:t>Pause and ask why. The new visual is drawn right there, in the same lesson.</a:t>
            </a:r>
            <a:endParaRPr lang="en-US" sz="1600" dirty="0"/>
          </a:p>
        </p:txBody>
      </p:sp>
      <p:sp>
        <p:nvSpPr>
          <p:cNvPr id="17" name="othersK"/>
          <p:cNvSpPr txBox="1"/>
          <p:nvPr/>
        </p:nvSpPr>
        <p:spPr>
          <a:xfrm>
            <a:off x="640080" y="4754880"/>
            <a:ext cx="10911535" cy="274320"/>
          </a:xfrm>
          <a:prstGeom prst="rect">
            <a:avLst/>
          </a:prstGeom>
          <a:noFill/>
          <a:ln>
            <a:noFill/>
          </a:ln>
        </p:spPr>
        <p:txBody>
          <a:bodyPr wrap="square" lIns="0" tIns="0" rIns="0" bIns="0" rtlCol="0" anchor="t">
            <a:noAutofit/>
          </a:bodyPr>
          <a:lstStyle/>
          <a:p>
            <a:pPr algn="l" marL="0" indent="0">
              <a:buNone/>
            </a:pPr>
            <a:r>
              <a:rPr lang="en-US" sz="1100" b="1" spc="300" dirty="0">
                <a:solidFill>
                  <a:schemeClr val="accent6"/>
                </a:solidFill>
              </a:rPr>
              <a:t>OTHERS GIVE YOU ONE PIECE</a:t>
            </a:r>
            <a:endParaRPr lang="en-US" sz="1100" dirty="0"/>
          </a:p>
        </p:txBody>
      </p:sp>
      <p:sp>
        <p:nvSpPr>
          <p:cNvPr id="18" name="piece0"/>
          <p:cNvSpPr/>
          <p:nvPr/>
        </p:nvSpPr>
        <p:spPr>
          <a:xfrm>
            <a:off x="640080" y="5120640"/>
            <a:ext cx="2596896" cy="502920"/>
          </a:xfrm>
          <a:prstGeom prst="roundRect">
            <a:avLst>
              <a:gd name="adj" fmla="val 50000"/>
            </a:avLst>
          </a:prstGeom>
          <a:solidFill>
            <a:schemeClr val="tx1"/>
          </a:solidFill>
          <a:ln w="12700">
            <a:solidFill>
              <a:schemeClr val="accent6"/>
            </a:solidFill>
          </a:ln>
        </p:spPr>
        <p:txBody>
          <a:bodyPr wrap="square" lIns="73152" tIns="73152" rIns="73152" bIns="73152" rtlCol="0" anchor="ctr">
            <a:noAutofit/>
          </a:bodyPr>
          <a:lstStyle/>
          <a:p>
            <a:pPr algn="ctr" marL="0" indent="0">
              <a:buNone/>
            </a:pPr>
            <a:r>
              <a:rPr lang="en-US" sz="1400" b="1" dirty="0">
                <a:solidFill>
                  <a:schemeClr val="bg1"/>
                </a:solidFill>
              </a:rPr>
              <a:t>Chatbots  </a:t>
            </a:r>
            <a:r>
              <a:rPr lang="en-US" sz="1400" dirty="0">
                <a:solidFill>
                  <a:schemeClr val="accent6"/>
                </a:solidFill>
              </a:rPr>
              <a:t>text</a:t>
            </a:r>
            <a:endParaRPr lang="en-US" sz="1400" dirty="0"/>
          </a:p>
        </p:txBody>
      </p:sp>
      <p:sp>
        <p:nvSpPr>
          <p:cNvPr id="19" name="piece1"/>
          <p:cNvSpPr/>
          <p:nvPr/>
        </p:nvSpPr>
        <p:spPr>
          <a:xfrm>
            <a:off x="3410712" y="5120640"/>
            <a:ext cx="2596896" cy="502920"/>
          </a:xfrm>
          <a:prstGeom prst="roundRect">
            <a:avLst>
              <a:gd name="adj" fmla="val 50000"/>
            </a:avLst>
          </a:prstGeom>
          <a:solidFill>
            <a:schemeClr val="tx1"/>
          </a:solidFill>
          <a:ln w="12700">
            <a:solidFill>
              <a:schemeClr val="accent6"/>
            </a:solidFill>
          </a:ln>
        </p:spPr>
        <p:txBody>
          <a:bodyPr wrap="square" lIns="73152" tIns="73152" rIns="73152" bIns="73152" rtlCol="0" anchor="ctr">
            <a:noAutofit/>
          </a:bodyPr>
          <a:lstStyle/>
          <a:p>
            <a:pPr algn="ctr" marL="0" indent="0">
              <a:buNone/>
            </a:pPr>
            <a:r>
              <a:rPr lang="en-US" sz="1400" b="1" dirty="0">
                <a:solidFill>
                  <a:schemeClr val="bg1"/>
                </a:solidFill>
              </a:rPr>
              <a:t>YouTube  </a:t>
            </a:r>
            <a:r>
              <a:rPr lang="en-US" sz="1400" dirty="0">
                <a:solidFill>
                  <a:schemeClr val="accent6"/>
                </a:solidFill>
              </a:rPr>
              <a:t>pre-made video</a:t>
            </a:r>
            <a:endParaRPr lang="en-US" sz="1400" dirty="0"/>
          </a:p>
        </p:txBody>
      </p:sp>
      <p:sp>
        <p:nvSpPr>
          <p:cNvPr id="20" name="piece2"/>
          <p:cNvSpPr/>
          <p:nvPr/>
        </p:nvSpPr>
        <p:spPr>
          <a:xfrm>
            <a:off x="6181344" y="5120640"/>
            <a:ext cx="2596896" cy="502920"/>
          </a:xfrm>
          <a:prstGeom prst="roundRect">
            <a:avLst>
              <a:gd name="adj" fmla="val 50000"/>
            </a:avLst>
          </a:prstGeom>
          <a:solidFill>
            <a:schemeClr val="tx1"/>
          </a:solidFill>
          <a:ln w="12700">
            <a:solidFill>
              <a:schemeClr val="accent6"/>
            </a:solidFill>
          </a:ln>
        </p:spPr>
        <p:txBody>
          <a:bodyPr wrap="square" lIns="73152" tIns="73152" rIns="73152" bIns="73152" rtlCol="0" anchor="ctr">
            <a:noAutofit/>
          </a:bodyPr>
          <a:lstStyle/>
          <a:p>
            <a:pPr algn="ctr" marL="0" indent="0">
              <a:buNone/>
            </a:pPr>
            <a:r>
              <a:rPr lang="en-US" sz="1400" b="1" dirty="0">
                <a:solidFill>
                  <a:schemeClr val="bg1"/>
                </a:solidFill>
              </a:rPr>
              <a:t>NotebookLM  </a:t>
            </a:r>
            <a:r>
              <a:rPr lang="en-US" sz="1400" dirty="0">
                <a:solidFill>
                  <a:schemeClr val="accent6"/>
                </a:solidFill>
              </a:rPr>
              <a:t>file summaries</a:t>
            </a:r>
            <a:endParaRPr lang="en-US" sz="1400" dirty="0"/>
          </a:p>
        </p:txBody>
      </p:sp>
      <p:sp>
        <p:nvSpPr>
          <p:cNvPr id="21" name="piece3"/>
          <p:cNvSpPr/>
          <p:nvPr/>
        </p:nvSpPr>
        <p:spPr>
          <a:xfrm>
            <a:off x="8951976" y="5120640"/>
            <a:ext cx="2596896" cy="502920"/>
          </a:xfrm>
          <a:prstGeom prst="roundRect">
            <a:avLst>
              <a:gd name="adj" fmla="val 50000"/>
            </a:avLst>
          </a:prstGeom>
          <a:solidFill>
            <a:schemeClr val="tx1"/>
          </a:solidFill>
          <a:ln w="12700">
            <a:solidFill>
              <a:schemeClr val="accent6"/>
            </a:solidFill>
          </a:ln>
        </p:spPr>
        <p:txBody>
          <a:bodyPr wrap="square" lIns="73152" tIns="73152" rIns="73152" bIns="73152" rtlCol="0" anchor="ctr">
            <a:noAutofit/>
          </a:bodyPr>
          <a:lstStyle/>
          <a:p>
            <a:pPr algn="ctr" marL="0" indent="0">
              <a:buNone/>
            </a:pPr>
            <a:r>
              <a:rPr lang="en-US" sz="1400" b="1" dirty="0">
                <a:solidFill>
                  <a:schemeClr val="bg1"/>
                </a:solidFill>
              </a:rPr>
              <a:t>Tutors  </a:t>
            </a:r>
            <a:r>
              <a:rPr lang="en-US" sz="1400" dirty="0">
                <a:solidFill>
                  <a:schemeClr val="accent6"/>
                </a:solidFill>
              </a:rPr>
              <a:t>limited hours</a:t>
            </a:r>
            <a:endParaRPr lang="en-US" sz="1400" dirty="0"/>
          </a:p>
        </p:txBody>
      </p:sp>
      <p:sp>
        <p:nvSpPr>
          <p:cNvPr id="22" name="oursLine"/>
          <p:cNvSpPr txBox="1"/>
          <p:nvPr/>
        </p:nvSpPr>
        <p:spPr>
          <a:xfrm>
            <a:off x="640080" y="5806440"/>
            <a:ext cx="10911535" cy="411480"/>
          </a:xfrm>
          <a:prstGeom prst="rect">
            <a:avLst/>
          </a:prstGeom>
          <a:noFill/>
          <a:ln>
            <a:noFill/>
          </a:ln>
        </p:spPr>
        <p:txBody>
          <a:bodyPr wrap="square" lIns="0" tIns="0" rIns="0" bIns="0" rtlCol="0" anchor="t">
            <a:noAutofit/>
          </a:bodyPr>
          <a:lstStyle/>
          <a:p>
            <a:pPr algn="l" marL="0" indent="0">
              <a:buNone/>
            </a:pPr>
            <a:r>
              <a:rPr lang="en-US" sz="1700" b="1" dirty="0">
                <a:solidFill>
                  <a:schemeClr val="bg1"/>
                </a:solidFill>
              </a:rPr>
              <a:t>NeuraLearn: all of it, live, for the question you just asked.</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glow"/>
          <p:cNvSpPr/>
          <p:nvPr/>
        </p:nvSpPr>
        <p:spPr>
          <a:xfrm>
            <a:off x="-914400" y="-1371600"/>
            <a:ext cx="4114800" cy="4114800"/>
          </a:xfrm>
          <a:prstGeom prst="rect">
            <a:avLst/>
          </a:prstGeom>
          <a:solidFill>
            <a:schemeClr val="accent1">
              <a:alpha val="12000"/>
            </a:schemeClr>
          </a:solidFill>
          <a:ln>
            <a:noFill/>
          </a:ln>
        </p:spPr>
      </p:sp>
      <p:sp>
        <p:nvSpPr>
          <p:cNvPr id="3" name="glow2"/>
          <p:cNvSpPr/>
          <p:nvPr/>
        </p:nvSpPr>
        <p:spPr>
          <a:xfrm>
            <a:off x="9601200" y="4754880"/>
            <a:ext cx="3657600" cy="3657600"/>
          </a:xfrm>
          <a:prstGeom prst="rect">
            <a:avLst/>
          </a:prstGeom>
          <a:solidFill>
            <a:schemeClr val="accent2">
              <a:alpha val="8000"/>
            </a:schemeClr>
          </a:solidFill>
          <a:ln>
            <a:noFill/>
          </a:ln>
        </p:spPr>
      </p:sp>
      <p:sp>
        <p:nvSpPr>
          <p:cNvPr id="4" name="kicker"/>
          <p:cNvSpPr txBox="1"/>
          <p:nvPr/>
        </p:nvSpPr>
        <p:spPr>
          <a:xfrm>
            <a:off x="640080" y="457200"/>
            <a:ext cx="9144000" cy="274320"/>
          </a:xfrm>
          <a:prstGeom prst="rect">
            <a:avLst/>
          </a:prstGeom>
          <a:noFill/>
          <a:ln>
            <a:noFill/>
          </a:ln>
        </p:spPr>
        <p:txBody>
          <a:bodyPr wrap="square" lIns="0" tIns="0" rIns="0" bIns="0" rtlCol="0" anchor="t">
            <a:noAutofit/>
          </a:bodyPr>
          <a:lstStyle/>
          <a:p>
            <a:pPr algn="l" marL="0" indent="0">
              <a:buNone/>
            </a:pPr>
            <a:r>
              <a:rPr lang="en-US" sz="1200" b="1" spc="400" dirty="0">
                <a:solidFill>
                  <a:schemeClr val="accent2"/>
                </a:solidFill>
              </a:rPr>
              <a:t>WHERE NEURALEARN FITS</a:t>
            </a:r>
            <a:endParaRPr lang="en-US" sz="1200" dirty="0"/>
          </a:p>
        </p:txBody>
      </p:sp>
      <p:sp>
        <p:nvSpPr>
          <p:cNvPr id="5" name="title"/>
          <p:cNvSpPr txBox="1"/>
          <p:nvPr/>
        </p:nvSpPr>
        <p:spPr>
          <a:xfrm>
            <a:off x="640080" y="777240"/>
            <a:ext cx="10911535" cy="1188720"/>
          </a:xfrm>
          <a:prstGeom prst="rect">
            <a:avLst/>
          </a:prstGeom>
          <a:noFill/>
          <a:ln>
            <a:noFill/>
          </a:ln>
        </p:spPr>
        <p:txBody>
          <a:bodyPr wrap="square" lIns="0" tIns="0" rIns="0" bIns="0" rtlCol="0" anchor="t">
            <a:noAutofit/>
          </a:bodyPr>
          <a:lstStyle/>
          <a:p>
            <a:pPr algn="l" marL="0" indent="0">
              <a:lnSpc>
                <a:spcPct val="95000"/>
              </a:lnSpc>
              <a:buNone/>
            </a:pPr>
            <a:r>
              <a:rPr lang="en-US" sz="3200" b="1" dirty="0">
                <a:solidFill>
                  <a:schemeClr val="bg1"/>
                </a:solidFill>
                <a:latin typeface="+mj-lt"/>
              </a:rPr>
              <a:t>Nothing else does </a:t>
            </a:r>
            <a:r>
              <a:rPr lang="en-US" sz="3200" b="1" dirty="0">
                <a:gradFill>
                  <a:gsLst>
                    <a:gs pos="0">
                      <a:srgbClr val="9D8CFF"/>
                    </a:gs>
                    <a:gs pos="50000">
                      <a:srgbClr val="FF6FB5"/>
                    </a:gs>
                    <a:gs pos="100000">
                      <a:srgbClr val="FFC94D"/>
                    </a:gs>
                  </a:gsLst>
                  <a:lin ang="0" scaled="0"/>
                </a:gradFill>
                <a:latin typeface="+mj-lt"/>
              </a:rPr>
              <a:t>all of this.</a:t>
            </a:r>
            <a:endParaRPr lang="en-US" sz="3200" dirty="0"/>
          </a:p>
        </p:txBody>
      </p:sp>
      <p:sp>
        <p:nvSpPr>
          <p:cNvPr id="6" name="footer"/>
          <p:cNvSpPr txBox="1"/>
          <p:nvPr/>
        </p:nvSpPr>
        <p:spPr>
          <a:xfrm>
            <a:off x="640080" y="6400800"/>
            <a:ext cx="5486400" cy="228600"/>
          </a:xfrm>
          <a:prstGeom prst="rect">
            <a:avLst/>
          </a:prstGeom>
          <a:noFill/>
          <a:ln>
            <a:noFill/>
          </a:ln>
        </p:spPr>
        <p:txBody>
          <a:bodyPr wrap="square" lIns="0" tIns="0" rIns="0" bIns="0" rtlCol="0" anchor="t">
            <a:noAutofit/>
          </a:bodyPr>
          <a:lstStyle/>
          <a:p>
            <a:pPr algn="l" marL="0" indent="0">
              <a:buNone/>
            </a:pPr>
            <a:r>
              <a:rPr lang="en-US" sz="1000" spc="300" dirty="0">
                <a:solidFill>
                  <a:schemeClr val="accent6"/>
                </a:solidFill>
              </a:rPr>
              <a:t>NEURALEARN  ·  COMPUTED, NOT HALLUCINATED</a:t>
            </a:r>
            <a:endParaRPr lang="en-US" sz="1000" dirty="0"/>
          </a:p>
        </p:txBody>
      </p:sp>
      <p:sp>
        <p:nvSpPr>
          <p:cNvPr id="7" name="pageNum"/>
          <p:cNvSpPr txBox="1"/>
          <p:nvPr/>
        </p:nvSpPr>
        <p:spPr>
          <a:xfrm>
            <a:off x="10637215" y="6400800"/>
            <a:ext cx="914400" cy="228600"/>
          </a:xfrm>
          <a:prstGeom prst="rect">
            <a:avLst/>
          </a:prstGeom>
          <a:noFill/>
          <a:ln>
            <a:noFill/>
          </a:ln>
        </p:spPr>
        <p:txBody>
          <a:bodyPr wrap="square" lIns="0" tIns="0" rIns="0" bIns="0" rtlCol="0" anchor="t">
            <a:noAutofit/>
          </a:bodyPr>
          <a:lstStyle/>
          <a:p>
            <a:pPr algn="r" marL="0" indent="0">
              <a:buNone/>
            </a:pPr>
            <a:r>
              <a:rPr lang="en-US" sz="1000" b="1" spc="200" dirty="0">
                <a:solidFill>
                  <a:schemeClr val="accent6"/>
                </a:solidFill>
              </a:rPr>
              <a:t>11</a:t>
            </a:r>
            <a:endParaRPr lang="en-US" sz="1000" dirty="0"/>
          </a:p>
        </p:txBody>
      </p:sp>
      <p:sp>
        <p:nvSpPr>
          <p:cNvPr id="8" name="table"/>
          <p:cNvSpPr/>
          <p:nvPr/>
        </p:nvSpPr>
        <p:spPr>
          <a:xfrm>
            <a:off x="640080" y="1965960"/>
            <a:ext cx="10911535" cy="3520440"/>
          </a:xfrm>
          <a:prstGeom prst="roundRect">
            <a:avLst>
              <a:gd name="adj" fmla="val 4156"/>
            </a:avLst>
          </a:prstGeom>
          <a:solidFill>
            <a:schemeClr val="tx2"/>
          </a:solidFill>
          <a:ln w="12700">
            <a:solidFill>
              <a:schemeClr val="accent6">
                <a:alpha val="30000"/>
              </a:schemeClr>
            </a:solidFill>
          </a:ln>
        </p:spPr>
      </p:sp>
      <p:sp>
        <p:nvSpPr>
          <p:cNvPr id="9" name="th0"/>
          <p:cNvSpPr txBox="1"/>
          <p:nvPr/>
        </p:nvSpPr>
        <p:spPr>
          <a:xfrm>
            <a:off x="868680" y="2121408"/>
            <a:ext cx="2423160" cy="320040"/>
          </a:xfrm>
          <a:prstGeom prst="rect">
            <a:avLst/>
          </a:prstGeom>
          <a:noFill/>
          <a:ln>
            <a:noFill/>
          </a:ln>
        </p:spPr>
        <p:txBody>
          <a:bodyPr wrap="square" lIns="0" tIns="0" rIns="0" bIns="0" rtlCol="0" anchor="ctr">
            <a:noAutofit/>
          </a:bodyPr>
          <a:lstStyle/>
          <a:p>
            <a:pPr algn="l" marL="0" indent="0">
              <a:buNone/>
            </a:pPr>
            <a:r>
              <a:rPr lang="en-US" sz="1100" b="1" spc="150" dirty="0">
                <a:solidFill>
                  <a:schemeClr val="accent6"/>
                </a:solidFill>
              </a:rPr>
              <a:t>OPTION</a:t>
            </a:r>
            <a:endParaRPr lang="en-US" sz="1100" dirty="0"/>
          </a:p>
        </p:txBody>
      </p:sp>
      <p:sp>
        <p:nvSpPr>
          <p:cNvPr id="10" name="th1"/>
          <p:cNvSpPr txBox="1"/>
          <p:nvPr/>
        </p:nvSpPr>
        <p:spPr>
          <a:xfrm>
            <a:off x="3383280" y="2121408"/>
            <a:ext cx="1600200" cy="320040"/>
          </a:xfrm>
          <a:prstGeom prst="rect">
            <a:avLst/>
          </a:prstGeom>
          <a:noFill/>
          <a:ln>
            <a:noFill/>
          </a:ln>
        </p:spPr>
        <p:txBody>
          <a:bodyPr wrap="square" lIns="0" tIns="0" rIns="0" bIns="0" rtlCol="0" anchor="ctr">
            <a:noAutofit/>
          </a:bodyPr>
          <a:lstStyle/>
          <a:p>
            <a:pPr algn="l" marL="0" indent="0">
              <a:buNone/>
            </a:pPr>
            <a:r>
              <a:rPr lang="en-US" sz="1100" b="1" spc="150" dirty="0">
                <a:solidFill>
                  <a:schemeClr val="accent6"/>
                </a:solidFill>
              </a:rPr>
              <a:t>INSTANT?</a:t>
            </a:r>
            <a:endParaRPr lang="en-US" sz="1100" dirty="0"/>
          </a:p>
        </p:txBody>
      </p:sp>
      <p:sp>
        <p:nvSpPr>
          <p:cNvPr id="11" name="th2"/>
          <p:cNvSpPr txBox="1"/>
          <p:nvPr/>
        </p:nvSpPr>
        <p:spPr>
          <a:xfrm>
            <a:off x="5074920" y="2121408"/>
            <a:ext cx="1600200" cy="320040"/>
          </a:xfrm>
          <a:prstGeom prst="rect">
            <a:avLst/>
          </a:prstGeom>
          <a:noFill/>
          <a:ln>
            <a:noFill/>
          </a:ln>
        </p:spPr>
        <p:txBody>
          <a:bodyPr wrap="square" lIns="0" tIns="0" rIns="0" bIns="0" rtlCol="0" anchor="ctr">
            <a:noAutofit/>
          </a:bodyPr>
          <a:lstStyle/>
          <a:p>
            <a:pPr algn="l" marL="0" indent="0">
              <a:buNone/>
            </a:pPr>
            <a:r>
              <a:rPr lang="en-US" sz="1100" b="1" spc="150" dirty="0">
                <a:solidFill>
                  <a:schemeClr val="accent6"/>
                </a:solidFill>
              </a:rPr>
              <a:t>LIVE DRAWING?</a:t>
            </a:r>
            <a:endParaRPr lang="en-US" sz="1100" dirty="0"/>
          </a:p>
        </p:txBody>
      </p:sp>
      <p:sp>
        <p:nvSpPr>
          <p:cNvPr id="12" name="th3"/>
          <p:cNvSpPr txBox="1"/>
          <p:nvPr/>
        </p:nvSpPr>
        <p:spPr>
          <a:xfrm>
            <a:off x="6766560" y="2121408"/>
            <a:ext cx="1691640" cy="320040"/>
          </a:xfrm>
          <a:prstGeom prst="rect">
            <a:avLst/>
          </a:prstGeom>
          <a:noFill/>
          <a:ln>
            <a:noFill/>
          </a:ln>
        </p:spPr>
        <p:txBody>
          <a:bodyPr wrap="square" lIns="0" tIns="0" rIns="0" bIns="0" rtlCol="0" anchor="ctr">
            <a:noAutofit/>
          </a:bodyPr>
          <a:lstStyle/>
          <a:p>
            <a:pPr algn="l" marL="0" indent="0">
              <a:buNone/>
            </a:pPr>
            <a:r>
              <a:rPr lang="en-US" sz="1100" b="1" spc="150" dirty="0">
                <a:solidFill>
                  <a:schemeClr val="accent6"/>
                </a:solidFill>
              </a:rPr>
              <a:t>FROM YOUR BOOK?</a:t>
            </a:r>
            <a:endParaRPr lang="en-US" sz="1100" dirty="0"/>
          </a:p>
        </p:txBody>
      </p:sp>
      <p:sp>
        <p:nvSpPr>
          <p:cNvPr id="13" name="th4"/>
          <p:cNvSpPr txBox="1"/>
          <p:nvPr/>
        </p:nvSpPr>
        <p:spPr>
          <a:xfrm>
            <a:off x="8549640" y="2121408"/>
            <a:ext cx="1600200" cy="320040"/>
          </a:xfrm>
          <a:prstGeom prst="rect">
            <a:avLst/>
          </a:prstGeom>
          <a:noFill/>
          <a:ln>
            <a:noFill/>
          </a:ln>
        </p:spPr>
        <p:txBody>
          <a:bodyPr wrap="square" lIns="0" tIns="0" rIns="0" bIns="0" rtlCol="0" anchor="ctr">
            <a:noAutofit/>
          </a:bodyPr>
          <a:lstStyle/>
          <a:p>
            <a:pPr algn="l" marL="0" indent="0">
              <a:buNone/>
            </a:pPr>
            <a:r>
              <a:rPr lang="en-US" sz="1100" b="1" spc="150" dirty="0">
                <a:solidFill>
                  <a:schemeClr val="accent6"/>
                </a:solidFill>
              </a:rPr>
              <a:t>ANSWERS DOUBTS?</a:t>
            </a:r>
            <a:endParaRPr lang="en-US" sz="1100" dirty="0"/>
          </a:p>
        </p:txBody>
      </p:sp>
      <p:sp>
        <p:nvSpPr>
          <p:cNvPr id="14" name="th5"/>
          <p:cNvSpPr txBox="1"/>
          <p:nvPr/>
        </p:nvSpPr>
        <p:spPr>
          <a:xfrm>
            <a:off x="10241280" y="2121408"/>
            <a:ext cx="1417320" cy="320040"/>
          </a:xfrm>
          <a:prstGeom prst="rect">
            <a:avLst/>
          </a:prstGeom>
          <a:noFill/>
          <a:ln>
            <a:noFill/>
          </a:ln>
        </p:spPr>
        <p:txBody>
          <a:bodyPr wrap="square" lIns="0" tIns="0" rIns="0" bIns="0" rtlCol="0" anchor="ctr">
            <a:noAutofit/>
          </a:bodyPr>
          <a:lstStyle/>
          <a:p>
            <a:pPr algn="l" marL="0" indent="0">
              <a:buNone/>
            </a:pPr>
            <a:r>
              <a:rPr lang="en-US" sz="1100" b="1" spc="150" dirty="0">
                <a:solidFill>
                  <a:schemeClr val="accent6"/>
                </a:solidFill>
              </a:rPr>
              <a:t>TRUSTWORTHY?</a:t>
            </a:r>
            <a:endParaRPr lang="en-US" sz="1100" dirty="0"/>
          </a:p>
        </p:txBody>
      </p:sp>
      <p:cxnSp>
        <p:nvCxnSpPr>
          <p:cNvPr id="15" name="rule0"/>
          <p:cNvCxnSpPr/>
          <p:nvPr/>
        </p:nvCxnSpPr>
        <p:spPr>
          <a:xfrm>
            <a:off x="868680" y="3026664"/>
            <a:ext cx="10454335" cy="0"/>
          </a:xfrm>
          <a:prstGeom prst="line">
            <a:avLst/>
          </a:prstGeom>
          <a:ln w="9525">
            <a:solidFill>
              <a:schemeClr val="accent6">
                <a:alpha val="20000"/>
              </a:schemeClr>
            </a:solidFill>
          </a:ln>
        </p:spPr>
      </p:cxnSp>
      <p:sp>
        <p:nvSpPr>
          <p:cNvPr id="16" name="r0c0"/>
          <p:cNvSpPr txBox="1"/>
          <p:nvPr/>
        </p:nvSpPr>
        <p:spPr>
          <a:xfrm>
            <a:off x="868680" y="2514600"/>
            <a:ext cx="2423160" cy="502920"/>
          </a:xfrm>
          <a:prstGeom prst="rect">
            <a:avLst/>
          </a:prstGeom>
          <a:noFill/>
          <a:ln>
            <a:noFill/>
          </a:ln>
        </p:spPr>
        <p:txBody>
          <a:bodyPr wrap="square" lIns="0" tIns="0" rIns="0" bIns="0" rtlCol="0" anchor="ctr">
            <a:noAutofit/>
          </a:bodyPr>
          <a:lstStyle/>
          <a:p>
            <a:pPr algn="l" marL="0" indent="0">
              <a:buNone/>
            </a:pPr>
            <a:r>
              <a:rPr lang="en-US" sz="1500" dirty="0">
                <a:solidFill>
                  <a:schemeClr val="bg1"/>
                </a:solidFill>
              </a:rPr>
              <a:t>Text AI chatbots</a:t>
            </a:r>
            <a:endParaRPr lang="en-US" sz="1500" dirty="0"/>
          </a:p>
        </p:txBody>
      </p:sp>
      <p:sp>
        <p:nvSpPr>
          <p:cNvPr id="17" name="r0c1"/>
          <p:cNvSpPr txBox="1"/>
          <p:nvPr/>
        </p:nvSpPr>
        <p:spPr>
          <a:xfrm>
            <a:off x="3383280" y="2514600"/>
            <a:ext cx="1600200" cy="502920"/>
          </a:xfrm>
          <a:prstGeom prst="rect">
            <a:avLst/>
          </a:prstGeom>
          <a:noFill/>
          <a:ln>
            <a:noFill/>
          </a:ln>
        </p:spPr>
        <p:txBody>
          <a:bodyPr wrap="square" lIns="0" tIns="0" rIns="0" bIns="0" rtlCol="0" anchor="ctr">
            <a:noAutofit/>
          </a:bodyPr>
          <a:lstStyle/>
          <a:p>
            <a:pPr algn="l" marL="0" indent="0">
              <a:buNone/>
            </a:pPr>
            <a:r>
              <a:rPr lang="en-US" sz="1500" b="1" dirty="0">
                <a:solidFill>
                  <a:schemeClr val="accent5"/>
                </a:solidFill>
              </a:rPr>
              <a:t>✔</a:t>
            </a:r>
            <a:endParaRPr lang="en-US" sz="1500" dirty="0"/>
          </a:p>
        </p:txBody>
      </p:sp>
      <p:sp>
        <p:nvSpPr>
          <p:cNvPr id="18" name="r0c2"/>
          <p:cNvSpPr txBox="1"/>
          <p:nvPr/>
        </p:nvSpPr>
        <p:spPr>
          <a:xfrm>
            <a:off x="5074920" y="2514600"/>
            <a:ext cx="1600200" cy="502920"/>
          </a:xfrm>
          <a:prstGeom prst="rect">
            <a:avLst/>
          </a:prstGeom>
          <a:noFill/>
          <a:ln>
            <a:noFill/>
          </a:ln>
        </p:spPr>
        <p:txBody>
          <a:bodyPr wrap="square" lIns="0" tIns="0" rIns="0" bIns="0" rtlCol="0" anchor="ctr">
            <a:noAutofit/>
          </a:bodyPr>
          <a:lstStyle/>
          <a:p>
            <a:pPr algn="l" marL="0" indent="0">
              <a:buNone/>
            </a:pPr>
            <a:r>
              <a:rPr lang="en-US" sz="1500" b="1" dirty="0">
                <a:solidFill>
                  <a:schemeClr val="accent3"/>
                </a:solidFill>
              </a:rPr>
              <a:t>✖  </a:t>
            </a:r>
            <a:r>
              <a:rPr lang="en-US" sz="1300" dirty="0">
                <a:solidFill>
                  <a:schemeClr val="accent3"/>
                </a:solidFill>
              </a:rPr>
              <a:t>wall of text</a:t>
            </a:r>
            <a:endParaRPr lang="en-US" sz="1500" dirty="0"/>
          </a:p>
        </p:txBody>
      </p:sp>
      <p:sp>
        <p:nvSpPr>
          <p:cNvPr id="19" name="r0c3"/>
          <p:cNvSpPr txBox="1"/>
          <p:nvPr/>
        </p:nvSpPr>
        <p:spPr>
          <a:xfrm>
            <a:off x="6766560" y="2514600"/>
            <a:ext cx="1691640" cy="502920"/>
          </a:xfrm>
          <a:prstGeom prst="rect">
            <a:avLst/>
          </a:prstGeom>
          <a:noFill/>
          <a:ln>
            <a:noFill/>
          </a:ln>
        </p:spPr>
        <p:txBody>
          <a:bodyPr wrap="square" lIns="0" tIns="0" rIns="0" bIns="0" rtlCol="0" anchor="ctr">
            <a:noAutofit/>
          </a:bodyPr>
          <a:lstStyle/>
          <a:p>
            <a:pPr algn="l" marL="0" indent="0">
              <a:buNone/>
            </a:pPr>
            <a:r>
              <a:rPr lang="en-US" sz="1500" b="1" dirty="0">
                <a:solidFill>
                  <a:schemeClr val="accent3"/>
                </a:solidFill>
              </a:rPr>
              <a:t>✖</a:t>
            </a:r>
            <a:endParaRPr lang="en-US" sz="1500" dirty="0"/>
          </a:p>
        </p:txBody>
      </p:sp>
      <p:sp>
        <p:nvSpPr>
          <p:cNvPr id="20" name="r0c4"/>
          <p:cNvSpPr txBox="1"/>
          <p:nvPr/>
        </p:nvSpPr>
        <p:spPr>
          <a:xfrm>
            <a:off x="8549640" y="2514600"/>
            <a:ext cx="1600200" cy="502920"/>
          </a:xfrm>
          <a:prstGeom prst="rect">
            <a:avLst/>
          </a:prstGeom>
          <a:noFill/>
          <a:ln>
            <a:noFill/>
          </a:ln>
        </p:spPr>
        <p:txBody>
          <a:bodyPr wrap="square" lIns="0" tIns="0" rIns="0" bIns="0" rtlCol="0" anchor="ctr">
            <a:noAutofit/>
          </a:bodyPr>
          <a:lstStyle/>
          <a:p>
            <a:pPr algn="l" marL="0" indent="0">
              <a:buNone/>
            </a:pPr>
            <a:r>
              <a:rPr lang="en-US" sz="1500" b="1" dirty="0">
                <a:solidFill>
                  <a:schemeClr val="accent4"/>
                </a:solidFill>
              </a:rPr>
              <a:t>~  </a:t>
            </a:r>
            <a:r>
              <a:rPr lang="en-US" sz="1300" dirty="0">
                <a:solidFill>
                  <a:schemeClr val="accent4"/>
                </a:solidFill>
              </a:rPr>
              <a:t>generic</a:t>
            </a:r>
            <a:endParaRPr lang="en-US" sz="1500" dirty="0"/>
          </a:p>
        </p:txBody>
      </p:sp>
      <p:sp>
        <p:nvSpPr>
          <p:cNvPr id="21" name="r0c5"/>
          <p:cNvSpPr txBox="1"/>
          <p:nvPr/>
        </p:nvSpPr>
        <p:spPr>
          <a:xfrm>
            <a:off x="10241280" y="2514600"/>
            <a:ext cx="1417320" cy="502920"/>
          </a:xfrm>
          <a:prstGeom prst="rect">
            <a:avLst/>
          </a:prstGeom>
          <a:noFill/>
          <a:ln>
            <a:noFill/>
          </a:ln>
        </p:spPr>
        <p:txBody>
          <a:bodyPr wrap="square" lIns="0" tIns="0" rIns="0" bIns="0" rtlCol="0" anchor="ctr">
            <a:noAutofit/>
          </a:bodyPr>
          <a:lstStyle/>
          <a:p>
            <a:pPr algn="l" marL="0" indent="0">
              <a:buNone/>
            </a:pPr>
            <a:r>
              <a:rPr lang="en-US" sz="1500" b="1" dirty="0">
                <a:solidFill>
                  <a:schemeClr val="accent4"/>
                </a:solidFill>
              </a:rPr>
              <a:t>~  </a:t>
            </a:r>
            <a:r>
              <a:rPr lang="en-US" sz="1300" dirty="0">
                <a:solidFill>
                  <a:schemeClr val="accent4"/>
                </a:solidFill>
              </a:rPr>
              <a:t>can be wrong</a:t>
            </a:r>
            <a:endParaRPr lang="en-US" sz="1500" dirty="0"/>
          </a:p>
        </p:txBody>
      </p:sp>
      <p:cxnSp>
        <p:nvCxnSpPr>
          <p:cNvPr id="22" name="rule1"/>
          <p:cNvCxnSpPr/>
          <p:nvPr/>
        </p:nvCxnSpPr>
        <p:spPr>
          <a:xfrm>
            <a:off x="868680" y="3575304"/>
            <a:ext cx="10454335" cy="0"/>
          </a:xfrm>
          <a:prstGeom prst="line">
            <a:avLst/>
          </a:prstGeom>
          <a:ln w="9525">
            <a:solidFill>
              <a:schemeClr val="accent6">
                <a:alpha val="20000"/>
              </a:schemeClr>
            </a:solidFill>
          </a:ln>
        </p:spPr>
      </p:cxnSp>
      <p:sp>
        <p:nvSpPr>
          <p:cNvPr id="23" name="r1c0"/>
          <p:cNvSpPr txBox="1"/>
          <p:nvPr/>
        </p:nvSpPr>
        <p:spPr>
          <a:xfrm>
            <a:off x="868680" y="3063240"/>
            <a:ext cx="2423160" cy="502920"/>
          </a:xfrm>
          <a:prstGeom prst="rect">
            <a:avLst/>
          </a:prstGeom>
          <a:noFill/>
          <a:ln>
            <a:noFill/>
          </a:ln>
        </p:spPr>
        <p:txBody>
          <a:bodyPr wrap="square" lIns="0" tIns="0" rIns="0" bIns="0" rtlCol="0" anchor="ctr">
            <a:noAutofit/>
          </a:bodyPr>
          <a:lstStyle/>
          <a:p>
            <a:pPr algn="l" marL="0" indent="0">
              <a:buNone/>
            </a:pPr>
            <a:r>
              <a:rPr lang="en-US" sz="1500" dirty="0">
                <a:solidFill>
                  <a:schemeClr val="bg1"/>
                </a:solidFill>
              </a:rPr>
              <a:t>Online videos</a:t>
            </a:r>
            <a:endParaRPr lang="en-US" sz="1500" dirty="0"/>
          </a:p>
        </p:txBody>
      </p:sp>
      <p:sp>
        <p:nvSpPr>
          <p:cNvPr id="24" name="r1c1"/>
          <p:cNvSpPr txBox="1"/>
          <p:nvPr/>
        </p:nvSpPr>
        <p:spPr>
          <a:xfrm>
            <a:off x="3383280" y="3063240"/>
            <a:ext cx="1600200" cy="502920"/>
          </a:xfrm>
          <a:prstGeom prst="rect">
            <a:avLst/>
          </a:prstGeom>
          <a:noFill/>
          <a:ln>
            <a:noFill/>
          </a:ln>
        </p:spPr>
        <p:txBody>
          <a:bodyPr wrap="square" lIns="0" tIns="0" rIns="0" bIns="0" rtlCol="0" anchor="ctr">
            <a:noAutofit/>
          </a:bodyPr>
          <a:lstStyle/>
          <a:p>
            <a:pPr algn="l" marL="0" indent="0">
              <a:buNone/>
            </a:pPr>
            <a:r>
              <a:rPr lang="en-US" sz="1500" b="1" dirty="0">
                <a:solidFill>
                  <a:schemeClr val="accent3"/>
                </a:solidFill>
              </a:rPr>
              <a:t>✖  </a:t>
            </a:r>
            <a:r>
              <a:rPr lang="en-US" sz="1300" dirty="0">
                <a:solidFill>
                  <a:schemeClr val="accent3"/>
                </a:solidFill>
              </a:rPr>
              <a:t>search first</a:t>
            </a:r>
            <a:endParaRPr lang="en-US" sz="1500" dirty="0"/>
          </a:p>
        </p:txBody>
      </p:sp>
      <p:sp>
        <p:nvSpPr>
          <p:cNvPr id="25" name="r1c2"/>
          <p:cNvSpPr txBox="1"/>
          <p:nvPr/>
        </p:nvSpPr>
        <p:spPr>
          <a:xfrm>
            <a:off x="5074920" y="3063240"/>
            <a:ext cx="1600200" cy="502920"/>
          </a:xfrm>
          <a:prstGeom prst="rect">
            <a:avLst/>
          </a:prstGeom>
          <a:noFill/>
          <a:ln>
            <a:noFill/>
          </a:ln>
        </p:spPr>
        <p:txBody>
          <a:bodyPr wrap="square" lIns="0" tIns="0" rIns="0" bIns="0" rtlCol="0" anchor="ctr">
            <a:noAutofit/>
          </a:bodyPr>
          <a:lstStyle/>
          <a:p>
            <a:pPr algn="l" marL="0" indent="0">
              <a:buNone/>
            </a:pPr>
            <a:r>
              <a:rPr lang="en-US" sz="1500" b="1" dirty="0">
                <a:solidFill>
                  <a:schemeClr val="accent5"/>
                </a:solidFill>
              </a:rPr>
              <a:t>✔  </a:t>
            </a:r>
            <a:r>
              <a:rPr lang="en-US" sz="1300" dirty="0">
                <a:solidFill>
                  <a:schemeClr val="accent5"/>
                </a:solidFill>
              </a:rPr>
              <a:t>pre-made</a:t>
            </a:r>
            <a:endParaRPr lang="en-US" sz="1500" dirty="0"/>
          </a:p>
        </p:txBody>
      </p:sp>
      <p:sp>
        <p:nvSpPr>
          <p:cNvPr id="26" name="r1c3"/>
          <p:cNvSpPr txBox="1"/>
          <p:nvPr/>
        </p:nvSpPr>
        <p:spPr>
          <a:xfrm>
            <a:off x="6766560" y="3063240"/>
            <a:ext cx="1691640" cy="502920"/>
          </a:xfrm>
          <a:prstGeom prst="rect">
            <a:avLst/>
          </a:prstGeom>
          <a:noFill/>
          <a:ln>
            <a:noFill/>
          </a:ln>
        </p:spPr>
        <p:txBody>
          <a:bodyPr wrap="square" lIns="0" tIns="0" rIns="0" bIns="0" rtlCol="0" anchor="ctr">
            <a:noAutofit/>
          </a:bodyPr>
          <a:lstStyle/>
          <a:p>
            <a:pPr algn="l" marL="0" indent="0">
              <a:buNone/>
            </a:pPr>
            <a:r>
              <a:rPr lang="en-US" sz="1500" b="1" dirty="0">
                <a:solidFill>
                  <a:schemeClr val="accent3"/>
                </a:solidFill>
              </a:rPr>
              <a:t>✖  </a:t>
            </a:r>
            <a:r>
              <a:rPr lang="en-US" sz="1300" dirty="0">
                <a:solidFill>
                  <a:schemeClr val="accent3"/>
                </a:solidFill>
              </a:rPr>
              <a:t>not your syllabus</a:t>
            </a:r>
            <a:endParaRPr lang="en-US" sz="1500" dirty="0"/>
          </a:p>
        </p:txBody>
      </p:sp>
      <p:sp>
        <p:nvSpPr>
          <p:cNvPr id="27" name="r1c4"/>
          <p:cNvSpPr txBox="1"/>
          <p:nvPr/>
        </p:nvSpPr>
        <p:spPr>
          <a:xfrm>
            <a:off x="8549640" y="3063240"/>
            <a:ext cx="1600200" cy="502920"/>
          </a:xfrm>
          <a:prstGeom prst="rect">
            <a:avLst/>
          </a:prstGeom>
          <a:noFill/>
          <a:ln>
            <a:noFill/>
          </a:ln>
        </p:spPr>
        <p:txBody>
          <a:bodyPr wrap="square" lIns="0" tIns="0" rIns="0" bIns="0" rtlCol="0" anchor="ctr">
            <a:noAutofit/>
          </a:bodyPr>
          <a:lstStyle/>
          <a:p>
            <a:pPr algn="l" marL="0" indent="0">
              <a:buNone/>
            </a:pPr>
            <a:r>
              <a:rPr lang="en-US" sz="1500" b="1" dirty="0">
                <a:solidFill>
                  <a:schemeClr val="accent3"/>
                </a:solidFill>
              </a:rPr>
              <a:t>✖  </a:t>
            </a:r>
            <a:r>
              <a:rPr lang="en-US" sz="1300" dirty="0">
                <a:solidFill>
                  <a:schemeClr val="accent3"/>
                </a:solidFill>
              </a:rPr>
              <a:t>can't ask</a:t>
            </a:r>
            <a:endParaRPr lang="en-US" sz="1500" dirty="0"/>
          </a:p>
        </p:txBody>
      </p:sp>
      <p:sp>
        <p:nvSpPr>
          <p:cNvPr id="28" name="r1c5"/>
          <p:cNvSpPr txBox="1"/>
          <p:nvPr/>
        </p:nvSpPr>
        <p:spPr>
          <a:xfrm>
            <a:off x="10241280" y="3063240"/>
            <a:ext cx="1417320" cy="502920"/>
          </a:xfrm>
          <a:prstGeom prst="rect">
            <a:avLst/>
          </a:prstGeom>
          <a:noFill/>
          <a:ln>
            <a:noFill/>
          </a:ln>
        </p:spPr>
        <p:txBody>
          <a:bodyPr wrap="square" lIns="0" tIns="0" rIns="0" bIns="0" rtlCol="0" anchor="ctr">
            <a:noAutofit/>
          </a:bodyPr>
          <a:lstStyle/>
          <a:p>
            <a:pPr algn="l" marL="0" indent="0">
              <a:buNone/>
            </a:pPr>
            <a:r>
              <a:rPr lang="en-US" sz="1500" b="1" dirty="0">
                <a:solidFill>
                  <a:schemeClr val="accent4"/>
                </a:solidFill>
              </a:rPr>
              <a:t>~  </a:t>
            </a:r>
            <a:r>
              <a:rPr lang="en-US" sz="1300" dirty="0">
                <a:solidFill>
                  <a:schemeClr val="accent4"/>
                </a:solidFill>
              </a:rPr>
              <a:t>varies</a:t>
            </a:r>
            <a:endParaRPr lang="en-US" sz="1500" dirty="0"/>
          </a:p>
        </p:txBody>
      </p:sp>
      <p:cxnSp>
        <p:nvCxnSpPr>
          <p:cNvPr id="29" name="rule2"/>
          <p:cNvCxnSpPr/>
          <p:nvPr/>
        </p:nvCxnSpPr>
        <p:spPr>
          <a:xfrm>
            <a:off x="868680" y="4123944"/>
            <a:ext cx="10454335" cy="0"/>
          </a:xfrm>
          <a:prstGeom prst="line">
            <a:avLst/>
          </a:prstGeom>
          <a:ln w="9525">
            <a:solidFill>
              <a:schemeClr val="accent6">
                <a:alpha val="20000"/>
              </a:schemeClr>
            </a:solidFill>
          </a:ln>
        </p:spPr>
      </p:cxnSp>
      <p:sp>
        <p:nvSpPr>
          <p:cNvPr id="30" name="r2c0"/>
          <p:cNvSpPr txBox="1"/>
          <p:nvPr/>
        </p:nvSpPr>
        <p:spPr>
          <a:xfrm>
            <a:off x="868680" y="3611880"/>
            <a:ext cx="2423160" cy="502920"/>
          </a:xfrm>
          <a:prstGeom prst="rect">
            <a:avLst/>
          </a:prstGeom>
          <a:noFill/>
          <a:ln>
            <a:noFill/>
          </a:ln>
        </p:spPr>
        <p:txBody>
          <a:bodyPr wrap="square" lIns="0" tIns="0" rIns="0" bIns="0" rtlCol="0" anchor="ctr">
            <a:noAutofit/>
          </a:bodyPr>
          <a:lstStyle/>
          <a:p>
            <a:pPr algn="l" marL="0" indent="0">
              <a:buNone/>
            </a:pPr>
            <a:r>
              <a:rPr lang="en-US" sz="1500" dirty="0">
                <a:solidFill>
                  <a:schemeClr val="bg1"/>
                </a:solidFill>
              </a:rPr>
              <a:t>NotebookLM</a:t>
            </a:r>
            <a:endParaRPr lang="en-US" sz="1500" dirty="0"/>
          </a:p>
        </p:txBody>
      </p:sp>
      <p:sp>
        <p:nvSpPr>
          <p:cNvPr id="31" name="r2c1"/>
          <p:cNvSpPr txBox="1"/>
          <p:nvPr/>
        </p:nvSpPr>
        <p:spPr>
          <a:xfrm>
            <a:off x="3383280" y="3611880"/>
            <a:ext cx="1600200" cy="502920"/>
          </a:xfrm>
          <a:prstGeom prst="rect">
            <a:avLst/>
          </a:prstGeom>
          <a:noFill/>
          <a:ln>
            <a:noFill/>
          </a:ln>
        </p:spPr>
        <p:txBody>
          <a:bodyPr wrap="square" lIns="0" tIns="0" rIns="0" bIns="0" rtlCol="0" anchor="ctr">
            <a:noAutofit/>
          </a:bodyPr>
          <a:lstStyle/>
          <a:p>
            <a:pPr algn="l" marL="0" indent="0">
              <a:buNone/>
            </a:pPr>
            <a:r>
              <a:rPr lang="en-US" sz="1500" b="1" dirty="0">
                <a:solidFill>
                  <a:schemeClr val="accent4"/>
                </a:solidFill>
              </a:rPr>
              <a:t>~  </a:t>
            </a:r>
            <a:r>
              <a:rPr lang="en-US" sz="1300" dirty="0">
                <a:solidFill>
                  <a:schemeClr val="accent4"/>
                </a:solidFill>
              </a:rPr>
              <a:t>minutes to render</a:t>
            </a:r>
            <a:endParaRPr lang="en-US" sz="1500" dirty="0"/>
          </a:p>
        </p:txBody>
      </p:sp>
      <p:sp>
        <p:nvSpPr>
          <p:cNvPr id="32" name="r2c2"/>
          <p:cNvSpPr txBox="1"/>
          <p:nvPr/>
        </p:nvSpPr>
        <p:spPr>
          <a:xfrm>
            <a:off x="5074920" y="3611880"/>
            <a:ext cx="1600200" cy="502920"/>
          </a:xfrm>
          <a:prstGeom prst="rect">
            <a:avLst/>
          </a:prstGeom>
          <a:noFill/>
          <a:ln>
            <a:noFill/>
          </a:ln>
        </p:spPr>
        <p:txBody>
          <a:bodyPr wrap="square" lIns="0" tIns="0" rIns="0" bIns="0" rtlCol="0" anchor="ctr">
            <a:noAutofit/>
          </a:bodyPr>
          <a:lstStyle/>
          <a:p>
            <a:pPr algn="l" marL="0" indent="0">
              <a:buNone/>
            </a:pPr>
            <a:r>
              <a:rPr lang="en-US" sz="1500" b="1" dirty="0">
                <a:solidFill>
                  <a:schemeClr val="accent4"/>
                </a:solidFill>
              </a:rPr>
              <a:t>~  </a:t>
            </a:r>
            <a:r>
              <a:rPr lang="en-US" sz="1300" dirty="0">
                <a:solidFill>
                  <a:schemeClr val="accent4"/>
                </a:solidFill>
              </a:rPr>
              <a:t>narrated slides</a:t>
            </a:r>
            <a:endParaRPr lang="en-US" sz="1500" dirty="0"/>
          </a:p>
        </p:txBody>
      </p:sp>
      <p:sp>
        <p:nvSpPr>
          <p:cNvPr id="33" name="r2c3"/>
          <p:cNvSpPr txBox="1"/>
          <p:nvPr/>
        </p:nvSpPr>
        <p:spPr>
          <a:xfrm>
            <a:off x="6766560" y="3611880"/>
            <a:ext cx="1691640" cy="502920"/>
          </a:xfrm>
          <a:prstGeom prst="rect">
            <a:avLst/>
          </a:prstGeom>
          <a:noFill/>
          <a:ln>
            <a:noFill/>
          </a:ln>
        </p:spPr>
        <p:txBody>
          <a:bodyPr wrap="square" lIns="0" tIns="0" rIns="0" bIns="0" rtlCol="0" anchor="ctr">
            <a:noAutofit/>
          </a:bodyPr>
          <a:lstStyle/>
          <a:p>
            <a:pPr algn="l" marL="0" indent="0">
              <a:buNone/>
            </a:pPr>
            <a:r>
              <a:rPr lang="en-US" sz="1500" b="1" dirty="0">
                <a:solidFill>
                  <a:schemeClr val="accent5"/>
                </a:solidFill>
              </a:rPr>
              <a:t>✔  </a:t>
            </a:r>
            <a:r>
              <a:rPr lang="en-US" sz="1300" dirty="0">
                <a:solidFill>
                  <a:schemeClr val="accent5"/>
                </a:solidFill>
              </a:rPr>
              <a:t>your sources</a:t>
            </a:r>
            <a:endParaRPr lang="en-US" sz="1500" dirty="0"/>
          </a:p>
        </p:txBody>
      </p:sp>
      <p:sp>
        <p:nvSpPr>
          <p:cNvPr id="34" name="r2c4"/>
          <p:cNvSpPr txBox="1"/>
          <p:nvPr/>
        </p:nvSpPr>
        <p:spPr>
          <a:xfrm>
            <a:off x="8549640" y="3611880"/>
            <a:ext cx="1600200" cy="502920"/>
          </a:xfrm>
          <a:prstGeom prst="rect">
            <a:avLst/>
          </a:prstGeom>
          <a:noFill/>
          <a:ln>
            <a:noFill/>
          </a:ln>
        </p:spPr>
        <p:txBody>
          <a:bodyPr wrap="square" lIns="0" tIns="0" rIns="0" bIns="0" rtlCol="0" anchor="ctr">
            <a:noAutofit/>
          </a:bodyPr>
          <a:lstStyle/>
          <a:p>
            <a:pPr algn="l" marL="0" indent="0">
              <a:buNone/>
            </a:pPr>
            <a:r>
              <a:rPr lang="en-US" sz="1500" b="1" dirty="0">
                <a:solidFill>
                  <a:schemeClr val="accent4"/>
                </a:solidFill>
              </a:rPr>
              <a:t>~  </a:t>
            </a:r>
            <a:r>
              <a:rPr lang="en-US" sz="1300" dirty="0">
                <a:solidFill>
                  <a:schemeClr val="accent4"/>
                </a:solidFill>
              </a:rPr>
              <a:t>chat, not mid-video</a:t>
            </a:r>
            <a:endParaRPr lang="en-US" sz="1500" dirty="0"/>
          </a:p>
        </p:txBody>
      </p:sp>
      <p:sp>
        <p:nvSpPr>
          <p:cNvPr id="35" name="r2c5"/>
          <p:cNvSpPr txBox="1"/>
          <p:nvPr/>
        </p:nvSpPr>
        <p:spPr>
          <a:xfrm>
            <a:off x="10241280" y="3611880"/>
            <a:ext cx="1417320" cy="502920"/>
          </a:xfrm>
          <a:prstGeom prst="rect">
            <a:avLst/>
          </a:prstGeom>
          <a:noFill/>
          <a:ln>
            <a:noFill/>
          </a:ln>
        </p:spPr>
        <p:txBody>
          <a:bodyPr wrap="square" lIns="0" tIns="0" rIns="0" bIns="0" rtlCol="0" anchor="ctr">
            <a:noAutofit/>
          </a:bodyPr>
          <a:lstStyle/>
          <a:p>
            <a:pPr algn="l" marL="0" indent="0">
              <a:buNone/>
            </a:pPr>
            <a:r>
              <a:rPr lang="en-US" sz="1500" b="1" dirty="0">
                <a:solidFill>
                  <a:schemeClr val="accent4"/>
                </a:solidFill>
              </a:rPr>
              <a:t>~  </a:t>
            </a:r>
            <a:r>
              <a:rPr lang="en-US" sz="1300" dirty="0">
                <a:solidFill>
                  <a:schemeClr val="accent4"/>
                </a:solidFill>
              </a:rPr>
              <a:t>not computed</a:t>
            </a:r>
            <a:endParaRPr lang="en-US" sz="1500" dirty="0"/>
          </a:p>
        </p:txBody>
      </p:sp>
      <p:cxnSp>
        <p:nvCxnSpPr>
          <p:cNvPr id="36" name="rule3"/>
          <p:cNvCxnSpPr/>
          <p:nvPr/>
        </p:nvCxnSpPr>
        <p:spPr>
          <a:xfrm>
            <a:off x="868680" y="4672584"/>
            <a:ext cx="10454335" cy="0"/>
          </a:xfrm>
          <a:prstGeom prst="line">
            <a:avLst/>
          </a:prstGeom>
          <a:ln w="9525">
            <a:solidFill>
              <a:schemeClr val="accent6">
                <a:alpha val="20000"/>
              </a:schemeClr>
            </a:solidFill>
          </a:ln>
        </p:spPr>
      </p:cxnSp>
      <p:sp>
        <p:nvSpPr>
          <p:cNvPr id="37" name="r3c0"/>
          <p:cNvSpPr txBox="1"/>
          <p:nvPr/>
        </p:nvSpPr>
        <p:spPr>
          <a:xfrm>
            <a:off x="868680" y="4160520"/>
            <a:ext cx="2423160" cy="502920"/>
          </a:xfrm>
          <a:prstGeom prst="rect">
            <a:avLst/>
          </a:prstGeom>
          <a:noFill/>
          <a:ln>
            <a:noFill/>
          </a:ln>
        </p:spPr>
        <p:txBody>
          <a:bodyPr wrap="square" lIns="0" tIns="0" rIns="0" bIns="0" rtlCol="0" anchor="ctr">
            <a:noAutofit/>
          </a:bodyPr>
          <a:lstStyle/>
          <a:p>
            <a:pPr algn="l" marL="0" indent="0">
              <a:buNone/>
            </a:pPr>
            <a:r>
              <a:rPr lang="en-US" sz="1500" dirty="0">
                <a:solidFill>
                  <a:schemeClr val="bg1"/>
                </a:solidFill>
              </a:rPr>
              <a:t>Coaching / tutors</a:t>
            </a:r>
            <a:endParaRPr lang="en-US" sz="1500" dirty="0"/>
          </a:p>
        </p:txBody>
      </p:sp>
      <p:sp>
        <p:nvSpPr>
          <p:cNvPr id="38" name="r3c1"/>
          <p:cNvSpPr txBox="1"/>
          <p:nvPr/>
        </p:nvSpPr>
        <p:spPr>
          <a:xfrm>
            <a:off x="3383280" y="4160520"/>
            <a:ext cx="1600200" cy="502920"/>
          </a:xfrm>
          <a:prstGeom prst="rect">
            <a:avLst/>
          </a:prstGeom>
          <a:noFill/>
          <a:ln>
            <a:noFill/>
          </a:ln>
        </p:spPr>
        <p:txBody>
          <a:bodyPr wrap="square" lIns="0" tIns="0" rIns="0" bIns="0" rtlCol="0" anchor="ctr">
            <a:noAutofit/>
          </a:bodyPr>
          <a:lstStyle/>
          <a:p>
            <a:pPr algn="l" marL="0" indent="0">
              <a:buNone/>
            </a:pPr>
            <a:r>
              <a:rPr lang="en-US" sz="1500" b="1" dirty="0">
                <a:solidFill>
                  <a:schemeClr val="accent3"/>
                </a:solidFill>
              </a:rPr>
              <a:t>✖  </a:t>
            </a:r>
            <a:r>
              <a:rPr lang="en-US" sz="1300" dirty="0">
                <a:solidFill>
                  <a:schemeClr val="accent3"/>
                </a:solidFill>
              </a:rPr>
              <a:t>schedule</a:t>
            </a:r>
            <a:endParaRPr lang="en-US" sz="1500" dirty="0"/>
          </a:p>
        </p:txBody>
      </p:sp>
      <p:sp>
        <p:nvSpPr>
          <p:cNvPr id="39" name="r3c2"/>
          <p:cNvSpPr txBox="1"/>
          <p:nvPr/>
        </p:nvSpPr>
        <p:spPr>
          <a:xfrm>
            <a:off x="5074920" y="4160520"/>
            <a:ext cx="1600200" cy="502920"/>
          </a:xfrm>
          <a:prstGeom prst="rect">
            <a:avLst/>
          </a:prstGeom>
          <a:noFill/>
          <a:ln>
            <a:noFill/>
          </a:ln>
        </p:spPr>
        <p:txBody>
          <a:bodyPr wrap="square" lIns="0" tIns="0" rIns="0" bIns="0" rtlCol="0" anchor="ctr">
            <a:noAutofit/>
          </a:bodyPr>
          <a:lstStyle/>
          <a:p>
            <a:pPr algn="l" marL="0" indent="0">
              <a:buNone/>
            </a:pPr>
            <a:r>
              <a:rPr lang="en-US" sz="1500" b="1" dirty="0">
                <a:solidFill>
                  <a:schemeClr val="accent4"/>
                </a:solidFill>
              </a:rPr>
              <a:t>~  </a:t>
            </a:r>
            <a:r>
              <a:rPr lang="en-US" sz="1300" dirty="0">
                <a:solidFill>
                  <a:schemeClr val="accent4"/>
                </a:solidFill>
              </a:rPr>
              <a:t>whiteboard</a:t>
            </a:r>
            <a:endParaRPr lang="en-US" sz="1500" dirty="0"/>
          </a:p>
        </p:txBody>
      </p:sp>
      <p:sp>
        <p:nvSpPr>
          <p:cNvPr id="40" name="r3c3"/>
          <p:cNvSpPr txBox="1"/>
          <p:nvPr/>
        </p:nvSpPr>
        <p:spPr>
          <a:xfrm>
            <a:off x="6766560" y="4160520"/>
            <a:ext cx="1691640" cy="502920"/>
          </a:xfrm>
          <a:prstGeom prst="rect">
            <a:avLst/>
          </a:prstGeom>
          <a:noFill/>
          <a:ln>
            <a:noFill/>
          </a:ln>
        </p:spPr>
        <p:txBody>
          <a:bodyPr wrap="square" lIns="0" tIns="0" rIns="0" bIns="0" rtlCol="0" anchor="ctr">
            <a:noAutofit/>
          </a:bodyPr>
          <a:lstStyle/>
          <a:p>
            <a:pPr algn="l" marL="0" indent="0">
              <a:buNone/>
            </a:pPr>
            <a:r>
              <a:rPr lang="en-US" sz="1500" b="1" dirty="0">
                <a:solidFill>
                  <a:schemeClr val="accent4"/>
                </a:solidFill>
              </a:rPr>
              <a:t>~  </a:t>
            </a:r>
            <a:r>
              <a:rPr lang="en-US" sz="1300" dirty="0">
                <a:solidFill>
                  <a:schemeClr val="accent4"/>
                </a:solidFill>
              </a:rPr>
              <a:t>sometimes</a:t>
            </a:r>
            <a:endParaRPr lang="en-US" sz="1500" dirty="0"/>
          </a:p>
        </p:txBody>
      </p:sp>
      <p:sp>
        <p:nvSpPr>
          <p:cNvPr id="41" name="r3c4"/>
          <p:cNvSpPr txBox="1"/>
          <p:nvPr/>
        </p:nvSpPr>
        <p:spPr>
          <a:xfrm>
            <a:off x="8549640" y="4160520"/>
            <a:ext cx="1600200" cy="502920"/>
          </a:xfrm>
          <a:prstGeom prst="rect">
            <a:avLst/>
          </a:prstGeom>
          <a:noFill/>
          <a:ln>
            <a:noFill/>
          </a:ln>
        </p:spPr>
        <p:txBody>
          <a:bodyPr wrap="square" lIns="0" tIns="0" rIns="0" bIns="0" rtlCol="0" anchor="ctr">
            <a:noAutofit/>
          </a:bodyPr>
          <a:lstStyle/>
          <a:p>
            <a:pPr algn="l" marL="0" indent="0">
              <a:buNone/>
            </a:pPr>
            <a:r>
              <a:rPr lang="en-US" sz="1500" b="1" dirty="0">
                <a:solidFill>
                  <a:schemeClr val="accent5"/>
                </a:solidFill>
              </a:rPr>
              <a:t>✔  </a:t>
            </a:r>
            <a:r>
              <a:rPr lang="en-US" sz="1300" dirty="0">
                <a:solidFill>
                  <a:schemeClr val="accent5"/>
                </a:solidFill>
              </a:rPr>
              <a:t>limited time</a:t>
            </a:r>
            <a:endParaRPr lang="en-US" sz="1500" dirty="0"/>
          </a:p>
        </p:txBody>
      </p:sp>
      <p:sp>
        <p:nvSpPr>
          <p:cNvPr id="42" name="r3c5"/>
          <p:cNvSpPr txBox="1"/>
          <p:nvPr/>
        </p:nvSpPr>
        <p:spPr>
          <a:xfrm>
            <a:off x="10241280" y="4160520"/>
            <a:ext cx="1417320" cy="502920"/>
          </a:xfrm>
          <a:prstGeom prst="rect">
            <a:avLst/>
          </a:prstGeom>
          <a:noFill/>
          <a:ln>
            <a:noFill/>
          </a:ln>
        </p:spPr>
        <p:txBody>
          <a:bodyPr wrap="square" lIns="0" tIns="0" rIns="0" bIns="0" rtlCol="0" anchor="ctr">
            <a:noAutofit/>
          </a:bodyPr>
          <a:lstStyle/>
          <a:p>
            <a:pPr algn="l" marL="0" indent="0">
              <a:buNone/>
            </a:pPr>
            <a:r>
              <a:rPr lang="en-US" sz="1500" b="1" dirty="0">
                <a:solidFill>
                  <a:schemeClr val="accent5"/>
                </a:solidFill>
              </a:rPr>
              <a:t>✔</a:t>
            </a:r>
            <a:endParaRPr lang="en-US" sz="1500" dirty="0"/>
          </a:p>
        </p:txBody>
      </p:sp>
      <p:sp>
        <p:nvSpPr>
          <p:cNvPr id="43" name="usRow"/>
          <p:cNvSpPr/>
          <p:nvPr/>
        </p:nvSpPr>
        <p:spPr>
          <a:xfrm>
            <a:off x="731520" y="4681728"/>
            <a:ext cx="10728655" cy="530352"/>
          </a:xfrm>
          <a:prstGeom prst="roundRect">
            <a:avLst>
              <a:gd name="adj" fmla="val 17241"/>
            </a:avLst>
          </a:prstGeom>
          <a:solidFill>
            <a:schemeClr val="accent1">
              <a:alpha val="30000"/>
            </a:schemeClr>
          </a:solidFill>
          <a:ln w="12700">
            <a:solidFill>
              <a:schemeClr val="accent1"/>
            </a:solidFill>
          </a:ln>
        </p:spPr>
      </p:sp>
      <p:sp>
        <p:nvSpPr>
          <p:cNvPr id="44" name="r4c0"/>
          <p:cNvSpPr txBox="1"/>
          <p:nvPr/>
        </p:nvSpPr>
        <p:spPr>
          <a:xfrm>
            <a:off x="868680" y="4709160"/>
            <a:ext cx="2423160" cy="502920"/>
          </a:xfrm>
          <a:prstGeom prst="rect">
            <a:avLst/>
          </a:prstGeom>
          <a:noFill/>
          <a:ln>
            <a:noFill/>
          </a:ln>
        </p:spPr>
        <p:txBody>
          <a:bodyPr wrap="square" lIns="0" tIns="0" rIns="0" bIns="0" rtlCol="0" anchor="ctr">
            <a:noAutofit/>
          </a:bodyPr>
          <a:lstStyle/>
          <a:p>
            <a:pPr algn="l" marL="0" indent="0">
              <a:buNone/>
            </a:pPr>
            <a:r>
              <a:rPr lang="en-US" sz="1500" b="1" dirty="0">
                <a:solidFill>
                  <a:schemeClr val="bg1"/>
                </a:solidFill>
              </a:rPr>
              <a:t>NeuraLearn</a:t>
            </a:r>
            <a:endParaRPr lang="en-US" sz="1500" dirty="0"/>
          </a:p>
        </p:txBody>
      </p:sp>
      <p:sp>
        <p:nvSpPr>
          <p:cNvPr id="45" name="r4c1"/>
          <p:cNvSpPr txBox="1"/>
          <p:nvPr/>
        </p:nvSpPr>
        <p:spPr>
          <a:xfrm>
            <a:off x="3383280" y="4709160"/>
            <a:ext cx="1600200" cy="502920"/>
          </a:xfrm>
          <a:prstGeom prst="rect">
            <a:avLst/>
          </a:prstGeom>
          <a:noFill/>
          <a:ln>
            <a:noFill/>
          </a:ln>
        </p:spPr>
        <p:txBody>
          <a:bodyPr wrap="square" lIns="0" tIns="0" rIns="0" bIns="0" rtlCol="0" anchor="ctr">
            <a:noAutofit/>
          </a:bodyPr>
          <a:lstStyle/>
          <a:p>
            <a:pPr algn="l" marL="0" indent="0">
              <a:buNone/>
            </a:pPr>
            <a:r>
              <a:rPr lang="en-US" sz="1500" b="1" dirty="0">
                <a:solidFill>
                  <a:schemeClr val="accent5"/>
                </a:solidFill>
              </a:rPr>
              <a:t>✔</a:t>
            </a:r>
            <a:endParaRPr lang="en-US" sz="1500" dirty="0"/>
          </a:p>
        </p:txBody>
      </p:sp>
      <p:sp>
        <p:nvSpPr>
          <p:cNvPr id="46" name="r4c2"/>
          <p:cNvSpPr txBox="1"/>
          <p:nvPr/>
        </p:nvSpPr>
        <p:spPr>
          <a:xfrm>
            <a:off x="5074920" y="4709160"/>
            <a:ext cx="1600200" cy="502920"/>
          </a:xfrm>
          <a:prstGeom prst="rect">
            <a:avLst/>
          </a:prstGeom>
          <a:noFill/>
          <a:ln>
            <a:noFill/>
          </a:ln>
        </p:spPr>
        <p:txBody>
          <a:bodyPr wrap="square" lIns="0" tIns="0" rIns="0" bIns="0" rtlCol="0" anchor="ctr">
            <a:noAutofit/>
          </a:bodyPr>
          <a:lstStyle/>
          <a:p>
            <a:pPr algn="l" marL="0" indent="0">
              <a:buNone/>
            </a:pPr>
            <a:r>
              <a:rPr lang="en-US" sz="1500" b="1" dirty="0">
                <a:solidFill>
                  <a:schemeClr val="accent5"/>
                </a:solidFill>
              </a:rPr>
              <a:t>✔  </a:t>
            </a:r>
            <a:r>
              <a:rPr lang="en-US" sz="1300" b="1" dirty="0">
                <a:solidFill>
                  <a:schemeClr val="bg1"/>
                </a:solidFill>
              </a:rPr>
              <a:t>live &amp; unique</a:t>
            </a:r>
            <a:endParaRPr lang="en-US" sz="1500" dirty="0"/>
          </a:p>
        </p:txBody>
      </p:sp>
      <p:sp>
        <p:nvSpPr>
          <p:cNvPr id="47" name="r4c3"/>
          <p:cNvSpPr txBox="1"/>
          <p:nvPr/>
        </p:nvSpPr>
        <p:spPr>
          <a:xfrm>
            <a:off x="6766560" y="4709160"/>
            <a:ext cx="1691640" cy="502920"/>
          </a:xfrm>
          <a:prstGeom prst="rect">
            <a:avLst/>
          </a:prstGeom>
          <a:noFill/>
          <a:ln>
            <a:noFill/>
          </a:ln>
        </p:spPr>
        <p:txBody>
          <a:bodyPr wrap="square" lIns="0" tIns="0" rIns="0" bIns="0" rtlCol="0" anchor="ctr">
            <a:noAutofit/>
          </a:bodyPr>
          <a:lstStyle/>
          <a:p>
            <a:pPr algn="l" marL="0" indent="0">
              <a:buNone/>
            </a:pPr>
            <a:r>
              <a:rPr lang="en-US" sz="1500" b="1" dirty="0">
                <a:solidFill>
                  <a:schemeClr val="accent5"/>
                </a:solidFill>
              </a:rPr>
              <a:t>✔  </a:t>
            </a:r>
            <a:r>
              <a:rPr lang="en-US" sz="1300" b="1" dirty="0">
                <a:solidFill>
                  <a:schemeClr val="bg1"/>
                </a:solidFill>
              </a:rPr>
              <a:t>PDF import</a:t>
            </a:r>
            <a:endParaRPr lang="en-US" sz="1500" dirty="0"/>
          </a:p>
        </p:txBody>
      </p:sp>
      <p:sp>
        <p:nvSpPr>
          <p:cNvPr id="48" name="r4c4"/>
          <p:cNvSpPr txBox="1"/>
          <p:nvPr/>
        </p:nvSpPr>
        <p:spPr>
          <a:xfrm>
            <a:off x="8549640" y="4709160"/>
            <a:ext cx="1600200" cy="502920"/>
          </a:xfrm>
          <a:prstGeom prst="rect">
            <a:avLst/>
          </a:prstGeom>
          <a:noFill/>
          <a:ln>
            <a:noFill/>
          </a:ln>
        </p:spPr>
        <p:txBody>
          <a:bodyPr wrap="square" lIns="0" tIns="0" rIns="0" bIns="0" rtlCol="0" anchor="ctr">
            <a:noAutofit/>
          </a:bodyPr>
          <a:lstStyle/>
          <a:p>
            <a:pPr algn="l" marL="0" indent="0">
              <a:buNone/>
            </a:pPr>
            <a:r>
              <a:rPr lang="en-US" sz="1500" b="1" dirty="0">
                <a:solidFill>
                  <a:schemeClr val="accent5"/>
                </a:solidFill>
              </a:rPr>
              <a:t>✔  </a:t>
            </a:r>
            <a:r>
              <a:rPr lang="en-US" sz="1300" b="1" dirty="0">
                <a:solidFill>
                  <a:schemeClr val="bg1"/>
                </a:solidFill>
              </a:rPr>
              <a:t>24 × 7</a:t>
            </a:r>
            <a:endParaRPr lang="en-US" sz="1500" dirty="0"/>
          </a:p>
        </p:txBody>
      </p:sp>
      <p:sp>
        <p:nvSpPr>
          <p:cNvPr id="49" name="r4c5"/>
          <p:cNvSpPr txBox="1"/>
          <p:nvPr/>
        </p:nvSpPr>
        <p:spPr>
          <a:xfrm>
            <a:off x="10241280" y="4709160"/>
            <a:ext cx="1417320" cy="502920"/>
          </a:xfrm>
          <a:prstGeom prst="rect">
            <a:avLst/>
          </a:prstGeom>
          <a:noFill/>
          <a:ln>
            <a:noFill/>
          </a:ln>
        </p:spPr>
        <p:txBody>
          <a:bodyPr wrap="square" lIns="0" tIns="0" rIns="0" bIns="0" rtlCol="0" anchor="ctr">
            <a:noAutofit/>
          </a:bodyPr>
          <a:lstStyle/>
          <a:p>
            <a:pPr algn="l" marL="0" indent="0">
              <a:buNone/>
            </a:pPr>
            <a:r>
              <a:rPr lang="en-US" sz="1500" b="1" dirty="0">
                <a:solidFill>
                  <a:schemeClr val="accent5"/>
                </a:solidFill>
              </a:rPr>
              <a:t>✔  </a:t>
            </a:r>
            <a:r>
              <a:rPr lang="en-US" sz="1300" b="1" dirty="0">
                <a:solidFill>
                  <a:schemeClr val="bg1"/>
                </a:solidFill>
              </a:rPr>
              <a:t>computed</a:t>
            </a:r>
            <a:endParaRPr lang="en-US" sz="1500" dirty="0"/>
          </a:p>
        </p:txBody>
      </p:sp>
      <p:sp>
        <p:nvSpPr>
          <p:cNvPr id="50" name="caption"/>
          <p:cNvSpPr txBox="1"/>
          <p:nvPr/>
        </p:nvSpPr>
        <p:spPr>
          <a:xfrm>
            <a:off x="640080" y="5623560"/>
            <a:ext cx="10911535" cy="685800"/>
          </a:xfrm>
          <a:prstGeom prst="rect">
            <a:avLst/>
          </a:prstGeom>
          <a:noFill/>
          <a:ln>
            <a:noFill/>
          </a:ln>
        </p:spPr>
        <p:txBody>
          <a:bodyPr wrap="square" lIns="0" tIns="0" rIns="0" bIns="0" rtlCol="0" anchor="t">
            <a:noAutofit/>
          </a:bodyPr>
          <a:lstStyle/>
          <a:p>
            <a:pPr algn="l" marL="0" indent="0">
              <a:lnSpc>
                <a:spcPct val="110000"/>
              </a:lnSpc>
              <a:buNone/>
            </a:pPr>
            <a:r>
              <a:rPr lang="en-US" sz="1500" dirty="0">
                <a:solidFill>
                  <a:schemeClr val="accent6"/>
                </a:solidFill>
              </a:rPr>
              <a:t>ChatGPT explains. YouTube shows. NotebookLM summarises. Coaching needs a schedule. </a:t>
            </a:r>
            <a:r>
              <a:rPr lang="en-US" sz="1500" b="1" dirty="0">
                <a:solidFill>
                  <a:schemeClr val="bg1"/>
                </a:solidFill>
              </a:rPr>
              <a:t>NeuraLearn draws it live from your own book and computes it wherever it can.</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glow"/>
          <p:cNvSpPr/>
          <p:nvPr/>
        </p:nvSpPr>
        <p:spPr>
          <a:xfrm>
            <a:off x="-914400" y="-1371600"/>
            <a:ext cx="4114800" cy="4114800"/>
          </a:xfrm>
          <a:prstGeom prst="rect">
            <a:avLst/>
          </a:prstGeom>
          <a:solidFill>
            <a:schemeClr val="accent1">
              <a:alpha val="12000"/>
            </a:schemeClr>
          </a:solidFill>
          <a:ln>
            <a:noFill/>
          </a:ln>
        </p:spPr>
      </p:sp>
      <p:sp>
        <p:nvSpPr>
          <p:cNvPr id="3" name="glow2"/>
          <p:cNvSpPr/>
          <p:nvPr/>
        </p:nvSpPr>
        <p:spPr>
          <a:xfrm>
            <a:off x="9601200" y="4754880"/>
            <a:ext cx="3657600" cy="3657600"/>
          </a:xfrm>
          <a:prstGeom prst="rect">
            <a:avLst/>
          </a:prstGeom>
          <a:solidFill>
            <a:schemeClr val="accent2">
              <a:alpha val="8000"/>
            </a:schemeClr>
          </a:solidFill>
          <a:ln>
            <a:noFill/>
          </a:ln>
        </p:spPr>
      </p:sp>
      <p:sp>
        <p:nvSpPr>
          <p:cNvPr id="4" name="kicker"/>
          <p:cNvSpPr txBox="1"/>
          <p:nvPr/>
        </p:nvSpPr>
        <p:spPr>
          <a:xfrm>
            <a:off x="640080" y="457200"/>
            <a:ext cx="9144000" cy="274320"/>
          </a:xfrm>
          <a:prstGeom prst="rect">
            <a:avLst/>
          </a:prstGeom>
          <a:noFill/>
          <a:ln>
            <a:noFill/>
          </a:ln>
        </p:spPr>
        <p:txBody>
          <a:bodyPr wrap="square" lIns="0" tIns="0" rIns="0" bIns="0" rtlCol="0" anchor="t">
            <a:noAutofit/>
          </a:bodyPr>
          <a:lstStyle/>
          <a:p>
            <a:pPr algn="l" marL="0" indent="0">
              <a:buNone/>
            </a:pPr>
            <a:r>
              <a:rPr lang="en-US" sz="1200" b="1" spc="400" dirty="0">
                <a:solidFill>
                  <a:schemeClr val="accent2"/>
                </a:solidFill>
              </a:rPr>
              <a:t>ALL-IN-ONE PLATFORM + ROADMAP</a:t>
            </a:r>
            <a:endParaRPr lang="en-US" sz="1200" dirty="0"/>
          </a:p>
        </p:txBody>
      </p:sp>
      <p:sp>
        <p:nvSpPr>
          <p:cNvPr id="5" name="title"/>
          <p:cNvSpPr txBox="1"/>
          <p:nvPr/>
        </p:nvSpPr>
        <p:spPr>
          <a:xfrm>
            <a:off x="640080" y="777240"/>
            <a:ext cx="10911535" cy="1188720"/>
          </a:xfrm>
          <a:prstGeom prst="rect">
            <a:avLst/>
          </a:prstGeom>
          <a:noFill/>
          <a:ln>
            <a:noFill/>
          </a:ln>
        </p:spPr>
        <p:txBody>
          <a:bodyPr wrap="square" lIns="0" tIns="0" rIns="0" bIns="0" rtlCol="0" anchor="t">
            <a:noAutofit/>
          </a:bodyPr>
          <a:lstStyle/>
          <a:p>
            <a:pPr algn="l" marL="0" indent="0">
              <a:lnSpc>
                <a:spcPct val="95000"/>
              </a:lnSpc>
              <a:buNone/>
            </a:pPr>
            <a:r>
              <a:rPr lang="en-US" sz="3200" b="1" dirty="0">
                <a:solidFill>
                  <a:schemeClr val="bg1"/>
                </a:solidFill>
                <a:latin typeface="+mj-lt"/>
              </a:rPr>
              <a:t>One place for the </a:t>
            </a:r>
            <a:r>
              <a:rPr lang="en-US" sz="3200" b="1" dirty="0">
                <a:gradFill>
                  <a:gsLst>
                    <a:gs pos="0">
                      <a:srgbClr val="9D8CFF"/>
                    </a:gs>
                    <a:gs pos="50000">
                      <a:srgbClr val="FF6FB5"/>
                    </a:gs>
                    <a:gs pos="100000">
                      <a:srgbClr val="FFC94D"/>
                    </a:gs>
                  </a:gsLst>
                  <a:lin ang="0" scaled="0"/>
                </a:gradFill>
                <a:latin typeface="+mj-lt"/>
              </a:rPr>
              <a:t>entire learning loop</a:t>
            </a:r>
            <a:endParaRPr lang="en-US" sz="3200" dirty="0"/>
          </a:p>
        </p:txBody>
      </p:sp>
      <p:sp>
        <p:nvSpPr>
          <p:cNvPr id="6" name="footer"/>
          <p:cNvSpPr txBox="1"/>
          <p:nvPr/>
        </p:nvSpPr>
        <p:spPr>
          <a:xfrm>
            <a:off x="640080" y="6400800"/>
            <a:ext cx="5486400" cy="228600"/>
          </a:xfrm>
          <a:prstGeom prst="rect">
            <a:avLst/>
          </a:prstGeom>
          <a:noFill/>
          <a:ln>
            <a:noFill/>
          </a:ln>
        </p:spPr>
        <p:txBody>
          <a:bodyPr wrap="square" lIns="0" tIns="0" rIns="0" bIns="0" rtlCol="0" anchor="t">
            <a:noAutofit/>
          </a:bodyPr>
          <a:lstStyle/>
          <a:p>
            <a:pPr algn="l" marL="0" indent="0">
              <a:buNone/>
            </a:pPr>
            <a:r>
              <a:rPr lang="en-US" sz="1000" spc="300" dirty="0">
                <a:solidFill>
                  <a:schemeClr val="accent6"/>
                </a:solidFill>
              </a:rPr>
              <a:t>NEURALEARN  ·  COMPUTED, NOT HALLUCINATED</a:t>
            </a:r>
            <a:endParaRPr lang="en-US" sz="1000" dirty="0"/>
          </a:p>
        </p:txBody>
      </p:sp>
      <p:sp>
        <p:nvSpPr>
          <p:cNvPr id="7" name="pageNum"/>
          <p:cNvSpPr txBox="1"/>
          <p:nvPr/>
        </p:nvSpPr>
        <p:spPr>
          <a:xfrm>
            <a:off x="10637215" y="6400800"/>
            <a:ext cx="914400" cy="228600"/>
          </a:xfrm>
          <a:prstGeom prst="rect">
            <a:avLst/>
          </a:prstGeom>
          <a:noFill/>
          <a:ln>
            <a:noFill/>
          </a:ln>
        </p:spPr>
        <p:txBody>
          <a:bodyPr wrap="square" lIns="0" tIns="0" rIns="0" bIns="0" rtlCol="0" anchor="t">
            <a:noAutofit/>
          </a:bodyPr>
          <a:lstStyle/>
          <a:p>
            <a:pPr algn="r" marL="0" indent="0">
              <a:buNone/>
            </a:pPr>
            <a:r>
              <a:rPr lang="en-US" sz="1000" b="1" spc="200" dirty="0">
                <a:solidFill>
                  <a:schemeClr val="accent6"/>
                </a:solidFill>
              </a:rPr>
              <a:t>12</a:t>
            </a:r>
            <a:endParaRPr lang="en-US" sz="1000" dirty="0"/>
          </a:p>
        </p:txBody>
      </p:sp>
      <p:sp>
        <p:nvSpPr>
          <p:cNvPr id="8" name="pillar0"/>
          <p:cNvSpPr/>
          <p:nvPr/>
        </p:nvSpPr>
        <p:spPr>
          <a:xfrm>
            <a:off x="640080" y="1965960"/>
            <a:ext cx="2596896" cy="2103120"/>
          </a:xfrm>
          <a:prstGeom prst="roundRect">
            <a:avLst>
              <a:gd name="adj" fmla="val 6957"/>
            </a:avLst>
          </a:prstGeom>
          <a:solidFill>
            <a:schemeClr val="tx2"/>
          </a:solidFill>
          <a:ln w="12700">
            <a:solidFill>
              <a:schemeClr val="accent2"/>
            </a:solidFill>
          </a:ln>
        </p:spPr>
      </p:sp>
      <p:sp>
        <p:nvSpPr>
          <p:cNvPr id="9" name="pillar0Mark"/>
          <p:cNvSpPr/>
          <p:nvPr/>
        </p:nvSpPr>
        <p:spPr>
          <a:xfrm>
            <a:off x="896112" y="2240280"/>
            <a:ext cx="109728" cy="384048"/>
          </a:xfrm>
          <a:prstGeom prst="rect">
            <a:avLst/>
          </a:prstGeom>
          <a:solidFill>
            <a:schemeClr val="accent2"/>
          </a:solidFill>
          <a:ln>
            <a:noFill/>
          </a:ln>
        </p:spPr>
      </p:sp>
      <p:sp>
        <p:nvSpPr>
          <p:cNvPr id="10" name="pillar0Title"/>
          <p:cNvSpPr txBox="1"/>
          <p:nvPr/>
        </p:nvSpPr>
        <p:spPr>
          <a:xfrm>
            <a:off x="1170432" y="2203704"/>
            <a:ext cx="1810512" cy="457200"/>
          </a:xfrm>
          <a:prstGeom prst="rect">
            <a:avLst/>
          </a:prstGeom>
          <a:noFill/>
          <a:ln>
            <a:noFill/>
          </a:ln>
        </p:spPr>
        <p:txBody>
          <a:bodyPr wrap="square" lIns="0" tIns="0" rIns="0" bIns="0" rtlCol="0" anchor="ctr">
            <a:noAutofit/>
          </a:bodyPr>
          <a:lstStyle/>
          <a:p>
            <a:pPr algn="l" marL="0" indent="0">
              <a:lnSpc>
                <a:spcPct val="95000"/>
              </a:lnSpc>
              <a:buNone/>
            </a:pPr>
            <a:r>
              <a:rPr lang="en-US" sz="1700" b="1" dirty="0">
                <a:solidFill>
                  <a:schemeClr val="bg1"/>
                </a:solidFill>
                <a:latin typeface="+mj-lt"/>
              </a:rPr>
              <a:t>Learn any topic</a:t>
            </a:r>
            <a:endParaRPr lang="en-US" sz="1700" dirty="0"/>
          </a:p>
        </p:txBody>
      </p:sp>
      <p:sp>
        <p:nvSpPr>
          <p:cNvPr id="11" name="pillar0Desc"/>
          <p:cNvSpPr txBox="1"/>
          <p:nvPr/>
        </p:nvSpPr>
        <p:spPr>
          <a:xfrm>
            <a:off x="1170432" y="2788920"/>
            <a:ext cx="1810512" cy="1143000"/>
          </a:xfrm>
          <a:prstGeom prst="rect">
            <a:avLst/>
          </a:prstGeom>
          <a:noFill/>
          <a:ln>
            <a:noFill/>
          </a:ln>
        </p:spPr>
        <p:txBody>
          <a:bodyPr wrap="square" lIns="0" tIns="0" rIns="0" bIns="0" rtlCol="0" anchor="t">
            <a:noAutofit/>
          </a:bodyPr>
          <a:lstStyle/>
          <a:p>
            <a:pPr algn="l" marL="0" indent="0">
              <a:lnSpc>
                <a:spcPct val="115000"/>
              </a:lnSpc>
              <a:buNone/>
            </a:pPr>
            <a:r>
              <a:rPr lang="en-US" sz="1400" dirty="0">
                <a:solidFill>
                  <a:schemeClr val="accent6"/>
                </a:solidFill>
              </a:rPr>
              <a:t>Ask, read, then watch the drawing. The core engine.</a:t>
            </a:r>
            <a:endParaRPr lang="en-US" sz="1400" dirty="0"/>
          </a:p>
        </p:txBody>
      </p:sp>
      <p:sp>
        <p:nvSpPr>
          <p:cNvPr id="12" name="pillarTag0"/>
          <p:cNvSpPr txBox="1"/>
          <p:nvPr/>
        </p:nvSpPr>
        <p:spPr>
          <a:xfrm>
            <a:off x="1170432" y="3657600"/>
            <a:ext cx="1865376" cy="274320"/>
          </a:xfrm>
          <a:prstGeom prst="rect">
            <a:avLst/>
          </a:prstGeom>
          <a:noFill/>
          <a:ln>
            <a:noFill/>
          </a:ln>
        </p:spPr>
        <p:txBody>
          <a:bodyPr wrap="square" lIns="0" tIns="0" rIns="0" bIns="0" rtlCol="0" anchor="t">
            <a:noAutofit/>
          </a:bodyPr>
          <a:lstStyle/>
          <a:p>
            <a:pPr algn="l" marL="0" indent="0">
              <a:buNone/>
            </a:pPr>
            <a:r>
              <a:rPr lang="en-US" sz="1000" b="1" spc="200" dirty="0">
                <a:solidFill>
                  <a:schemeClr val="accent5"/>
                </a:solidFill>
              </a:rPr>
              <a:t>WORKING IN THE DEMO</a:t>
            </a:r>
            <a:endParaRPr lang="en-US" sz="1000" dirty="0"/>
          </a:p>
        </p:txBody>
      </p:sp>
      <p:sp>
        <p:nvSpPr>
          <p:cNvPr id="13" name="pillar1"/>
          <p:cNvSpPr/>
          <p:nvPr/>
        </p:nvSpPr>
        <p:spPr>
          <a:xfrm>
            <a:off x="3410712" y="1965960"/>
            <a:ext cx="2596896" cy="2103120"/>
          </a:xfrm>
          <a:prstGeom prst="roundRect">
            <a:avLst>
              <a:gd name="adj" fmla="val 6957"/>
            </a:avLst>
          </a:prstGeom>
          <a:solidFill>
            <a:schemeClr val="tx2"/>
          </a:solidFill>
          <a:ln w="12700">
            <a:solidFill>
              <a:schemeClr val="accent4"/>
            </a:solidFill>
          </a:ln>
        </p:spPr>
      </p:sp>
      <p:sp>
        <p:nvSpPr>
          <p:cNvPr id="14" name="pillar1Mark"/>
          <p:cNvSpPr/>
          <p:nvPr/>
        </p:nvSpPr>
        <p:spPr>
          <a:xfrm>
            <a:off x="3666744" y="2240280"/>
            <a:ext cx="109728" cy="384048"/>
          </a:xfrm>
          <a:prstGeom prst="rect">
            <a:avLst/>
          </a:prstGeom>
          <a:solidFill>
            <a:schemeClr val="accent4"/>
          </a:solidFill>
          <a:ln>
            <a:noFill/>
          </a:ln>
        </p:spPr>
      </p:sp>
      <p:sp>
        <p:nvSpPr>
          <p:cNvPr id="15" name="pillar1Title"/>
          <p:cNvSpPr txBox="1"/>
          <p:nvPr/>
        </p:nvSpPr>
        <p:spPr>
          <a:xfrm>
            <a:off x="3941064" y="2203704"/>
            <a:ext cx="1810512" cy="457200"/>
          </a:xfrm>
          <a:prstGeom prst="rect">
            <a:avLst/>
          </a:prstGeom>
          <a:noFill/>
          <a:ln>
            <a:noFill/>
          </a:ln>
        </p:spPr>
        <p:txBody>
          <a:bodyPr wrap="square" lIns="0" tIns="0" rIns="0" bIns="0" rtlCol="0" anchor="ctr">
            <a:noAutofit/>
          </a:bodyPr>
          <a:lstStyle/>
          <a:p>
            <a:pPr algn="l" marL="0" indent="0">
              <a:lnSpc>
                <a:spcPct val="95000"/>
              </a:lnSpc>
              <a:buNone/>
            </a:pPr>
            <a:r>
              <a:rPr lang="en-US" sz="1700" b="1" dirty="0">
                <a:solidFill>
                  <a:schemeClr val="bg1"/>
                </a:solidFill>
                <a:latin typeface="+mj-lt"/>
              </a:rPr>
              <a:t>Own-book lessons</a:t>
            </a:r>
            <a:endParaRPr lang="en-US" sz="1700" dirty="0"/>
          </a:p>
        </p:txBody>
      </p:sp>
      <p:sp>
        <p:nvSpPr>
          <p:cNvPr id="16" name="pillar1Desc"/>
          <p:cNvSpPr txBox="1"/>
          <p:nvPr/>
        </p:nvSpPr>
        <p:spPr>
          <a:xfrm>
            <a:off x="3941064" y="2788920"/>
            <a:ext cx="1810512" cy="1143000"/>
          </a:xfrm>
          <a:prstGeom prst="rect">
            <a:avLst/>
          </a:prstGeom>
          <a:noFill/>
          <a:ln>
            <a:noFill/>
          </a:ln>
        </p:spPr>
        <p:txBody>
          <a:bodyPr wrap="square" lIns="0" tIns="0" rIns="0" bIns="0" rtlCol="0" anchor="t">
            <a:noAutofit/>
          </a:bodyPr>
          <a:lstStyle/>
          <a:p>
            <a:pPr algn="l" marL="0" indent="0">
              <a:lnSpc>
                <a:spcPct val="115000"/>
              </a:lnSpc>
              <a:buNone/>
            </a:pPr>
            <a:r>
              <a:rPr lang="en-US" sz="1400" dirty="0">
                <a:solidFill>
                  <a:schemeClr val="accent6"/>
                </a:solidFill>
              </a:rPr>
              <a:t>PDF import with a summary-first pipeline.</a:t>
            </a:r>
            <a:endParaRPr lang="en-US" sz="1400" dirty="0"/>
          </a:p>
        </p:txBody>
      </p:sp>
      <p:sp>
        <p:nvSpPr>
          <p:cNvPr id="17" name="pillarTag1"/>
          <p:cNvSpPr txBox="1"/>
          <p:nvPr/>
        </p:nvSpPr>
        <p:spPr>
          <a:xfrm>
            <a:off x="3941064" y="3657600"/>
            <a:ext cx="1865376" cy="274320"/>
          </a:xfrm>
          <a:prstGeom prst="rect">
            <a:avLst/>
          </a:prstGeom>
          <a:noFill/>
          <a:ln>
            <a:noFill/>
          </a:ln>
        </p:spPr>
        <p:txBody>
          <a:bodyPr wrap="square" lIns="0" tIns="0" rIns="0" bIns="0" rtlCol="0" anchor="t">
            <a:noAutofit/>
          </a:bodyPr>
          <a:lstStyle/>
          <a:p>
            <a:pPr algn="l" marL="0" indent="0">
              <a:buNone/>
            </a:pPr>
            <a:r>
              <a:rPr lang="en-US" sz="1000" b="1" spc="200" dirty="0">
                <a:solidFill>
                  <a:schemeClr val="accent5"/>
                </a:solidFill>
              </a:rPr>
              <a:t>WORKING IN THE DEMO</a:t>
            </a:r>
            <a:endParaRPr lang="en-US" sz="1000" dirty="0"/>
          </a:p>
        </p:txBody>
      </p:sp>
      <p:sp>
        <p:nvSpPr>
          <p:cNvPr id="18" name="pillar2"/>
          <p:cNvSpPr/>
          <p:nvPr/>
        </p:nvSpPr>
        <p:spPr>
          <a:xfrm>
            <a:off x="6181344" y="1965960"/>
            <a:ext cx="2596896" cy="2103120"/>
          </a:xfrm>
          <a:prstGeom prst="roundRect">
            <a:avLst>
              <a:gd name="adj" fmla="val 6957"/>
            </a:avLst>
          </a:prstGeom>
          <a:solidFill>
            <a:schemeClr val="tx2"/>
          </a:solidFill>
          <a:ln w="12700">
            <a:solidFill>
              <a:schemeClr val="accent3"/>
            </a:solidFill>
          </a:ln>
        </p:spPr>
      </p:sp>
      <p:sp>
        <p:nvSpPr>
          <p:cNvPr id="19" name="pillar2Mark"/>
          <p:cNvSpPr/>
          <p:nvPr/>
        </p:nvSpPr>
        <p:spPr>
          <a:xfrm>
            <a:off x="6437376" y="2240280"/>
            <a:ext cx="109728" cy="384048"/>
          </a:xfrm>
          <a:prstGeom prst="rect">
            <a:avLst/>
          </a:prstGeom>
          <a:solidFill>
            <a:schemeClr val="accent3"/>
          </a:solidFill>
          <a:ln>
            <a:noFill/>
          </a:ln>
        </p:spPr>
      </p:sp>
      <p:sp>
        <p:nvSpPr>
          <p:cNvPr id="20" name="pillar2Title"/>
          <p:cNvSpPr txBox="1"/>
          <p:nvPr/>
        </p:nvSpPr>
        <p:spPr>
          <a:xfrm>
            <a:off x="6711696" y="2203704"/>
            <a:ext cx="1810512" cy="457200"/>
          </a:xfrm>
          <a:prstGeom prst="rect">
            <a:avLst/>
          </a:prstGeom>
          <a:noFill/>
          <a:ln>
            <a:noFill/>
          </a:ln>
        </p:spPr>
        <p:txBody>
          <a:bodyPr wrap="square" lIns="0" tIns="0" rIns="0" bIns="0" rtlCol="0" anchor="ctr">
            <a:noAutofit/>
          </a:bodyPr>
          <a:lstStyle/>
          <a:p>
            <a:pPr algn="l" marL="0" indent="0">
              <a:lnSpc>
                <a:spcPct val="95000"/>
              </a:lnSpc>
              <a:buNone/>
            </a:pPr>
            <a:r>
              <a:rPr lang="en-US" sz="1700" b="1" dirty="0">
                <a:solidFill>
                  <a:schemeClr val="bg1"/>
                </a:solidFill>
                <a:latin typeface="+mj-lt"/>
              </a:rPr>
              <a:t>Doubt solver</a:t>
            </a:r>
            <a:endParaRPr lang="en-US" sz="1700" dirty="0"/>
          </a:p>
        </p:txBody>
      </p:sp>
      <p:sp>
        <p:nvSpPr>
          <p:cNvPr id="21" name="pillar2Desc"/>
          <p:cNvSpPr txBox="1"/>
          <p:nvPr/>
        </p:nvSpPr>
        <p:spPr>
          <a:xfrm>
            <a:off x="6711696" y="2788920"/>
            <a:ext cx="1810512" cy="1143000"/>
          </a:xfrm>
          <a:prstGeom prst="rect">
            <a:avLst/>
          </a:prstGeom>
          <a:noFill/>
          <a:ln>
            <a:noFill/>
          </a:ln>
        </p:spPr>
        <p:txBody>
          <a:bodyPr wrap="square" lIns="0" tIns="0" rIns="0" bIns="0" rtlCol="0" anchor="t">
            <a:noAutofit/>
          </a:bodyPr>
          <a:lstStyle/>
          <a:p>
            <a:pPr algn="l" marL="0" indent="0">
              <a:lnSpc>
                <a:spcPct val="115000"/>
              </a:lnSpc>
              <a:buNone/>
            </a:pPr>
            <a:r>
              <a:rPr lang="en-US" sz="1400" dirty="0">
                <a:solidFill>
                  <a:schemeClr val="accent6"/>
                </a:solidFill>
              </a:rPr>
              <a:t>Chat with instantly drawn follow-up visuals.</a:t>
            </a:r>
            <a:endParaRPr lang="en-US" sz="1400" dirty="0"/>
          </a:p>
        </p:txBody>
      </p:sp>
      <p:sp>
        <p:nvSpPr>
          <p:cNvPr id="22" name="pillarTag2"/>
          <p:cNvSpPr txBox="1"/>
          <p:nvPr/>
        </p:nvSpPr>
        <p:spPr>
          <a:xfrm>
            <a:off x="6711696" y="3657600"/>
            <a:ext cx="1865376" cy="274320"/>
          </a:xfrm>
          <a:prstGeom prst="rect">
            <a:avLst/>
          </a:prstGeom>
          <a:noFill/>
          <a:ln>
            <a:noFill/>
          </a:ln>
        </p:spPr>
        <p:txBody>
          <a:bodyPr wrap="square" lIns="0" tIns="0" rIns="0" bIns="0" rtlCol="0" anchor="t">
            <a:noAutofit/>
          </a:bodyPr>
          <a:lstStyle/>
          <a:p>
            <a:pPr algn="l" marL="0" indent="0">
              <a:buNone/>
            </a:pPr>
            <a:r>
              <a:rPr lang="en-US" sz="1000" b="1" spc="200" dirty="0">
                <a:solidFill>
                  <a:schemeClr val="accent5"/>
                </a:solidFill>
              </a:rPr>
              <a:t>WORKING IN THE DEMO</a:t>
            </a:r>
            <a:endParaRPr lang="en-US" sz="1000" dirty="0"/>
          </a:p>
        </p:txBody>
      </p:sp>
      <p:sp>
        <p:nvSpPr>
          <p:cNvPr id="23" name="pillar3"/>
          <p:cNvSpPr/>
          <p:nvPr/>
        </p:nvSpPr>
        <p:spPr>
          <a:xfrm>
            <a:off x="8951976" y="1965960"/>
            <a:ext cx="2596896" cy="2103120"/>
          </a:xfrm>
          <a:prstGeom prst="roundRect">
            <a:avLst>
              <a:gd name="adj" fmla="val 6957"/>
            </a:avLst>
          </a:prstGeom>
          <a:solidFill>
            <a:schemeClr val="tx2"/>
          </a:solidFill>
          <a:ln w="12700">
            <a:solidFill>
              <a:schemeClr val="accent1"/>
            </a:solidFill>
          </a:ln>
        </p:spPr>
      </p:sp>
      <p:sp>
        <p:nvSpPr>
          <p:cNvPr id="24" name="pillar3Mark"/>
          <p:cNvSpPr/>
          <p:nvPr/>
        </p:nvSpPr>
        <p:spPr>
          <a:xfrm>
            <a:off x="9208008" y="2240280"/>
            <a:ext cx="109728" cy="384048"/>
          </a:xfrm>
          <a:prstGeom prst="rect">
            <a:avLst/>
          </a:prstGeom>
          <a:solidFill>
            <a:schemeClr val="accent1"/>
          </a:solidFill>
          <a:ln>
            <a:noFill/>
          </a:ln>
        </p:spPr>
      </p:sp>
      <p:sp>
        <p:nvSpPr>
          <p:cNvPr id="25" name="pillar3Title"/>
          <p:cNvSpPr txBox="1"/>
          <p:nvPr/>
        </p:nvSpPr>
        <p:spPr>
          <a:xfrm>
            <a:off x="9482328" y="2203704"/>
            <a:ext cx="1810512" cy="457200"/>
          </a:xfrm>
          <a:prstGeom prst="rect">
            <a:avLst/>
          </a:prstGeom>
          <a:noFill/>
          <a:ln>
            <a:noFill/>
          </a:ln>
        </p:spPr>
        <p:txBody>
          <a:bodyPr wrap="square" lIns="0" tIns="0" rIns="0" bIns="0" rtlCol="0" anchor="ctr">
            <a:noAutofit/>
          </a:bodyPr>
          <a:lstStyle/>
          <a:p>
            <a:pPr algn="l" marL="0" indent="0">
              <a:lnSpc>
                <a:spcPct val="95000"/>
              </a:lnSpc>
              <a:buNone/>
            </a:pPr>
            <a:r>
              <a:rPr lang="en-US" sz="1700" b="1" dirty="0">
                <a:solidFill>
                  <a:schemeClr val="bg1"/>
                </a:solidFill>
                <a:latin typeface="+mj-lt"/>
              </a:rPr>
              <a:t>Computed lessons</a:t>
            </a:r>
            <a:endParaRPr lang="en-US" sz="1700" dirty="0"/>
          </a:p>
        </p:txBody>
      </p:sp>
      <p:sp>
        <p:nvSpPr>
          <p:cNvPr id="26" name="pillar3Desc"/>
          <p:cNvSpPr txBox="1"/>
          <p:nvPr/>
        </p:nvSpPr>
        <p:spPr>
          <a:xfrm>
            <a:off x="9482328" y="2788920"/>
            <a:ext cx="1810512" cy="1143000"/>
          </a:xfrm>
          <a:prstGeom prst="rect">
            <a:avLst/>
          </a:prstGeom>
          <a:noFill/>
          <a:ln>
            <a:noFill/>
          </a:ln>
        </p:spPr>
        <p:txBody>
          <a:bodyPr wrap="square" lIns="0" tIns="0" rIns="0" bIns="0" rtlCol="0" anchor="t">
            <a:noAutofit/>
          </a:bodyPr>
          <a:lstStyle/>
          <a:p>
            <a:pPr algn="l" marL="0" indent="0">
              <a:lnSpc>
                <a:spcPct val="115000"/>
              </a:lnSpc>
              <a:buNone/>
            </a:pPr>
            <a:r>
              <a:rPr lang="en-US" sz="1400" dirty="0">
                <a:solidFill>
                  <a:schemeClr val="accent6"/>
                </a:solidFill>
              </a:rPr>
              <a:t>Algorithms run for real: 14 today, each step animated.</a:t>
            </a:r>
            <a:endParaRPr lang="en-US" sz="1400" dirty="0"/>
          </a:p>
        </p:txBody>
      </p:sp>
      <p:sp>
        <p:nvSpPr>
          <p:cNvPr id="27" name="pillarTag3"/>
          <p:cNvSpPr txBox="1"/>
          <p:nvPr/>
        </p:nvSpPr>
        <p:spPr>
          <a:xfrm>
            <a:off x="9482328" y="3657600"/>
            <a:ext cx="1865376" cy="274320"/>
          </a:xfrm>
          <a:prstGeom prst="rect">
            <a:avLst/>
          </a:prstGeom>
          <a:noFill/>
          <a:ln>
            <a:noFill/>
          </a:ln>
        </p:spPr>
        <p:txBody>
          <a:bodyPr wrap="square" lIns="0" tIns="0" rIns="0" bIns="0" rtlCol="0" anchor="t">
            <a:noAutofit/>
          </a:bodyPr>
          <a:lstStyle/>
          <a:p>
            <a:pPr algn="l" marL="0" indent="0">
              <a:buNone/>
            </a:pPr>
            <a:r>
              <a:rPr lang="en-US" sz="1000" b="1" spc="200" dirty="0">
                <a:solidFill>
                  <a:schemeClr val="accent5"/>
                </a:solidFill>
              </a:rPr>
              <a:t>WORKING IN THE DEMO</a:t>
            </a:r>
            <a:endParaRPr lang="en-US" sz="1000" dirty="0"/>
          </a:p>
        </p:txBody>
      </p:sp>
      <p:sp>
        <p:nvSpPr>
          <p:cNvPr id="28" name="timeline"/>
          <p:cNvSpPr/>
          <p:nvPr/>
        </p:nvSpPr>
        <p:spPr>
          <a:xfrm>
            <a:off x="822960" y="4910328"/>
            <a:ext cx="10545775" cy="54864"/>
          </a:xfrm>
          <a:prstGeom prst="rect">
            <a:avLst/>
          </a:prstGeom>
          <a:solidFill>
            <a:schemeClr val="accent6">
              <a:alpha val="40000"/>
            </a:schemeClr>
          </a:solidFill>
          <a:ln>
            <a:noFill/>
          </a:ln>
        </p:spPr>
      </p:sp>
      <p:sp>
        <p:nvSpPr>
          <p:cNvPr id="29" name="tk0"/>
          <p:cNvSpPr txBox="1"/>
          <p:nvPr/>
        </p:nvSpPr>
        <p:spPr>
          <a:xfrm>
            <a:off x="640080" y="4389120"/>
            <a:ext cx="2596896" cy="365760"/>
          </a:xfrm>
          <a:prstGeom prst="rect">
            <a:avLst/>
          </a:prstGeom>
          <a:noFill/>
          <a:ln>
            <a:noFill/>
          </a:ln>
        </p:spPr>
        <p:txBody>
          <a:bodyPr wrap="square" lIns="0" tIns="0" rIns="0" bIns="0" rtlCol="0" anchor="t">
            <a:noAutofit/>
          </a:bodyPr>
          <a:lstStyle/>
          <a:p>
            <a:pPr algn="l" marL="0" indent="0">
              <a:buNone/>
            </a:pPr>
            <a:r>
              <a:rPr lang="en-US" sz="1500" b="1" spc="200" dirty="0">
                <a:solidFill>
                  <a:schemeClr val="accent5"/>
                </a:solidFill>
                <a:latin typeface="+mj-lt"/>
              </a:rPr>
              <a:t>NOW</a:t>
            </a:r>
            <a:endParaRPr lang="en-US" sz="1500" dirty="0"/>
          </a:p>
        </p:txBody>
      </p:sp>
      <p:sp>
        <p:nvSpPr>
          <p:cNvPr id="30" name="td0"/>
          <p:cNvSpPr/>
          <p:nvPr/>
        </p:nvSpPr>
        <p:spPr>
          <a:xfrm>
            <a:off x="640080" y="4809744"/>
            <a:ext cx="256032" cy="256032"/>
          </a:xfrm>
          <a:prstGeom prst="ellipse">
            <a:avLst/>
          </a:prstGeom>
          <a:solidFill>
            <a:schemeClr val="accent5"/>
          </a:solidFill>
          <a:ln>
            <a:noFill/>
          </a:ln>
        </p:spPr>
      </p:sp>
      <p:sp>
        <p:nvSpPr>
          <p:cNvPr id="31" name="tt0"/>
          <p:cNvSpPr txBox="1"/>
          <p:nvPr/>
        </p:nvSpPr>
        <p:spPr>
          <a:xfrm>
            <a:off x="640080" y="5212080"/>
            <a:ext cx="2459736" cy="1005840"/>
          </a:xfrm>
          <a:prstGeom prst="rect">
            <a:avLst/>
          </a:prstGeom>
          <a:noFill/>
          <a:ln>
            <a:noFill/>
          </a:ln>
        </p:spPr>
        <p:txBody>
          <a:bodyPr wrap="square" lIns="0" tIns="0" rIns="0" bIns="0" rtlCol="0" anchor="t">
            <a:noAutofit/>
          </a:bodyPr>
          <a:lstStyle/>
          <a:p>
            <a:pPr algn="l" marL="0" indent="0">
              <a:lnSpc>
                <a:spcPct val="115000"/>
              </a:lnSpc>
              <a:buNone/>
            </a:pPr>
            <a:r>
              <a:rPr lang="en-US" sz="1400" dirty="0">
                <a:solidFill>
                  <a:schemeClr val="accent6"/>
                </a:solidFill>
              </a:rPr>
              <a:t>Proof of concept running end to end, offline mode included</a:t>
            </a:r>
            <a:endParaRPr lang="en-US" sz="1400" dirty="0"/>
          </a:p>
        </p:txBody>
      </p:sp>
      <p:sp>
        <p:nvSpPr>
          <p:cNvPr id="32" name="tk1"/>
          <p:cNvSpPr txBox="1"/>
          <p:nvPr/>
        </p:nvSpPr>
        <p:spPr>
          <a:xfrm>
            <a:off x="3410712" y="4389120"/>
            <a:ext cx="2596896" cy="365760"/>
          </a:xfrm>
          <a:prstGeom prst="rect">
            <a:avLst/>
          </a:prstGeom>
          <a:noFill/>
          <a:ln>
            <a:noFill/>
          </a:ln>
        </p:spPr>
        <p:txBody>
          <a:bodyPr wrap="square" lIns="0" tIns="0" rIns="0" bIns="0" rtlCol="0" anchor="t">
            <a:noAutofit/>
          </a:bodyPr>
          <a:lstStyle/>
          <a:p>
            <a:pPr algn="l" marL="0" indent="0">
              <a:buNone/>
            </a:pPr>
            <a:r>
              <a:rPr lang="en-US" sz="1500" b="1" spc="200" dirty="0">
                <a:solidFill>
                  <a:schemeClr val="accent2"/>
                </a:solidFill>
                <a:latin typeface="+mj-lt"/>
              </a:rPr>
              <a:t>NEXT</a:t>
            </a:r>
            <a:endParaRPr lang="en-US" sz="1500" dirty="0"/>
          </a:p>
        </p:txBody>
      </p:sp>
      <p:sp>
        <p:nvSpPr>
          <p:cNvPr id="33" name="td1"/>
          <p:cNvSpPr/>
          <p:nvPr/>
        </p:nvSpPr>
        <p:spPr>
          <a:xfrm>
            <a:off x="3410712" y="4809744"/>
            <a:ext cx="256032" cy="256032"/>
          </a:xfrm>
          <a:prstGeom prst="ellipse">
            <a:avLst/>
          </a:prstGeom>
          <a:solidFill>
            <a:schemeClr val="accent2"/>
          </a:solidFill>
          <a:ln>
            <a:noFill/>
          </a:ln>
        </p:spPr>
      </p:sp>
      <p:sp>
        <p:nvSpPr>
          <p:cNvPr id="34" name="tt1"/>
          <p:cNvSpPr txBox="1"/>
          <p:nvPr/>
        </p:nvSpPr>
        <p:spPr>
          <a:xfrm>
            <a:off x="3410712" y="5212080"/>
            <a:ext cx="2459736" cy="1005840"/>
          </a:xfrm>
          <a:prstGeom prst="rect">
            <a:avLst/>
          </a:prstGeom>
          <a:noFill/>
          <a:ln>
            <a:noFill/>
          </a:ln>
        </p:spPr>
        <p:txBody>
          <a:bodyPr wrap="square" lIns="0" tIns="0" rIns="0" bIns="0" rtlCol="0" anchor="t">
            <a:noAutofit/>
          </a:bodyPr>
          <a:lstStyle/>
          <a:p>
            <a:pPr algn="l" marL="0" indent="0">
              <a:lnSpc>
                <a:spcPct val="115000"/>
              </a:lnSpc>
              <a:buNone/>
            </a:pPr>
            <a:r>
              <a:rPr lang="en-US" sz="1400" dirty="0">
                <a:solidFill>
                  <a:schemeClr val="accent6"/>
                </a:solidFill>
              </a:rPr>
              <a:t>Hosting, accounts, saved lessons, Hindi &amp; Kannada narration</a:t>
            </a:r>
            <a:endParaRPr lang="en-US" sz="1400" dirty="0"/>
          </a:p>
        </p:txBody>
      </p:sp>
      <p:sp>
        <p:nvSpPr>
          <p:cNvPr id="35" name="tk2"/>
          <p:cNvSpPr txBox="1"/>
          <p:nvPr/>
        </p:nvSpPr>
        <p:spPr>
          <a:xfrm>
            <a:off x="6181344" y="4389120"/>
            <a:ext cx="2596896" cy="365760"/>
          </a:xfrm>
          <a:prstGeom prst="rect">
            <a:avLst/>
          </a:prstGeom>
          <a:noFill/>
          <a:ln>
            <a:noFill/>
          </a:ln>
        </p:spPr>
        <p:txBody>
          <a:bodyPr wrap="square" lIns="0" tIns="0" rIns="0" bIns="0" rtlCol="0" anchor="t">
            <a:noAutofit/>
          </a:bodyPr>
          <a:lstStyle/>
          <a:p>
            <a:pPr algn="l" marL="0" indent="0">
              <a:buNone/>
            </a:pPr>
            <a:r>
              <a:rPr lang="en-US" sz="1500" b="1" spc="200" dirty="0">
                <a:solidFill>
                  <a:schemeClr val="accent4"/>
                </a:solidFill>
                <a:latin typeface="+mj-lt"/>
              </a:rPr>
              <a:t>THEN</a:t>
            </a:r>
            <a:endParaRPr lang="en-US" sz="1500" dirty="0"/>
          </a:p>
        </p:txBody>
      </p:sp>
      <p:sp>
        <p:nvSpPr>
          <p:cNvPr id="36" name="td2"/>
          <p:cNvSpPr/>
          <p:nvPr/>
        </p:nvSpPr>
        <p:spPr>
          <a:xfrm>
            <a:off x="6181344" y="4809744"/>
            <a:ext cx="256032" cy="256032"/>
          </a:xfrm>
          <a:prstGeom prst="ellipse">
            <a:avLst/>
          </a:prstGeom>
          <a:solidFill>
            <a:schemeClr val="accent4"/>
          </a:solidFill>
          <a:ln>
            <a:noFill/>
          </a:ln>
        </p:spPr>
      </p:sp>
      <p:sp>
        <p:nvSpPr>
          <p:cNvPr id="37" name="tt2"/>
          <p:cNvSpPr txBox="1"/>
          <p:nvPr/>
        </p:nvSpPr>
        <p:spPr>
          <a:xfrm>
            <a:off x="6181344" y="5212080"/>
            <a:ext cx="2459736" cy="1005840"/>
          </a:xfrm>
          <a:prstGeom prst="rect">
            <a:avLst/>
          </a:prstGeom>
          <a:noFill/>
          <a:ln>
            <a:noFill/>
          </a:ln>
        </p:spPr>
        <p:txBody>
          <a:bodyPr wrap="square" lIns="0" tIns="0" rIns="0" bIns="0" rtlCol="0" anchor="t">
            <a:noAutofit/>
          </a:bodyPr>
          <a:lstStyle/>
          <a:p>
            <a:pPr algn="l" marL="0" indent="0">
              <a:lnSpc>
                <a:spcPct val="115000"/>
              </a:lnSpc>
              <a:buNone/>
            </a:pPr>
            <a:r>
              <a:rPr lang="en-US" sz="1400" dirty="0">
                <a:solidFill>
                  <a:schemeClr val="accent6"/>
                </a:solidFill>
              </a:rPr>
              <a:t>Classrooms: teachers assign lessons from their own PDFs</a:t>
            </a:r>
            <a:endParaRPr lang="en-US" sz="1400" dirty="0"/>
          </a:p>
        </p:txBody>
      </p:sp>
      <p:sp>
        <p:nvSpPr>
          <p:cNvPr id="38" name="tk3"/>
          <p:cNvSpPr txBox="1"/>
          <p:nvPr/>
        </p:nvSpPr>
        <p:spPr>
          <a:xfrm>
            <a:off x="8951976" y="4389120"/>
            <a:ext cx="2596896" cy="365760"/>
          </a:xfrm>
          <a:prstGeom prst="rect">
            <a:avLst/>
          </a:prstGeom>
          <a:noFill/>
          <a:ln>
            <a:noFill/>
          </a:ln>
        </p:spPr>
        <p:txBody>
          <a:bodyPr wrap="square" lIns="0" tIns="0" rIns="0" bIns="0" rtlCol="0" anchor="t">
            <a:noAutofit/>
          </a:bodyPr>
          <a:lstStyle/>
          <a:p>
            <a:pPr algn="l" marL="0" indent="0">
              <a:buNone/>
            </a:pPr>
            <a:r>
              <a:rPr lang="en-US" sz="1500" b="1" spc="200" dirty="0">
                <a:solidFill>
                  <a:schemeClr val="accent1"/>
                </a:solidFill>
                <a:latin typeface="+mj-lt"/>
              </a:rPr>
              <a:t>VISION</a:t>
            </a:r>
            <a:endParaRPr lang="en-US" sz="1500" dirty="0"/>
          </a:p>
        </p:txBody>
      </p:sp>
      <p:sp>
        <p:nvSpPr>
          <p:cNvPr id="39" name="td3"/>
          <p:cNvSpPr/>
          <p:nvPr/>
        </p:nvSpPr>
        <p:spPr>
          <a:xfrm>
            <a:off x="8951976" y="4809744"/>
            <a:ext cx="256032" cy="256032"/>
          </a:xfrm>
          <a:prstGeom prst="ellipse">
            <a:avLst/>
          </a:prstGeom>
          <a:solidFill>
            <a:schemeClr val="accent1"/>
          </a:solidFill>
          <a:ln>
            <a:noFill/>
          </a:ln>
        </p:spPr>
      </p:sp>
      <p:sp>
        <p:nvSpPr>
          <p:cNvPr id="40" name="tt3"/>
          <p:cNvSpPr txBox="1"/>
          <p:nvPr/>
        </p:nvSpPr>
        <p:spPr>
          <a:xfrm>
            <a:off x="8951976" y="5212080"/>
            <a:ext cx="2459736" cy="1005840"/>
          </a:xfrm>
          <a:prstGeom prst="rect">
            <a:avLst/>
          </a:prstGeom>
          <a:noFill/>
          <a:ln>
            <a:noFill/>
          </a:ln>
        </p:spPr>
        <p:txBody>
          <a:bodyPr wrap="square" lIns="0" tIns="0" rIns="0" bIns="0" rtlCol="0" anchor="t">
            <a:noAutofit/>
          </a:bodyPr>
          <a:lstStyle/>
          <a:p>
            <a:pPr algn="l" marL="0" indent="0">
              <a:lnSpc>
                <a:spcPct val="115000"/>
              </a:lnSpc>
              <a:buNone/>
            </a:pPr>
            <a:r>
              <a:rPr lang="en-US" sz="1400" dirty="0">
                <a:solidFill>
                  <a:schemeClr val="accent6"/>
                </a:solidFill>
              </a:rPr>
              <a:t>Computed maths and physics, mastery maps, practice generation</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glow"/>
          <p:cNvSpPr/>
          <p:nvPr/>
        </p:nvSpPr>
        <p:spPr>
          <a:xfrm>
            <a:off x="-914400" y="-1371600"/>
            <a:ext cx="4114800" cy="4114800"/>
          </a:xfrm>
          <a:prstGeom prst="rect">
            <a:avLst/>
          </a:prstGeom>
          <a:solidFill>
            <a:schemeClr val="accent1">
              <a:alpha val="12000"/>
            </a:schemeClr>
          </a:solidFill>
          <a:ln>
            <a:noFill/>
          </a:ln>
        </p:spPr>
      </p:sp>
      <p:sp>
        <p:nvSpPr>
          <p:cNvPr id="3" name="glow2"/>
          <p:cNvSpPr/>
          <p:nvPr/>
        </p:nvSpPr>
        <p:spPr>
          <a:xfrm>
            <a:off x="9601200" y="4754880"/>
            <a:ext cx="3657600" cy="3657600"/>
          </a:xfrm>
          <a:prstGeom prst="rect">
            <a:avLst/>
          </a:prstGeom>
          <a:solidFill>
            <a:schemeClr val="accent2">
              <a:alpha val="8000"/>
            </a:schemeClr>
          </a:solidFill>
          <a:ln>
            <a:noFill/>
          </a:ln>
        </p:spPr>
      </p:sp>
      <p:sp>
        <p:nvSpPr>
          <p:cNvPr id="4" name="kicker"/>
          <p:cNvSpPr txBox="1"/>
          <p:nvPr/>
        </p:nvSpPr>
        <p:spPr>
          <a:xfrm>
            <a:off x="640080" y="457200"/>
            <a:ext cx="9144000" cy="274320"/>
          </a:xfrm>
          <a:prstGeom prst="rect">
            <a:avLst/>
          </a:prstGeom>
          <a:noFill/>
          <a:ln>
            <a:noFill/>
          </a:ln>
        </p:spPr>
        <p:txBody>
          <a:bodyPr wrap="square" lIns="0" tIns="0" rIns="0" bIns="0" rtlCol="0" anchor="t">
            <a:noAutofit/>
          </a:bodyPr>
          <a:lstStyle/>
          <a:p>
            <a:pPr algn="l" marL="0" indent="0">
              <a:buNone/>
            </a:pPr>
            <a:r>
              <a:rPr lang="en-US" sz="1200" b="1" spc="400" dirty="0">
                <a:solidFill>
                  <a:schemeClr val="accent2"/>
                </a:solidFill>
              </a:rPr>
              <a:t>IMPACT</a:t>
            </a:r>
            <a:endParaRPr lang="en-US" sz="1200" dirty="0"/>
          </a:p>
        </p:txBody>
      </p:sp>
      <p:sp>
        <p:nvSpPr>
          <p:cNvPr id="5" name="title"/>
          <p:cNvSpPr txBox="1"/>
          <p:nvPr/>
        </p:nvSpPr>
        <p:spPr>
          <a:xfrm>
            <a:off x="640080" y="777240"/>
            <a:ext cx="10911535" cy="1188720"/>
          </a:xfrm>
          <a:prstGeom prst="rect">
            <a:avLst/>
          </a:prstGeom>
          <a:noFill/>
          <a:ln>
            <a:noFill/>
          </a:ln>
        </p:spPr>
        <p:txBody>
          <a:bodyPr wrap="square" lIns="0" tIns="0" rIns="0" bIns="0" rtlCol="0" anchor="t">
            <a:noAutofit/>
          </a:bodyPr>
          <a:lstStyle/>
          <a:p>
            <a:pPr algn="l" marL="0" indent="0">
              <a:lnSpc>
                <a:spcPct val="95000"/>
              </a:lnSpc>
              <a:buNone/>
            </a:pPr>
            <a:r>
              <a:rPr lang="en-US" sz="3200" b="1" dirty="0">
                <a:solidFill>
                  <a:schemeClr val="bg1"/>
                </a:solidFill>
                <a:latin typeface="+mj-lt"/>
              </a:rPr>
              <a:t>One teacher per 100 students is impossible. </a:t>
            </a:r>
            <a:br>
              <a:rPr lang="en-US" sz="3200" dirty="0"/>
            </a:br>
            <a:r>
              <a:rPr lang="en-US" sz="3200" b="1" dirty="0">
                <a:gradFill>
                  <a:gsLst>
                    <a:gs pos="0">
                      <a:srgbClr val="9D8CFF"/>
                    </a:gs>
                    <a:gs pos="50000">
                      <a:srgbClr val="FF6FB5"/>
                    </a:gs>
                    <a:gs pos="100000">
                      <a:srgbClr val="FFC94D"/>
                    </a:gs>
                  </a:gsLst>
                  <a:lin ang="0" scaled="0"/>
                </a:gradFill>
                <a:latin typeface="+mj-lt"/>
              </a:rPr>
              <a:t>One tutor per student just became possible.</a:t>
            </a:r>
            <a:endParaRPr lang="en-US" sz="3200" dirty="0"/>
          </a:p>
        </p:txBody>
      </p:sp>
      <p:sp>
        <p:nvSpPr>
          <p:cNvPr id="6" name="footer"/>
          <p:cNvSpPr txBox="1"/>
          <p:nvPr/>
        </p:nvSpPr>
        <p:spPr>
          <a:xfrm>
            <a:off x="640080" y="6400800"/>
            <a:ext cx="5486400" cy="228600"/>
          </a:xfrm>
          <a:prstGeom prst="rect">
            <a:avLst/>
          </a:prstGeom>
          <a:noFill/>
          <a:ln>
            <a:noFill/>
          </a:ln>
        </p:spPr>
        <p:txBody>
          <a:bodyPr wrap="square" lIns="0" tIns="0" rIns="0" bIns="0" rtlCol="0" anchor="t">
            <a:noAutofit/>
          </a:bodyPr>
          <a:lstStyle/>
          <a:p>
            <a:pPr algn="l" marL="0" indent="0">
              <a:buNone/>
            </a:pPr>
            <a:r>
              <a:rPr lang="en-US" sz="1000" spc="300" dirty="0">
                <a:solidFill>
                  <a:schemeClr val="accent6"/>
                </a:solidFill>
              </a:rPr>
              <a:t>NEURALEARN  ·  COMPUTED, NOT HALLUCINATED</a:t>
            </a:r>
            <a:endParaRPr lang="en-US" sz="1000" dirty="0"/>
          </a:p>
        </p:txBody>
      </p:sp>
      <p:sp>
        <p:nvSpPr>
          <p:cNvPr id="7" name="pageNum"/>
          <p:cNvSpPr txBox="1"/>
          <p:nvPr/>
        </p:nvSpPr>
        <p:spPr>
          <a:xfrm>
            <a:off x="10637215" y="6400800"/>
            <a:ext cx="914400" cy="228600"/>
          </a:xfrm>
          <a:prstGeom prst="rect">
            <a:avLst/>
          </a:prstGeom>
          <a:noFill/>
          <a:ln>
            <a:noFill/>
          </a:ln>
        </p:spPr>
        <p:txBody>
          <a:bodyPr wrap="square" lIns="0" tIns="0" rIns="0" bIns="0" rtlCol="0" anchor="t">
            <a:noAutofit/>
          </a:bodyPr>
          <a:lstStyle/>
          <a:p>
            <a:pPr algn="r" marL="0" indent="0">
              <a:buNone/>
            </a:pPr>
            <a:r>
              <a:rPr lang="en-US" sz="1000" b="1" spc="200" dirty="0">
                <a:solidFill>
                  <a:schemeClr val="accent6"/>
                </a:solidFill>
              </a:rPr>
              <a:t>13</a:t>
            </a:r>
            <a:endParaRPr lang="en-US" sz="1000" dirty="0"/>
          </a:p>
        </p:txBody>
      </p:sp>
      <p:sp>
        <p:nvSpPr>
          <p:cNvPr id="8" name="impact0"/>
          <p:cNvSpPr/>
          <p:nvPr/>
        </p:nvSpPr>
        <p:spPr>
          <a:xfrm>
            <a:off x="640080" y="2331720"/>
            <a:ext cx="3520440" cy="2514600"/>
          </a:xfrm>
          <a:prstGeom prst="roundRect">
            <a:avLst>
              <a:gd name="adj" fmla="val 5818"/>
            </a:avLst>
          </a:prstGeom>
          <a:solidFill>
            <a:schemeClr val="tx2"/>
          </a:solidFill>
          <a:ln w="12700">
            <a:solidFill>
              <a:schemeClr val="accent2"/>
            </a:solidFill>
          </a:ln>
        </p:spPr>
      </p:sp>
      <p:sp>
        <p:nvSpPr>
          <p:cNvPr id="9" name="impact0Mark"/>
          <p:cNvSpPr/>
          <p:nvPr/>
        </p:nvSpPr>
        <p:spPr>
          <a:xfrm>
            <a:off x="896112" y="2606040"/>
            <a:ext cx="109728" cy="384048"/>
          </a:xfrm>
          <a:prstGeom prst="rect">
            <a:avLst/>
          </a:prstGeom>
          <a:solidFill>
            <a:schemeClr val="accent2"/>
          </a:solidFill>
          <a:ln>
            <a:noFill/>
          </a:ln>
        </p:spPr>
      </p:sp>
      <p:sp>
        <p:nvSpPr>
          <p:cNvPr id="10" name="impact0Title"/>
          <p:cNvSpPr txBox="1"/>
          <p:nvPr/>
        </p:nvSpPr>
        <p:spPr>
          <a:xfrm>
            <a:off x="1170432" y="2569464"/>
            <a:ext cx="2734056" cy="457200"/>
          </a:xfrm>
          <a:prstGeom prst="rect">
            <a:avLst/>
          </a:prstGeom>
          <a:noFill/>
          <a:ln>
            <a:noFill/>
          </a:ln>
        </p:spPr>
        <p:txBody>
          <a:bodyPr wrap="square" lIns="0" tIns="0" rIns="0" bIns="0" rtlCol="0" anchor="ctr">
            <a:noAutofit/>
          </a:bodyPr>
          <a:lstStyle/>
          <a:p>
            <a:pPr algn="l" marL="0" indent="0">
              <a:lnSpc>
                <a:spcPct val="95000"/>
              </a:lnSpc>
              <a:buNone/>
            </a:pPr>
            <a:r>
              <a:rPr lang="en-US" sz="2200" b="1" dirty="0">
                <a:solidFill>
                  <a:schemeClr val="bg1"/>
                </a:solidFill>
                <a:latin typeface="+mj-lt"/>
              </a:rPr>
              <a:t>Equal</a:t>
            </a:r>
            <a:endParaRPr lang="en-US" sz="2200" dirty="0"/>
          </a:p>
        </p:txBody>
      </p:sp>
      <p:sp>
        <p:nvSpPr>
          <p:cNvPr id="11" name="impact0Desc"/>
          <p:cNvSpPr txBox="1"/>
          <p:nvPr/>
        </p:nvSpPr>
        <p:spPr>
          <a:xfrm>
            <a:off x="1170432" y="3154680"/>
            <a:ext cx="2734056" cy="1554480"/>
          </a:xfrm>
          <a:prstGeom prst="rect">
            <a:avLst/>
          </a:prstGeom>
          <a:noFill/>
          <a:ln>
            <a:noFill/>
          </a:ln>
        </p:spPr>
        <p:txBody>
          <a:bodyPr wrap="square" lIns="0" tIns="0" rIns="0" bIns="0" rtlCol="0" anchor="t">
            <a:noAutofit/>
          </a:bodyPr>
          <a:lstStyle/>
          <a:p>
            <a:pPr algn="l" marL="0" indent="0">
              <a:lnSpc>
                <a:spcPct val="115000"/>
              </a:lnSpc>
              <a:buNone/>
            </a:pPr>
            <a:r>
              <a:rPr lang="en-US" sz="1700" dirty="0">
                <a:solidFill>
                  <a:schemeClr val="accent6"/>
                </a:solidFill>
              </a:rPr>
              <a:t>The “best teacher” stops being a privilege of those who can pay for coaching.</a:t>
            </a:r>
            <a:endParaRPr lang="en-US" sz="1700" dirty="0"/>
          </a:p>
        </p:txBody>
      </p:sp>
      <p:sp>
        <p:nvSpPr>
          <p:cNvPr id="12" name="impact1"/>
          <p:cNvSpPr/>
          <p:nvPr/>
        </p:nvSpPr>
        <p:spPr>
          <a:xfrm>
            <a:off x="4334256" y="2331720"/>
            <a:ext cx="3520440" cy="2514600"/>
          </a:xfrm>
          <a:prstGeom prst="roundRect">
            <a:avLst>
              <a:gd name="adj" fmla="val 5818"/>
            </a:avLst>
          </a:prstGeom>
          <a:solidFill>
            <a:schemeClr val="tx2"/>
          </a:solidFill>
          <a:ln w="12700">
            <a:solidFill>
              <a:schemeClr val="accent4"/>
            </a:solidFill>
          </a:ln>
        </p:spPr>
      </p:sp>
      <p:sp>
        <p:nvSpPr>
          <p:cNvPr id="13" name="impact1Mark"/>
          <p:cNvSpPr/>
          <p:nvPr/>
        </p:nvSpPr>
        <p:spPr>
          <a:xfrm>
            <a:off x="4590288" y="2606040"/>
            <a:ext cx="109728" cy="384048"/>
          </a:xfrm>
          <a:prstGeom prst="rect">
            <a:avLst/>
          </a:prstGeom>
          <a:solidFill>
            <a:schemeClr val="accent4"/>
          </a:solidFill>
          <a:ln>
            <a:noFill/>
          </a:ln>
        </p:spPr>
      </p:sp>
      <p:sp>
        <p:nvSpPr>
          <p:cNvPr id="14" name="impact1Title"/>
          <p:cNvSpPr txBox="1"/>
          <p:nvPr/>
        </p:nvSpPr>
        <p:spPr>
          <a:xfrm>
            <a:off x="4864608" y="2569464"/>
            <a:ext cx="2734056" cy="457200"/>
          </a:xfrm>
          <a:prstGeom prst="rect">
            <a:avLst/>
          </a:prstGeom>
          <a:noFill/>
          <a:ln>
            <a:noFill/>
          </a:ln>
        </p:spPr>
        <p:txBody>
          <a:bodyPr wrap="square" lIns="0" tIns="0" rIns="0" bIns="0" rtlCol="0" anchor="ctr">
            <a:noAutofit/>
          </a:bodyPr>
          <a:lstStyle/>
          <a:p>
            <a:pPr algn="l" marL="0" indent="0">
              <a:lnSpc>
                <a:spcPct val="95000"/>
              </a:lnSpc>
              <a:buNone/>
            </a:pPr>
            <a:r>
              <a:rPr lang="en-US" sz="2200" b="1" dirty="0">
                <a:solidFill>
                  <a:schemeClr val="bg1"/>
                </a:solidFill>
                <a:latin typeface="+mj-lt"/>
              </a:rPr>
              <a:t>Local-first</a:t>
            </a:r>
            <a:endParaRPr lang="en-US" sz="2200" dirty="0"/>
          </a:p>
        </p:txBody>
      </p:sp>
      <p:sp>
        <p:nvSpPr>
          <p:cNvPr id="15" name="impact1Desc"/>
          <p:cNvSpPr txBox="1"/>
          <p:nvPr/>
        </p:nvSpPr>
        <p:spPr>
          <a:xfrm>
            <a:off x="4864608" y="3154680"/>
            <a:ext cx="2734056" cy="1554480"/>
          </a:xfrm>
          <a:prstGeom prst="rect">
            <a:avLst/>
          </a:prstGeom>
          <a:noFill/>
          <a:ln>
            <a:noFill/>
          </a:ln>
        </p:spPr>
        <p:txBody>
          <a:bodyPr wrap="square" lIns="0" tIns="0" rIns="0" bIns="0" rtlCol="0" anchor="t">
            <a:noAutofit/>
          </a:bodyPr>
          <a:lstStyle/>
          <a:p>
            <a:pPr algn="l" marL="0" indent="0">
              <a:lnSpc>
                <a:spcPct val="115000"/>
              </a:lnSpc>
              <a:buNone/>
            </a:pPr>
            <a:r>
              <a:rPr lang="en-US" sz="1700" dirty="0">
                <a:solidFill>
                  <a:schemeClr val="accent6"/>
                </a:solidFill>
              </a:rPr>
              <a:t>Built for Indian syllabi and textbooks, with voice narration included. Hindi &amp; Kannada are next.</a:t>
            </a:r>
            <a:endParaRPr lang="en-US" sz="1700" dirty="0"/>
          </a:p>
        </p:txBody>
      </p:sp>
      <p:sp>
        <p:nvSpPr>
          <p:cNvPr id="16" name="impact2"/>
          <p:cNvSpPr/>
          <p:nvPr/>
        </p:nvSpPr>
        <p:spPr>
          <a:xfrm>
            <a:off x="8028432" y="2331720"/>
            <a:ext cx="3520440" cy="2514600"/>
          </a:xfrm>
          <a:prstGeom prst="roundRect">
            <a:avLst>
              <a:gd name="adj" fmla="val 5818"/>
            </a:avLst>
          </a:prstGeom>
          <a:solidFill>
            <a:schemeClr val="tx2"/>
          </a:solidFill>
          <a:ln w="12700">
            <a:solidFill>
              <a:schemeClr val="accent1"/>
            </a:solidFill>
          </a:ln>
        </p:spPr>
      </p:sp>
      <p:sp>
        <p:nvSpPr>
          <p:cNvPr id="17" name="impact2Mark"/>
          <p:cNvSpPr/>
          <p:nvPr/>
        </p:nvSpPr>
        <p:spPr>
          <a:xfrm>
            <a:off x="8284464" y="2606040"/>
            <a:ext cx="109728" cy="384048"/>
          </a:xfrm>
          <a:prstGeom prst="rect">
            <a:avLst/>
          </a:prstGeom>
          <a:solidFill>
            <a:schemeClr val="accent1"/>
          </a:solidFill>
          <a:ln>
            <a:noFill/>
          </a:ln>
        </p:spPr>
      </p:sp>
      <p:sp>
        <p:nvSpPr>
          <p:cNvPr id="18" name="impact2Title"/>
          <p:cNvSpPr txBox="1"/>
          <p:nvPr/>
        </p:nvSpPr>
        <p:spPr>
          <a:xfrm>
            <a:off x="8558784" y="2569464"/>
            <a:ext cx="2734056" cy="457200"/>
          </a:xfrm>
          <a:prstGeom prst="rect">
            <a:avLst/>
          </a:prstGeom>
          <a:noFill/>
          <a:ln>
            <a:noFill/>
          </a:ln>
        </p:spPr>
        <p:txBody>
          <a:bodyPr wrap="square" lIns="0" tIns="0" rIns="0" bIns="0" rtlCol="0" anchor="ctr">
            <a:noAutofit/>
          </a:bodyPr>
          <a:lstStyle/>
          <a:p>
            <a:pPr algn="l" marL="0" indent="0">
              <a:lnSpc>
                <a:spcPct val="95000"/>
              </a:lnSpc>
              <a:buNone/>
            </a:pPr>
            <a:r>
              <a:rPr lang="en-US" sz="2200" b="1" dirty="0">
                <a:solidFill>
                  <a:schemeClr val="bg1"/>
                </a:solidFill>
                <a:latin typeface="+mj-lt"/>
              </a:rPr>
              <a:t>Generational</a:t>
            </a:r>
            <a:endParaRPr lang="en-US" sz="2200" dirty="0"/>
          </a:p>
        </p:txBody>
      </p:sp>
      <p:sp>
        <p:nvSpPr>
          <p:cNvPr id="19" name="impact2Desc"/>
          <p:cNvSpPr txBox="1"/>
          <p:nvPr/>
        </p:nvSpPr>
        <p:spPr>
          <a:xfrm>
            <a:off x="8558784" y="3154680"/>
            <a:ext cx="2734056" cy="1554480"/>
          </a:xfrm>
          <a:prstGeom prst="rect">
            <a:avLst/>
          </a:prstGeom>
          <a:noFill/>
          <a:ln>
            <a:noFill/>
          </a:ln>
        </p:spPr>
        <p:txBody>
          <a:bodyPr wrap="square" lIns="0" tIns="0" rIns="0" bIns="0" rtlCol="0" anchor="t">
            <a:noAutofit/>
          </a:bodyPr>
          <a:lstStyle/>
          <a:p>
            <a:pPr algn="l" marL="0" indent="0">
              <a:lnSpc>
                <a:spcPct val="115000"/>
              </a:lnSpc>
              <a:buNone/>
            </a:pPr>
            <a:r>
              <a:rPr lang="en-US" sz="1700" dirty="0">
                <a:solidFill>
                  <a:schemeClr val="accent6"/>
                </a:solidFill>
              </a:rPr>
              <a:t>A generation that understood its subjects, not memorised them, will build a better tomorrow.</a:t>
            </a:r>
            <a:endParaRPr lang="en-US" sz="1700" dirty="0"/>
          </a:p>
        </p:txBody>
      </p:sp>
      <p:sp>
        <p:nvSpPr>
          <p:cNvPr id="20" name="callout"/>
          <p:cNvSpPr/>
          <p:nvPr/>
        </p:nvSpPr>
        <p:spPr>
          <a:xfrm>
            <a:off x="640080" y="5166360"/>
            <a:ext cx="10911535" cy="777240"/>
          </a:xfrm>
          <a:prstGeom prst="roundRect">
            <a:avLst>
              <a:gd name="adj" fmla="val 18824"/>
            </a:avLst>
          </a:prstGeom>
          <a:solidFill>
            <a:schemeClr val="accent1">
              <a:alpha val="22000"/>
            </a:schemeClr>
          </a:solidFill>
          <a:ln w="12700">
            <a:solidFill>
              <a:schemeClr val="accent1"/>
            </a:solidFill>
          </a:ln>
        </p:spPr>
        <p:txBody>
          <a:bodyPr wrap="square" lIns="274320" tIns="274320" rIns="274320" bIns="274320" rtlCol="0" anchor="ctr">
            <a:noAutofit/>
          </a:bodyPr>
          <a:lstStyle/>
          <a:p>
            <a:pPr algn="l" marL="0" indent="0">
              <a:buNone/>
            </a:pPr>
            <a:r>
              <a:rPr lang="en-US" sz="1800" b="1" dirty="0">
                <a:solidFill>
                  <a:schemeClr val="bg1"/>
                </a:solidFill>
              </a:rPr>
              <a:t>The proof of concept already runs end to end: any topic, your own PDF, live doubts, computed lessons.</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orb1"/>
          <p:cNvSpPr/>
          <p:nvPr/>
        </p:nvSpPr>
        <p:spPr>
          <a:xfrm>
            <a:off x="6583680" y="-914400"/>
            <a:ext cx="7315200" cy="7315200"/>
          </a:xfrm>
          <a:prstGeom prst="rect">
            <a:avLst/>
          </a:prstGeom>
          <a:solidFill>
            <a:schemeClr val="accent1">
              <a:alpha val="30000"/>
            </a:schemeClr>
          </a:solidFill>
          <a:ln>
            <a:noFill/>
          </a:ln>
        </p:spPr>
      </p:sp>
      <p:sp>
        <p:nvSpPr>
          <p:cNvPr id="3" name="orb2"/>
          <p:cNvSpPr/>
          <p:nvPr/>
        </p:nvSpPr>
        <p:spPr>
          <a:xfrm>
            <a:off x="8412480" y="2286000"/>
            <a:ext cx="4572000" cy="4572000"/>
          </a:xfrm>
          <a:prstGeom prst="rect">
            <a:avLst/>
          </a:prstGeom>
          <a:solidFill>
            <a:schemeClr val="accent2">
              <a:alpha val="22000"/>
            </a:schemeClr>
          </a:solidFill>
          <a:ln>
            <a:noFill/>
          </a:ln>
        </p:spPr>
      </p:sp>
      <p:sp>
        <p:nvSpPr>
          <p:cNvPr id="4" name="brand"/>
          <p:cNvSpPr txBox="1"/>
          <p:nvPr/>
        </p:nvSpPr>
        <p:spPr>
          <a:xfrm>
            <a:off x="822960" y="1188720"/>
            <a:ext cx="5669280" cy="365760"/>
          </a:xfrm>
          <a:prstGeom prst="rect">
            <a:avLst/>
          </a:prstGeom>
          <a:noFill/>
          <a:ln>
            <a:noFill/>
          </a:ln>
        </p:spPr>
        <p:txBody>
          <a:bodyPr wrap="square" lIns="0" tIns="0" rIns="0" bIns="0" rtlCol="0" anchor="t">
            <a:noAutofit/>
          </a:bodyPr>
          <a:lstStyle/>
          <a:p>
            <a:pPr algn="l" marL="0" indent="0">
              <a:buNone/>
            </a:pPr>
            <a:r>
              <a:rPr lang="en-US" sz="1300" b="1" spc="500" dirty="0">
                <a:solidFill>
                  <a:schemeClr val="accent2"/>
                </a:solidFill>
              </a:rPr>
              <a:t>THANK YOU</a:t>
            </a:r>
            <a:endParaRPr lang="en-US" sz="1300" dirty="0"/>
          </a:p>
        </p:txBody>
      </p:sp>
      <p:sp>
        <p:nvSpPr>
          <p:cNvPr id="5" name="title"/>
          <p:cNvSpPr txBox="1"/>
          <p:nvPr/>
        </p:nvSpPr>
        <p:spPr>
          <a:xfrm>
            <a:off x="822960" y="1691640"/>
            <a:ext cx="5669280" cy="1737360"/>
          </a:xfrm>
          <a:prstGeom prst="rect">
            <a:avLst/>
          </a:prstGeom>
          <a:noFill/>
          <a:ln>
            <a:noFill/>
          </a:ln>
        </p:spPr>
        <p:txBody>
          <a:bodyPr wrap="square" lIns="0" tIns="0" rIns="0" bIns="0" rtlCol="0" anchor="t">
            <a:noAutofit/>
          </a:bodyPr>
          <a:lstStyle/>
          <a:p>
            <a:pPr algn="l" marL="0" indent="0">
              <a:lnSpc>
                <a:spcPct val="92000"/>
              </a:lnSpc>
              <a:buNone/>
            </a:pPr>
            <a:r>
              <a:rPr lang="en-US" sz="4000" b="1" dirty="0">
                <a:solidFill>
                  <a:schemeClr val="bg1"/>
                </a:solidFill>
                <a:latin typeface="+mj-lt"/>
              </a:rPr>
              <a:t>Understand it.</a:t>
            </a:r>
            <a:br>
              <a:rPr lang="en-US" sz="4000" dirty="0"/>
            </a:br>
            <a:r>
              <a:rPr lang="en-US" sz="4000" b="1" dirty="0">
                <a:gradFill>
                  <a:gsLst>
                    <a:gs pos="0">
                      <a:srgbClr val="9D8CFF"/>
                    </a:gs>
                    <a:gs pos="50000">
                      <a:srgbClr val="FF6FB5"/>
                    </a:gs>
                    <a:gs pos="100000">
                      <a:srgbClr val="FFC94D"/>
                    </a:gs>
                  </a:gsLst>
                  <a:lin ang="0" scaled="0"/>
                </a:gradFill>
                <a:latin typeface="+mj-lt"/>
              </a:rPr>
              <a:t>Don't just memorize it.</a:t>
            </a:r>
            <a:endParaRPr lang="en-US" sz="4000" dirty="0"/>
          </a:p>
        </p:txBody>
      </p:sp>
      <p:sp>
        <p:nvSpPr>
          <p:cNvPr id="6" name="sub"/>
          <p:cNvSpPr txBox="1"/>
          <p:nvPr/>
        </p:nvSpPr>
        <p:spPr>
          <a:xfrm>
            <a:off x="822960" y="3291840"/>
            <a:ext cx="5394960" cy="914400"/>
          </a:xfrm>
          <a:prstGeom prst="rect">
            <a:avLst/>
          </a:prstGeom>
          <a:noFill/>
          <a:ln>
            <a:noFill/>
          </a:ln>
        </p:spPr>
        <p:txBody>
          <a:bodyPr wrap="square" lIns="0" tIns="0" rIns="0" bIns="0" rtlCol="0" anchor="t">
            <a:noAutofit/>
          </a:bodyPr>
          <a:lstStyle/>
          <a:p>
            <a:pPr algn="l" marL="0" indent="0">
              <a:lnSpc>
                <a:spcPct val="115000"/>
              </a:lnSpc>
              <a:buNone/>
            </a:pPr>
            <a:r>
              <a:rPr lang="en-US" sz="1900" dirty="0">
                <a:solidFill>
                  <a:schemeClr val="accent6"/>
                </a:solidFill>
              </a:rPr>
              <a:t>A working proof of concept, not just a deck. Let us show you live.</a:t>
            </a:r>
            <a:endParaRPr lang="en-US" sz="1900" dirty="0"/>
          </a:p>
        </p:txBody>
      </p:sp>
      <p:sp>
        <p:nvSpPr>
          <p:cNvPr id="7" name="cta0"/>
          <p:cNvSpPr/>
          <p:nvPr/>
        </p:nvSpPr>
        <p:spPr>
          <a:xfrm>
            <a:off x="822960" y="4434840"/>
            <a:ext cx="1737360" cy="457200"/>
          </a:xfrm>
          <a:prstGeom prst="roundRect">
            <a:avLst>
              <a:gd name="adj" fmla="val 50000"/>
            </a:avLst>
          </a:prstGeom>
          <a:solidFill>
            <a:schemeClr val="tx2"/>
          </a:solidFill>
          <a:ln w="12700">
            <a:solidFill>
              <a:schemeClr val="accent2"/>
            </a:solidFill>
          </a:ln>
        </p:spPr>
        <p:txBody>
          <a:bodyPr wrap="square" lIns="73152" tIns="73152" rIns="73152" bIns="73152" rtlCol="0" anchor="ctr">
            <a:noAutofit/>
          </a:bodyPr>
          <a:lstStyle/>
          <a:p>
            <a:pPr algn="ctr" marL="0" indent="0">
              <a:buNone/>
            </a:pPr>
            <a:r>
              <a:rPr lang="en-US" sz="1300" b="1" dirty="0">
                <a:solidFill>
                  <a:schemeClr val="bg1"/>
                </a:solidFill>
              </a:rPr>
              <a:t>Ask anything</a:t>
            </a:r>
            <a:endParaRPr lang="en-US" sz="1300" dirty="0"/>
          </a:p>
        </p:txBody>
      </p:sp>
      <p:sp>
        <p:nvSpPr>
          <p:cNvPr id="8" name="cta1"/>
          <p:cNvSpPr/>
          <p:nvPr/>
        </p:nvSpPr>
        <p:spPr>
          <a:xfrm>
            <a:off x="2697480" y="4434840"/>
            <a:ext cx="1737360" cy="457200"/>
          </a:xfrm>
          <a:prstGeom prst="roundRect">
            <a:avLst>
              <a:gd name="adj" fmla="val 50000"/>
            </a:avLst>
          </a:prstGeom>
          <a:solidFill>
            <a:schemeClr val="tx2"/>
          </a:solidFill>
          <a:ln w="12700">
            <a:solidFill>
              <a:schemeClr val="accent1"/>
            </a:solidFill>
          </a:ln>
        </p:spPr>
        <p:txBody>
          <a:bodyPr wrap="square" lIns="73152" tIns="73152" rIns="73152" bIns="73152" rtlCol="0" anchor="ctr">
            <a:noAutofit/>
          </a:bodyPr>
          <a:lstStyle/>
          <a:p>
            <a:pPr algn="ctr" marL="0" indent="0">
              <a:buNone/>
            </a:pPr>
            <a:r>
              <a:rPr lang="en-US" sz="1300" b="1" dirty="0">
                <a:solidFill>
                  <a:schemeClr val="bg1"/>
                </a:solidFill>
              </a:rPr>
              <a:t>Read it first</a:t>
            </a:r>
            <a:endParaRPr lang="en-US" sz="1300" dirty="0"/>
          </a:p>
        </p:txBody>
      </p:sp>
      <p:sp>
        <p:nvSpPr>
          <p:cNvPr id="9" name="cta2"/>
          <p:cNvSpPr/>
          <p:nvPr/>
        </p:nvSpPr>
        <p:spPr>
          <a:xfrm>
            <a:off x="4572000" y="4434840"/>
            <a:ext cx="1737360" cy="457200"/>
          </a:xfrm>
          <a:prstGeom prst="roundRect">
            <a:avLst>
              <a:gd name="adj" fmla="val 50000"/>
            </a:avLst>
          </a:prstGeom>
          <a:solidFill>
            <a:schemeClr val="tx2"/>
          </a:solidFill>
          <a:ln w="12700">
            <a:solidFill>
              <a:schemeClr val="accent5"/>
            </a:solidFill>
          </a:ln>
        </p:spPr>
        <p:txBody>
          <a:bodyPr wrap="square" lIns="73152" tIns="73152" rIns="73152" bIns="73152" rtlCol="0" anchor="ctr">
            <a:noAutofit/>
          </a:bodyPr>
          <a:lstStyle/>
          <a:p>
            <a:pPr algn="ctr" marL="0" indent="0">
              <a:buNone/>
            </a:pPr>
            <a:r>
              <a:rPr lang="en-US" sz="1300" b="1" dirty="0">
                <a:solidFill>
                  <a:schemeClr val="bg1"/>
                </a:solidFill>
              </a:rPr>
              <a:t>Watch it drawn</a:t>
            </a:r>
            <a:endParaRPr lang="en-US" sz="1300" dirty="0"/>
          </a:p>
        </p:txBody>
      </p:sp>
      <p:sp>
        <p:nvSpPr>
          <p:cNvPr id="10" name="logoMark"/>
          <p:cNvSpPr/>
          <p:nvPr/>
        </p:nvSpPr>
        <p:spPr>
          <a:xfrm>
            <a:off x="8823960" y="1874520"/>
            <a:ext cx="1097280" cy="1097280"/>
          </a:xfrm>
          <a:prstGeom prst="roundRect">
            <a:avLst>
              <a:gd name="adj" fmla="val 25000"/>
            </a:avLst>
          </a:prstGeom>
          <a:solidFill>
            <a:schemeClr val="accent1"/>
          </a:solidFill>
          <a:ln>
            <a:noFill/>
          </a:ln>
        </p:spPr>
        <p:txBody>
          <a:bodyPr wrap="square" lIns="0" tIns="0" rIns="0" bIns="0" rtlCol="0" anchor="ctr">
            <a:noAutofit/>
          </a:bodyPr>
          <a:lstStyle/>
          <a:p>
            <a:pPr algn="ctr" marL="0" indent="0">
              <a:buNone/>
            </a:pPr>
            <a:r>
              <a:rPr lang="en-US" sz="5400" b="1" dirty="0">
                <a:solidFill>
                  <a:schemeClr val="bg1"/>
                </a:solidFill>
                <a:latin typeface="+mj-lt"/>
              </a:rPr>
              <a:t>N</a:t>
            </a:r>
            <a:endParaRPr lang="en-US" sz="5400" dirty="0"/>
          </a:p>
        </p:txBody>
      </p:sp>
      <p:sp>
        <p:nvSpPr>
          <p:cNvPr id="11" name="wordmark"/>
          <p:cNvSpPr txBox="1"/>
          <p:nvPr/>
        </p:nvSpPr>
        <p:spPr>
          <a:xfrm>
            <a:off x="6903720" y="3200400"/>
            <a:ext cx="4937760" cy="1005840"/>
          </a:xfrm>
          <a:prstGeom prst="rect">
            <a:avLst/>
          </a:prstGeom>
          <a:noFill/>
          <a:ln>
            <a:noFill/>
          </a:ln>
        </p:spPr>
        <p:txBody>
          <a:bodyPr wrap="square" lIns="0" tIns="0" rIns="0" bIns="0" rtlCol="0" anchor="ctr">
            <a:noAutofit/>
          </a:bodyPr>
          <a:lstStyle/>
          <a:p>
            <a:pPr algn="ctr" marL="0" indent="0">
              <a:buNone/>
            </a:pPr>
            <a:r>
              <a:rPr lang="en-US" sz="6000" b="1" dirty="0">
                <a:solidFill>
                  <a:schemeClr val="bg1"/>
                </a:solidFill>
                <a:latin typeface="+mj-lt"/>
              </a:rPr>
              <a:t>NeuraLearn</a:t>
            </a:r>
            <a:endParaRPr lang="en-US" sz="6000" dirty="0"/>
          </a:p>
        </p:txBody>
      </p:sp>
      <p:sp>
        <p:nvSpPr>
          <p:cNvPr id="12" name="team"/>
          <p:cNvSpPr txBox="1"/>
          <p:nvPr/>
        </p:nvSpPr>
        <p:spPr>
          <a:xfrm>
            <a:off x="6903720" y="4251960"/>
            <a:ext cx="4937760" cy="411480"/>
          </a:xfrm>
          <a:prstGeom prst="rect">
            <a:avLst/>
          </a:prstGeom>
          <a:noFill/>
          <a:ln>
            <a:noFill/>
          </a:ln>
        </p:spPr>
        <p:txBody>
          <a:bodyPr wrap="square" lIns="0" tIns="0" rIns="0" bIns="0" rtlCol="0" anchor="ctr">
            <a:noAutofit/>
          </a:bodyPr>
          <a:lstStyle/>
          <a:p>
            <a:pPr algn="ctr" marL="0" indent="0">
              <a:buNone/>
            </a:pPr>
            <a:r>
              <a:rPr lang="en-US" sz="1600" b="1" spc="600" dirty="0">
                <a:solidFill>
                  <a:schemeClr val="bg1"/>
                </a:solidFill>
              </a:rPr>
              <a:t>BY TEAM VOIDRAX</a:t>
            </a:r>
            <a:endParaRPr lang="en-US" sz="1600" dirty="0"/>
          </a:p>
        </p:txBody>
      </p:sp>
    </p:spTree>
  </p:cSld>
  <p:clrMapOvr>
    <a:masterClrMapping/>
  </p:clrMapOvr>
</p:sld>
</file>

<file path=ppt/theme/theme1.xml><?xml version="1.0" encoding="utf-8"?>
<a:theme xmlns:a="http://schemas.openxmlformats.org/drawingml/2006/main" name="Neuralearn">
  <a:themeElements>
    <a:clrScheme name="Neuralearn">
      <a:dk1>
        <a:srgbClr val="0B0F2A"/>
      </a:dk1>
      <a:lt1>
        <a:srgbClr val="FFFFFF"/>
      </a:lt1>
      <a:dk2>
        <a:srgbClr val="151B45"/>
      </a:dk2>
      <a:lt2>
        <a:srgbClr val="EEF0FF"/>
      </a:lt2>
      <a:accent1>
        <a:srgbClr val="7C5CFF"/>
      </a:accent1>
      <a:accent2>
        <a:srgbClr val="22D3EE"/>
      </a:accent2>
      <a:accent3>
        <a:srgbClr val="FF6B6B"/>
      </a:accent3>
      <a:accent4>
        <a:srgbClr val="FBBF24"/>
      </a:accent4>
      <a:accent5>
        <a:srgbClr val="34D399"/>
      </a:accent5>
      <a:accent6>
        <a:srgbClr val="A5B4FC"/>
      </a:accent6>
      <a:hlink>
        <a:srgbClr val="22D3EE"/>
      </a:hlink>
      <a:folHlink>
        <a:srgbClr val="A5B4FC"/>
      </a:folHlink>
    </a:clrScheme>
    <a:fontScheme name="Neuralearn">
      <a:majorFont>
        <a:latin typeface="Trebuchet M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Neuralearn</dc:title>
  <dc:subject>PptxGenJS Presentation</dc:subject>
  <dc:creator>PptxGenJS</dc:creator>
  <cp:lastModifiedBy>PptxGenJS</cp:lastModifiedBy>
  <cp:revision>1</cp:revision>
  <dcterms:created xsi:type="dcterms:W3CDTF">2026-10-17T05:49:50Z</dcterms:created>
  <dcterms:modified xsi:type="dcterms:W3CDTF">2026-10-17T05:49:50Z</dcterms:modified>
</cp:coreProperties>
</file>