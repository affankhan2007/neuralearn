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abb0e741-3a61-7553-1545-e18c59f0a40d}">
          <p14:sldIdLst>
            <p14:sldId id="256"/>
          </p14:sldIdLst>
        </p14:section>
        <p14:section name="Problem" id="{c625a763-4f77-e845-abe2-6fe79a7ffbc8}">
          <p14:sldIdLst>
            <p14:sldId id="257"/>
          </p14:sldIdLst>
        </p14:section>
        <p14:section name="Solution" id="{05e1e22a-8a2b-14ba-5d72-28b0650e0b61}">
          <p14:sldIdLst>
            <p14:sldId id="258"/>
          </p14:sldIdLst>
        </p14:section>
        <p14:section name="Product" id="{78567101-bea3-5b5c-0dbd-e7d9cb8b44f8}">
          <p14:sldIdLst>
            <p14:sldId id="259"/>
            <p14:sldId id="260"/>
          </p14:sldIdLst>
        </p14:section>
        <p14:section name="Next" id="{fe276c17-04cb-5535-0b3c-e73924fbe180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one place, one question, instant understanding. Every student in the room has lost an evening to tab-hopping.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tabs left to right. Each tool solves one slice, none solve the whole question. Students stitch the answer together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a topic in your own words. Video, text, translation and PDF support are live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steps, no tab switching. The follow-up step is where continuity beats the old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four needs, handled in one flow instead of four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this is the upcoming expansion, not a shipped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shipped. Next and Then are direction. Add traction numbers here once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single idea: one platform, one question, instant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1"/>
          <p:cNvSpPr/>
          <p:nvPr/>
        </p:nvSpPr>
        <p:spPr>
          <a:xfrm>
            <a:off x="6583680" y="-914400"/>
            <a:ext cx="7315200" cy="7315200"/>
          </a:xfrm>
          <a:prstGeom prst="rect">
            <a:avLst/>
          </a:prstGeom>
          <a:solidFill>
            <a:schemeClr val="accent1">
              <a:alpha val="30000"/>
            </a:schemeClr>
          </a:solidFill>
          <a:ln/>
        </p:spPr>
      </p:sp>
      <p:sp>
        <p:nvSpPr>
          <p:cNvPr id="3" name="orb2"/>
          <p:cNvSpPr/>
          <p:nvPr/>
        </p:nvSpPr>
        <p:spPr>
          <a:xfrm>
            <a:off x="8412480" y="2286000"/>
            <a:ext cx="4572000" cy="457200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4" name="brand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spc="800" kern="0" dirty="0">
                <a:solidFill>
                  <a:schemeClr val="accent2"/>
                </a:solidFill>
              </a:rPr>
              <a:t>NEURALEARN</a:t>
            </a:r>
            <a:endParaRPr lang="en-US" sz="1600" dirty="0"/>
          </a:p>
        </p:txBody>
      </p:sp>
      <p:sp>
        <p:nvSpPr>
          <p:cNvPr id="5" name="title"/>
          <p:cNvSpPr txBox="1"/>
          <p:nvPr/>
        </p:nvSpPr>
        <p:spPr>
          <a:xfrm>
            <a:off x="822960" y="19202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Stop tab-hopping.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Start learning.</a:t>
            </a:r>
            <a:endParaRPr lang="en-US" sz="4600" dirty="0"/>
          </a:p>
        </p:txBody>
      </p:sp>
      <p:sp>
        <p:nvSpPr>
          <p:cNvPr id="6" name="rule"/>
          <p:cNvSpPr/>
          <p:nvPr/>
        </p:nvSpPr>
        <p:spPr>
          <a:xfrm>
            <a:off x="822960" y="4297680"/>
            <a:ext cx="109728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ub"/>
          <p:cNvSpPr txBox="1"/>
          <p:nvPr/>
        </p:nvSpPr>
        <p:spPr>
          <a:xfrm>
            <a:off x="822960" y="4663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The all-in-one AI learning platform: instant video lessons, clear explanations, and a mentor you can talk to.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-914400" y="-1371600"/>
            <a:ext cx="4114800" cy="4114800"/>
          </a:xfrm>
          <a:prstGeom prst="rect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glow2"/>
          <p:cNvSpPr/>
          <p:nvPr/>
        </p:nvSpPr>
        <p:spPr>
          <a:xfrm>
            <a:off x="9601200" y="4754880"/>
            <a:ext cx="3657600" cy="3657600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small doubt. Five tabs. An hour gone.</a:t>
            </a:r>
            <a:endParaRPr lang="en-US" sz="34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NEURALEARN</a:t>
            </a:r>
            <a:endParaRPr lang="en-US" sz="1000" dirty="0"/>
          </a:p>
        </p:txBody>
      </p:sp>
      <p:sp>
        <p:nvSpPr>
          <p:cNvPr id="7" name="tab0"/>
          <p:cNvSpPr/>
          <p:nvPr/>
        </p:nvSpPr>
        <p:spPr>
          <a:xfrm>
            <a:off x="640080" y="2377440"/>
            <a:ext cx="2011680" cy="210312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abbar0"/>
          <p:cNvSpPr/>
          <p:nvPr/>
        </p:nvSpPr>
        <p:spPr>
          <a:xfrm>
            <a:off x="640080" y="2377440"/>
            <a:ext cx="2011680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abname0"/>
          <p:cNvSpPr txBox="1"/>
          <p:nvPr/>
        </p:nvSpPr>
        <p:spPr>
          <a:xfrm>
            <a:off x="82296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YouTube</a:t>
            </a:r>
            <a:endParaRPr lang="en-US" sz="2000" dirty="0"/>
          </a:p>
        </p:txBody>
      </p:sp>
      <p:sp>
        <p:nvSpPr>
          <p:cNvPr id="10" name="tabtxt0"/>
          <p:cNvSpPr txBox="1"/>
          <p:nvPr/>
        </p:nvSpPr>
        <p:spPr>
          <a:xfrm>
            <a:off x="82296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Scrub through 20 min videos</a:t>
            </a:r>
            <a:endParaRPr lang="en-US" sz="1400" dirty="0"/>
          </a:p>
        </p:txBody>
      </p:sp>
      <p:sp>
        <p:nvSpPr>
          <p:cNvPr id="11" name="tab1"/>
          <p:cNvSpPr/>
          <p:nvPr/>
        </p:nvSpPr>
        <p:spPr>
          <a:xfrm>
            <a:off x="2880360" y="2377440"/>
            <a:ext cx="2011680" cy="210312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abbar1"/>
          <p:cNvSpPr/>
          <p:nvPr/>
        </p:nvSpPr>
        <p:spPr>
          <a:xfrm>
            <a:off x="2880360" y="2377440"/>
            <a:ext cx="2011680" cy="1097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3" name="tabname1"/>
          <p:cNvSpPr txBox="1"/>
          <p:nvPr/>
        </p:nvSpPr>
        <p:spPr>
          <a:xfrm>
            <a:off x="30632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Google</a:t>
            </a:r>
            <a:endParaRPr lang="en-US" sz="2000" dirty="0"/>
          </a:p>
        </p:txBody>
      </p:sp>
      <p:sp>
        <p:nvSpPr>
          <p:cNvPr id="14" name="tabtxt1"/>
          <p:cNvSpPr txBox="1"/>
          <p:nvPr/>
        </p:nvSpPr>
        <p:spPr>
          <a:xfrm>
            <a:off x="306324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Ten links, mixed quality</a:t>
            </a:r>
            <a:endParaRPr lang="en-US" sz="1400" dirty="0"/>
          </a:p>
        </p:txBody>
      </p:sp>
      <p:sp>
        <p:nvSpPr>
          <p:cNvPr id="15" name="tab2"/>
          <p:cNvSpPr/>
          <p:nvPr/>
        </p:nvSpPr>
        <p:spPr>
          <a:xfrm>
            <a:off x="5120640" y="2377440"/>
            <a:ext cx="2011680" cy="210312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abbar2"/>
          <p:cNvSpPr/>
          <p:nvPr/>
        </p:nvSpPr>
        <p:spPr>
          <a:xfrm>
            <a:off x="5120640" y="2377440"/>
            <a:ext cx="2011680" cy="10972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7" name="tabname2"/>
          <p:cNvSpPr txBox="1"/>
          <p:nvPr/>
        </p:nvSpPr>
        <p:spPr>
          <a:xfrm>
            <a:off x="530352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ChatGPT</a:t>
            </a:r>
            <a:endParaRPr lang="en-US" sz="2000" dirty="0"/>
          </a:p>
        </p:txBody>
      </p:sp>
      <p:sp>
        <p:nvSpPr>
          <p:cNvPr id="18" name="tabtxt2"/>
          <p:cNvSpPr txBox="1"/>
          <p:nvPr/>
        </p:nvSpPr>
        <p:spPr>
          <a:xfrm>
            <a:off x="530352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Text only, no visuals</a:t>
            </a:r>
            <a:endParaRPr lang="en-US" sz="1400" dirty="0"/>
          </a:p>
        </p:txBody>
      </p:sp>
      <p:sp>
        <p:nvSpPr>
          <p:cNvPr id="19" name="tab3"/>
          <p:cNvSpPr/>
          <p:nvPr/>
        </p:nvSpPr>
        <p:spPr>
          <a:xfrm>
            <a:off x="7360920" y="2377440"/>
            <a:ext cx="2011680" cy="210312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abbar3"/>
          <p:cNvSpPr/>
          <p:nvPr/>
        </p:nvSpPr>
        <p:spPr>
          <a:xfrm>
            <a:off x="7360920" y="2377440"/>
            <a:ext cx="201168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tabname3"/>
          <p:cNvSpPr txBox="1"/>
          <p:nvPr/>
        </p:nvSpPr>
        <p:spPr>
          <a:xfrm>
            <a:off x="754380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PDFs</a:t>
            </a:r>
            <a:endParaRPr lang="en-US" sz="2000" dirty="0"/>
          </a:p>
        </p:txBody>
      </p:sp>
      <p:sp>
        <p:nvSpPr>
          <p:cNvPr id="22" name="tabtxt3"/>
          <p:cNvSpPr txBox="1"/>
          <p:nvPr/>
        </p:nvSpPr>
        <p:spPr>
          <a:xfrm>
            <a:off x="754380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Notes sit separate</a:t>
            </a:r>
            <a:endParaRPr lang="en-US" sz="1400" dirty="0"/>
          </a:p>
        </p:txBody>
      </p:sp>
      <p:sp>
        <p:nvSpPr>
          <p:cNvPr id="23" name="tab4"/>
          <p:cNvSpPr/>
          <p:nvPr/>
        </p:nvSpPr>
        <p:spPr>
          <a:xfrm>
            <a:off x="9601200" y="2377440"/>
            <a:ext cx="2011680" cy="2103120"/>
          </a:xfrm>
          <a:prstGeom prst="roundRect">
            <a:avLst>
              <a:gd name="adj" fmla="val 6818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abbar4"/>
          <p:cNvSpPr/>
          <p:nvPr/>
        </p:nvSpPr>
        <p:spPr>
          <a:xfrm>
            <a:off x="9601200" y="2377440"/>
            <a:ext cx="201168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tabname4"/>
          <p:cNvSpPr txBox="1"/>
          <p:nvPr/>
        </p:nvSpPr>
        <p:spPr>
          <a:xfrm>
            <a:off x="978408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Translate</a:t>
            </a:r>
            <a:endParaRPr lang="en-US" sz="2000" dirty="0"/>
          </a:p>
        </p:txBody>
      </p:sp>
      <p:sp>
        <p:nvSpPr>
          <p:cNvPr id="26" name="tabtxt4"/>
          <p:cNvSpPr txBox="1"/>
          <p:nvPr/>
        </p:nvSpPr>
        <p:spPr>
          <a:xfrm>
            <a:off x="9784080" y="32918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Lose context again</a:t>
            </a:r>
            <a:endParaRPr lang="en-US" sz="1400" dirty="0"/>
          </a:p>
        </p:txBody>
      </p:sp>
      <p:sp>
        <p:nvSpPr>
          <p:cNvPr id="27" name="callout"/>
          <p:cNvSpPr/>
          <p:nvPr/>
        </p:nvSpPr>
        <p:spPr>
          <a:xfrm>
            <a:off x="640080" y="5029200"/>
            <a:ext cx="10927080" cy="914400"/>
          </a:xfrm>
          <a:prstGeom prst="roundRect">
            <a:avLst>
              <a:gd name="adj" fmla="val 1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calloutText"/>
          <p:cNvSpPr txBox="1"/>
          <p:nvPr/>
        </p:nvSpPr>
        <p:spPr>
          <a:xfrm>
            <a:off x="91440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problem is not a lack of information. It is the loss of continuity between every tool.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-914400" y="-1371600"/>
            <a:ext cx="4114800" cy="4114800"/>
          </a:xfrm>
          <a:prstGeom prst="rect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glow2"/>
          <p:cNvSpPr/>
          <p:nvPr/>
        </p:nvSpPr>
        <p:spPr>
          <a:xfrm>
            <a:off x="9601200" y="4754880"/>
            <a:ext cx="3657600" cy="3657600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prompt. Every way to understand it.</a:t>
            </a:r>
            <a:endParaRPr lang="en-US" sz="34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NEURALEARN</a:t>
            </a:r>
            <a:endParaRPr lang="en-US" sz="1000" dirty="0"/>
          </a:p>
        </p:txBody>
      </p:sp>
      <p:sp>
        <p:nvSpPr>
          <p:cNvPr id="7" name="hub"/>
          <p:cNvSpPr/>
          <p:nvPr/>
        </p:nvSpPr>
        <p:spPr>
          <a:xfrm>
            <a:off x="640080" y="2286000"/>
            <a:ext cx="3291840" cy="3566160"/>
          </a:xfrm>
          <a:prstGeom prst="roundRect">
            <a:avLst>
              <a:gd name="adj" fmla="val 5556"/>
            </a:avLst>
          </a:prstGeom>
          <a:solidFill>
            <a:schemeClr val="accent1"/>
          </a:solidFill>
          <a:ln/>
        </p:spPr>
      </p:sp>
      <p:sp>
        <p:nvSpPr>
          <p:cNvPr id="8" name="hubk"/>
          <p:cNvSpPr txBox="1"/>
          <p:nvPr/>
        </p:nvSpPr>
        <p:spPr>
          <a:xfrm>
            <a:off x="91440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Ask anything</a:t>
            </a:r>
            <a:endParaRPr lang="en-US" sz="1400" dirty="0"/>
          </a:p>
        </p:txBody>
      </p:sp>
      <p:sp>
        <p:nvSpPr>
          <p:cNvPr id="9" name="hubq"/>
          <p:cNvSpPr txBox="1"/>
          <p:nvPr/>
        </p:nvSpPr>
        <p:spPr>
          <a:xfrm>
            <a:off x="914400" y="31089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"Explain how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neural networks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learn"</a:t>
            </a:r>
            <a:endParaRPr lang="en-US" sz="2600" dirty="0"/>
          </a:p>
        </p:txBody>
      </p:sp>
      <p:sp>
        <p:nvSpPr>
          <p:cNvPr id="10" name="card0"/>
          <p:cNvSpPr/>
          <p:nvPr/>
        </p:nvSpPr>
        <p:spPr>
          <a:xfrm>
            <a:off x="4572000" y="2286000"/>
            <a:ext cx="3383280" cy="1691640"/>
          </a:xfrm>
          <a:prstGeom prst="roundRect">
            <a:avLst>
              <a:gd name="adj" fmla="val 8108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cardmark0"/>
          <p:cNvSpPr/>
          <p:nvPr/>
        </p:nvSpPr>
        <p:spPr>
          <a:xfrm>
            <a:off x="4800600" y="2560320"/>
            <a:ext cx="128016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ct0"/>
          <p:cNvSpPr txBox="1"/>
          <p:nvPr/>
        </p:nvSpPr>
        <p:spPr>
          <a:xfrm>
            <a:off x="507492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Instant AI video</a:t>
            </a:r>
            <a:endParaRPr lang="en-US" sz="2000" dirty="0"/>
          </a:p>
        </p:txBody>
      </p:sp>
      <p:sp>
        <p:nvSpPr>
          <p:cNvPr id="13" name="cd0"/>
          <p:cNvSpPr txBox="1"/>
          <p:nvPr/>
        </p:nvSpPr>
        <p:spPr>
          <a:xfrm>
            <a:off x="5074920" y="31546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generated explainer for your exact topic</a:t>
            </a:r>
            <a:endParaRPr lang="en-US" sz="1400" dirty="0"/>
          </a:p>
        </p:txBody>
      </p:sp>
      <p:sp>
        <p:nvSpPr>
          <p:cNvPr id="14" name="card1"/>
          <p:cNvSpPr/>
          <p:nvPr/>
        </p:nvSpPr>
        <p:spPr>
          <a:xfrm>
            <a:off x="8138160" y="2286000"/>
            <a:ext cx="3383280" cy="1691640"/>
          </a:xfrm>
          <a:prstGeom prst="roundRect">
            <a:avLst>
              <a:gd name="adj" fmla="val 810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cardmark1"/>
          <p:cNvSpPr/>
          <p:nvPr/>
        </p:nvSpPr>
        <p:spPr>
          <a:xfrm>
            <a:off x="8366760" y="2560320"/>
            <a:ext cx="128016" cy="4572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6" name="ct1"/>
          <p:cNvSpPr txBox="1"/>
          <p:nvPr/>
        </p:nvSpPr>
        <p:spPr>
          <a:xfrm>
            <a:off x="864108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Text explanation</a:t>
            </a:r>
            <a:endParaRPr lang="en-US" sz="2000" dirty="0"/>
          </a:p>
        </p:txBody>
      </p:sp>
      <p:sp>
        <p:nvSpPr>
          <p:cNvPr id="17" name="cd1"/>
          <p:cNvSpPr txBox="1"/>
          <p:nvPr/>
        </p:nvSpPr>
        <p:spPr>
          <a:xfrm>
            <a:off x="8641080" y="31546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Clear notes for review and revision</a:t>
            </a:r>
            <a:endParaRPr lang="en-US" sz="1400" dirty="0"/>
          </a:p>
        </p:txBody>
      </p:sp>
      <p:sp>
        <p:nvSpPr>
          <p:cNvPr id="18" name="card2"/>
          <p:cNvSpPr/>
          <p:nvPr/>
        </p:nvSpPr>
        <p:spPr>
          <a:xfrm>
            <a:off x="4572000" y="4160520"/>
            <a:ext cx="3383280" cy="1691640"/>
          </a:xfrm>
          <a:prstGeom prst="roundRect">
            <a:avLst>
              <a:gd name="adj" fmla="val 8108"/>
            </a:avLst>
          </a:prstGeom>
          <a:solidFill>
            <a:schemeClr val="tx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cardmark2"/>
          <p:cNvSpPr/>
          <p:nvPr/>
        </p:nvSpPr>
        <p:spPr>
          <a:xfrm>
            <a:off x="4800600" y="4434840"/>
            <a:ext cx="128016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ct2"/>
          <p:cNvSpPr txBox="1"/>
          <p:nvPr/>
        </p:nvSpPr>
        <p:spPr>
          <a:xfrm>
            <a:off x="507492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language</a:t>
            </a:r>
            <a:endParaRPr lang="en-US" sz="2000" dirty="0"/>
          </a:p>
        </p:txBody>
      </p:sp>
      <p:sp>
        <p:nvSpPr>
          <p:cNvPr id="21" name="cd2"/>
          <p:cNvSpPr txBox="1"/>
          <p:nvPr/>
        </p:nvSpPr>
        <p:spPr>
          <a:xfrm>
            <a:off x="5074920" y="5029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Multilingual learning for more students</a:t>
            </a:r>
            <a:endParaRPr lang="en-US" sz="1400" dirty="0"/>
          </a:p>
        </p:txBody>
      </p:sp>
      <p:sp>
        <p:nvSpPr>
          <p:cNvPr id="22" name="card3"/>
          <p:cNvSpPr/>
          <p:nvPr/>
        </p:nvSpPr>
        <p:spPr>
          <a:xfrm>
            <a:off x="8138160" y="4160520"/>
            <a:ext cx="3383280" cy="1691640"/>
          </a:xfrm>
          <a:prstGeom prst="roundRect">
            <a:avLst>
              <a:gd name="adj" fmla="val 8108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cardmark3"/>
          <p:cNvSpPr/>
          <p:nvPr/>
        </p:nvSpPr>
        <p:spPr>
          <a:xfrm>
            <a:off x="8366760" y="4434840"/>
            <a:ext cx="128016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ct3"/>
          <p:cNvSpPr txBox="1"/>
          <p:nvPr/>
        </p:nvSpPr>
        <p:spPr>
          <a:xfrm>
            <a:off x="864108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PDFs</a:t>
            </a:r>
            <a:endParaRPr lang="en-US" sz="2000" dirty="0"/>
          </a:p>
        </p:txBody>
      </p:sp>
      <p:sp>
        <p:nvSpPr>
          <p:cNvPr id="25" name="cd3"/>
          <p:cNvSpPr txBox="1"/>
          <p:nvPr/>
        </p:nvSpPr>
        <p:spPr>
          <a:xfrm>
            <a:off x="8641080" y="50292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Course material, searchable and explainable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-914400" y="-1371600"/>
            <a:ext cx="4114800" cy="4114800"/>
          </a:xfrm>
          <a:prstGeom prst="rect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glow2"/>
          <p:cNvSpPr/>
          <p:nvPr/>
        </p:nvSpPr>
        <p:spPr>
          <a:xfrm>
            <a:off x="9601200" y="4754880"/>
            <a:ext cx="3657600" cy="3657600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Question to understanding in 3 steps</a:t>
            </a:r>
            <a:endParaRPr lang="en-US" sz="34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NEURALEARN</a:t>
            </a:r>
            <a:endParaRPr lang="en-US" sz="1000" dirty="0"/>
          </a:p>
        </p:txBody>
      </p:sp>
      <p:sp>
        <p:nvSpPr>
          <p:cNvPr id="7" name="step0"/>
          <p:cNvSpPr/>
          <p:nvPr/>
        </p:nvSpPr>
        <p:spPr>
          <a:xfrm>
            <a:off x="640080" y="2468880"/>
            <a:ext cx="3474720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</p:spPr>
      </p:sp>
      <p:sp>
        <p:nvSpPr>
          <p:cNvPr id="8" name="stepbar0"/>
          <p:cNvSpPr/>
          <p:nvPr/>
        </p:nvSpPr>
        <p:spPr>
          <a:xfrm>
            <a:off x="640080" y="2468880"/>
            <a:ext cx="347472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num0"/>
          <p:cNvSpPr txBox="1"/>
          <p:nvPr/>
        </p:nvSpPr>
        <p:spPr>
          <a:xfrm>
            <a:off x="96012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st0"/>
          <p:cNvSpPr txBox="1"/>
          <p:nvPr/>
        </p:nvSpPr>
        <p:spPr>
          <a:xfrm>
            <a:off x="96012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Ask naturally</a:t>
            </a:r>
            <a:endParaRPr lang="en-US" sz="2200" dirty="0"/>
          </a:p>
        </p:txBody>
      </p:sp>
      <p:sp>
        <p:nvSpPr>
          <p:cNvPr id="11" name="sd0"/>
          <p:cNvSpPr txBox="1"/>
          <p:nvPr/>
        </p:nvSpPr>
        <p:spPr>
          <a:xfrm>
            <a:off x="960120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Type your topic or upload a PDF, in any supported language.</a:t>
            </a:r>
            <a:endParaRPr lang="en-US" sz="1500" dirty="0"/>
          </a:p>
        </p:txBody>
      </p:sp>
      <p:sp>
        <p:nvSpPr>
          <p:cNvPr id="12" name="step1"/>
          <p:cNvSpPr/>
          <p:nvPr/>
        </p:nvSpPr>
        <p:spPr>
          <a:xfrm>
            <a:off x="4389120" y="2468880"/>
            <a:ext cx="3474720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</p:spPr>
      </p:sp>
      <p:sp>
        <p:nvSpPr>
          <p:cNvPr id="13" name="stepbar1"/>
          <p:cNvSpPr/>
          <p:nvPr/>
        </p:nvSpPr>
        <p:spPr>
          <a:xfrm>
            <a:off x="4389120" y="2468880"/>
            <a:ext cx="347472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num1"/>
          <p:cNvSpPr txBox="1"/>
          <p:nvPr/>
        </p:nvSpPr>
        <p:spPr>
          <a:xfrm>
            <a:off x="470916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st1"/>
          <p:cNvSpPr txBox="1"/>
          <p:nvPr/>
        </p:nvSpPr>
        <p:spPr>
          <a:xfrm>
            <a:off x="470916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Watch the lesson</a:t>
            </a:r>
            <a:endParaRPr lang="en-US" sz="2200" dirty="0"/>
          </a:p>
        </p:txBody>
      </p:sp>
      <p:sp>
        <p:nvSpPr>
          <p:cNvPr id="16" name="sd1"/>
          <p:cNvSpPr txBox="1"/>
          <p:nvPr/>
        </p:nvSpPr>
        <p:spPr>
          <a:xfrm>
            <a:off x="4709160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Get an AI-generated explainer video and a written explanation instantly.</a:t>
            </a:r>
            <a:endParaRPr lang="en-US" sz="1500" dirty="0"/>
          </a:p>
        </p:txBody>
      </p:sp>
      <p:sp>
        <p:nvSpPr>
          <p:cNvPr id="17" name="step2"/>
          <p:cNvSpPr/>
          <p:nvPr/>
        </p:nvSpPr>
        <p:spPr>
          <a:xfrm>
            <a:off x="8138160" y="2468880"/>
            <a:ext cx="3474720" cy="329184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</p:spPr>
      </p:sp>
      <p:sp>
        <p:nvSpPr>
          <p:cNvPr id="18" name="stepbar2"/>
          <p:cNvSpPr/>
          <p:nvPr/>
        </p:nvSpPr>
        <p:spPr>
          <a:xfrm>
            <a:off x="8138160" y="2468880"/>
            <a:ext cx="3474720" cy="10972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9" name="num2"/>
          <p:cNvSpPr txBox="1"/>
          <p:nvPr/>
        </p:nvSpPr>
        <p:spPr>
          <a:xfrm>
            <a:off x="8458200" y="28346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4800" dirty="0"/>
          </a:p>
        </p:txBody>
      </p:sp>
      <p:sp>
        <p:nvSpPr>
          <p:cNvPr id="20" name="st2"/>
          <p:cNvSpPr txBox="1"/>
          <p:nvPr/>
        </p:nvSpPr>
        <p:spPr>
          <a:xfrm>
            <a:off x="845820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Keep going</a:t>
            </a:r>
            <a:endParaRPr lang="en-US" sz="2200" dirty="0"/>
          </a:p>
        </p:txBody>
      </p:sp>
      <p:sp>
        <p:nvSpPr>
          <p:cNvPr id="21" name="sd2"/>
          <p:cNvSpPr txBox="1"/>
          <p:nvPr/>
        </p:nvSpPr>
        <p:spPr>
          <a:xfrm>
            <a:off x="8458200" y="4389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Ask follow-ups and stay in context. No starting over in another tool.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-914400" y="-1371600"/>
            <a:ext cx="4114800" cy="4114800"/>
          </a:xfrm>
          <a:prstGeom prst="rect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glow2"/>
          <p:cNvSpPr/>
          <p:nvPr/>
        </p:nvSpPr>
        <p:spPr>
          <a:xfrm>
            <a:off x="9601200" y="4754880"/>
            <a:ext cx="3657600" cy="3657600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WHY IT WINS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old way vs. Neuralearn</a:t>
            </a:r>
            <a:endParaRPr lang="en-US" sz="34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NEURALEARN</a:t>
            </a:r>
            <a:endParaRPr lang="en-US" sz="1000" dirty="0"/>
          </a:p>
        </p:txBody>
      </p:sp>
      <p:sp>
        <p:nvSpPr>
          <p:cNvPr id="7" name="beforeBox"/>
          <p:cNvSpPr/>
          <p:nvPr/>
        </p:nvSpPr>
        <p:spPr>
          <a:xfrm>
            <a:off x="640080" y="2194560"/>
            <a:ext cx="5303520" cy="374904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afterBox"/>
          <p:cNvSpPr/>
          <p:nvPr/>
        </p:nvSpPr>
        <p:spPr>
          <a:xfrm>
            <a:off x="6245352" y="2194560"/>
            <a:ext cx="5303520" cy="3749040"/>
          </a:xfrm>
          <a:prstGeom prst="roundRect">
            <a:avLst>
              <a:gd name="adj" fmla="val 4878"/>
            </a:avLst>
          </a:prstGeom>
          <a:solidFill>
            <a:schemeClr val="accent1">
              <a:alpha val="2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k"/>
          <p:cNvSpPr txBox="1"/>
          <p:nvPr/>
        </p:nvSpPr>
        <p:spPr>
          <a:xfrm>
            <a:off x="100584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3"/>
                </a:solidFill>
              </a:rPr>
              <a:t>WITHOUT</a:t>
            </a:r>
            <a:endParaRPr lang="en-US" sz="1300" dirty="0"/>
          </a:p>
        </p:txBody>
      </p:sp>
      <p:sp>
        <p:nvSpPr>
          <p:cNvPr id="10" name="ak"/>
          <p:cNvSpPr txBox="1"/>
          <p:nvPr/>
        </p:nvSpPr>
        <p:spPr>
          <a:xfrm>
            <a:off x="6611112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WITH NEURALEARN</a:t>
            </a:r>
            <a:endParaRPr lang="en-US" sz="1300" dirty="0"/>
          </a:p>
        </p:txBody>
      </p:sp>
      <p:sp>
        <p:nvSpPr>
          <p:cNvPr id="11" name="b0"/>
          <p:cNvSpPr txBox="1"/>
          <p:nvPr/>
        </p:nvSpPr>
        <p:spPr>
          <a:xfrm>
            <a:off x="1005840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✕  Search YouTube, skim, give up</a:t>
            </a:r>
            <a:endParaRPr lang="en-US" sz="1700" dirty="0"/>
          </a:p>
        </p:txBody>
      </p:sp>
      <p:sp>
        <p:nvSpPr>
          <p:cNvPr id="12" name="a0"/>
          <p:cNvSpPr txBox="1"/>
          <p:nvPr/>
        </p:nvSpPr>
        <p:spPr>
          <a:xfrm>
            <a:off x="6611112" y="3017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 Instant video made for your topic</a:t>
            </a:r>
            <a:endParaRPr lang="en-US" sz="1700" dirty="0"/>
          </a:p>
        </p:txBody>
      </p:sp>
      <p:sp>
        <p:nvSpPr>
          <p:cNvPr id="13" name="b1"/>
          <p:cNvSpPr txBox="1"/>
          <p:nvPr/>
        </p:nvSpPr>
        <p:spPr>
          <a:xfrm>
            <a:off x="1005840" y="37307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✕  Copy context into ChatGPT</a:t>
            </a:r>
            <a:endParaRPr lang="en-US" sz="1700" dirty="0"/>
          </a:p>
        </p:txBody>
      </p:sp>
      <p:sp>
        <p:nvSpPr>
          <p:cNvPr id="14" name="a1"/>
          <p:cNvSpPr txBox="1"/>
          <p:nvPr/>
        </p:nvSpPr>
        <p:spPr>
          <a:xfrm>
            <a:off x="6611112" y="37307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 Explanation and follow-ups in one place</a:t>
            </a:r>
            <a:endParaRPr lang="en-US" sz="1700" dirty="0"/>
          </a:p>
        </p:txBody>
      </p:sp>
      <p:sp>
        <p:nvSpPr>
          <p:cNvPr id="15" name="b2"/>
          <p:cNvSpPr txBox="1"/>
          <p:nvPr/>
        </p:nvSpPr>
        <p:spPr>
          <a:xfrm>
            <a:off x="1005840" y="44439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✕  Re-explain your PDF every time</a:t>
            </a:r>
            <a:endParaRPr lang="en-US" sz="1700" dirty="0"/>
          </a:p>
        </p:txBody>
      </p:sp>
      <p:sp>
        <p:nvSpPr>
          <p:cNvPr id="16" name="a2"/>
          <p:cNvSpPr txBox="1"/>
          <p:nvPr/>
        </p:nvSpPr>
        <p:spPr>
          <a:xfrm>
            <a:off x="6611112" y="44439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 Upload PDFs once, ask anything</a:t>
            </a:r>
            <a:endParaRPr lang="en-US" sz="1700" dirty="0"/>
          </a:p>
        </p:txBody>
      </p:sp>
      <p:sp>
        <p:nvSpPr>
          <p:cNvPr id="17" name="b3"/>
          <p:cNvSpPr txBox="1"/>
          <p:nvPr/>
        </p:nvSpPr>
        <p:spPr>
          <a:xfrm>
            <a:off x="1005840" y="5157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✕  Hunt for content in your language</a:t>
            </a:r>
            <a:endParaRPr lang="en-US" sz="1700" dirty="0"/>
          </a:p>
        </p:txBody>
      </p:sp>
      <p:sp>
        <p:nvSpPr>
          <p:cNvPr id="18" name="a3"/>
          <p:cNvSpPr txBox="1"/>
          <p:nvPr/>
        </p:nvSpPr>
        <p:spPr>
          <a:xfrm>
            <a:off x="6611112" y="5157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✓  Learn in your own language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-914400" y="-1371600"/>
            <a:ext cx="4114800" cy="4114800"/>
          </a:xfrm>
          <a:prstGeom prst="rect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glow2"/>
          <p:cNvSpPr/>
          <p:nvPr/>
        </p:nvSpPr>
        <p:spPr>
          <a:xfrm>
            <a:off x="9601200" y="4754880"/>
            <a:ext cx="3657600" cy="3657600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COMING NEXT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AI mentor, face to face</a:t>
            </a:r>
            <a:endParaRPr lang="en-US" sz="34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NEURALEARN</a:t>
            </a:r>
            <a:endParaRPr lang="en-US" sz="1000" dirty="0"/>
          </a:p>
        </p:txBody>
      </p:sp>
      <p:sp>
        <p:nvSpPr>
          <p:cNvPr id="7" name="call"/>
          <p:cNvSpPr/>
          <p:nvPr/>
        </p:nvSpPr>
        <p:spPr>
          <a:xfrm>
            <a:off x="640080" y="2194560"/>
            <a:ext cx="5852160" cy="374904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avatar"/>
          <p:cNvSpPr/>
          <p:nvPr/>
        </p:nvSpPr>
        <p:spPr>
          <a:xfrm>
            <a:off x="2651760" y="2560320"/>
            <a:ext cx="1828800" cy="1828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avatarT"/>
          <p:cNvSpPr txBox="1"/>
          <p:nvPr/>
        </p:nvSpPr>
        <p:spPr>
          <a:xfrm>
            <a:off x="2651760" y="2560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</a:t>
            </a:r>
            <a:endParaRPr lang="en-US" sz="4400" dirty="0"/>
          </a:p>
        </p:txBody>
      </p:sp>
      <p:sp>
        <p:nvSpPr>
          <p:cNvPr id="10" name="bubble"/>
          <p:cNvSpPr/>
          <p:nvPr/>
        </p:nvSpPr>
        <p:spPr>
          <a:xfrm>
            <a:off x="1005840" y="4754880"/>
            <a:ext cx="5120640" cy="502920"/>
          </a:xfrm>
          <a:prstGeom prst="roundRect">
            <a:avLst>
              <a:gd name="adj" fmla="val 45455"/>
            </a:avLst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1" name="bubbleT"/>
          <p:cNvSpPr txBox="1"/>
          <p:nvPr/>
        </p:nvSpPr>
        <p:spPr>
          <a:xfrm>
            <a:off x="1188720" y="4754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"Can you explain that one more time, slowly?"</a:t>
            </a:r>
            <a:endParaRPr lang="en-US" sz="1400" dirty="0"/>
          </a:p>
        </p:txBody>
      </p:sp>
      <p:sp>
        <p:nvSpPr>
          <p:cNvPr id="12" name="live"/>
          <p:cNvSpPr/>
          <p:nvPr/>
        </p:nvSpPr>
        <p:spPr>
          <a:xfrm>
            <a:off x="5394960" y="2468880"/>
            <a:ext cx="82296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3" name="liveT"/>
          <p:cNvSpPr txBox="1"/>
          <p:nvPr/>
        </p:nvSpPr>
        <p:spPr>
          <a:xfrm>
            <a:off x="5394960" y="2468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● LIVE</a:t>
            </a:r>
            <a:endParaRPr lang="en-US" sz="1100" dirty="0"/>
          </a:p>
        </p:txBody>
      </p:sp>
      <p:sp>
        <p:nvSpPr>
          <p:cNvPr id="14" name="mt"/>
          <p:cNvSpPr txBox="1"/>
          <p:nvPr/>
        </p:nvSpPr>
        <p:spPr>
          <a:xfrm>
            <a:off x="694944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Talk to it like a tutor.</a:t>
            </a:r>
            <a:endParaRPr lang="en-US" sz="2600" dirty="0"/>
          </a:p>
        </p:txBody>
      </p:sp>
      <p:sp>
        <p:nvSpPr>
          <p:cNvPr id="15" name="m0"/>
          <p:cNvSpPr/>
          <p:nvPr/>
        </p:nvSpPr>
        <p:spPr>
          <a:xfrm>
            <a:off x="6949440" y="3200400"/>
            <a:ext cx="109728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mt0"/>
          <p:cNvSpPr txBox="1"/>
          <p:nvPr/>
        </p:nvSpPr>
        <p:spPr>
          <a:xfrm>
            <a:off x="7223760" y="3200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Speak naturally, no typing</a:t>
            </a:r>
            <a:endParaRPr lang="en-US" sz="1700" dirty="0"/>
          </a:p>
        </p:txBody>
      </p:sp>
      <p:sp>
        <p:nvSpPr>
          <p:cNvPr id="17" name="m1"/>
          <p:cNvSpPr/>
          <p:nvPr/>
        </p:nvSpPr>
        <p:spPr>
          <a:xfrm>
            <a:off x="6949440" y="3977640"/>
            <a:ext cx="109728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mt1"/>
          <p:cNvSpPr txBox="1"/>
          <p:nvPr/>
        </p:nvSpPr>
        <p:spPr>
          <a:xfrm>
            <a:off x="7223760" y="3977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The AI answers verbally, as if on a video chat</a:t>
            </a:r>
            <a:endParaRPr lang="en-US" sz="1700" dirty="0"/>
          </a:p>
        </p:txBody>
      </p:sp>
      <p:sp>
        <p:nvSpPr>
          <p:cNvPr id="19" name="m2"/>
          <p:cNvSpPr/>
          <p:nvPr/>
        </p:nvSpPr>
        <p:spPr>
          <a:xfrm>
            <a:off x="6949440" y="4754880"/>
            <a:ext cx="109728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mt2"/>
          <p:cNvSpPr txBox="1"/>
          <p:nvPr/>
        </p:nvSpPr>
        <p:spPr>
          <a:xfrm>
            <a:off x="7223760" y="4754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Closer to office hours than a search box</a:t>
            </a:r>
            <a:endParaRPr lang="en-US" sz="1700" dirty="0"/>
          </a:p>
        </p:txBody>
      </p:sp>
      <p:sp>
        <p:nvSpPr>
          <p:cNvPr id="21" name="tag"/>
          <p:cNvSpPr/>
          <p:nvPr/>
        </p:nvSpPr>
        <p:spPr>
          <a:xfrm>
            <a:off x="6949440" y="5486400"/>
            <a:ext cx="3291840" cy="411480"/>
          </a:xfrm>
          <a:prstGeom prst="roundRect">
            <a:avLst>
              <a:gd name="adj" fmla="val 44444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agT"/>
          <p:cNvSpPr txBox="1"/>
          <p:nvPr/>
        </p:nvSpPr>
        <p:spPr>
          <a:xfrm>
            <a:off x="6949440" y="5486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Upcoming · not yet shipped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"/>
          <p:cNvSpPr/>
          <p:nvPr/>
        </p:nvSpPr>
        <p:spPr>
          <a:xfrm>
            <a:off x="-914400" y="-1371600"/>
            <a:ext cx="4114800" cy="4114800"/>
          </a:xfrm>
          <a:prstGeom prst="rect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glow2"/>
          <p:cNvSpPr/>
          <p:nvPr/>
        </p:nvSpPr>
        <p:spPr>
          <a:xfrm>
            <a:off x="9601200" y="4754880"/>
            <a:ext cx="3657600" cy="3657600"/>
          </a:xfrm>
          <a:prstGeom prst="rect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" name="kicker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THE VISION</a:t>
            </a:r>
            <a:endParaRPr lang="en-US" sz="1200" dirty="0"/>
          </a:p>
        </p:txBody>
      </p:sp>
      <p:sp>
        <p:nvSpPr>
          <p:cNvPr id="5" name="title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From instant answers to a learning layer</a:t>
            </a:r>
            <a:endParaRPr lang="en-US" sz="34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chemeClr val="accent6"/>
                </a:solidFill>
              </a:rPr>
              <a:t>NEURALEARN</a:t>
            </a:r>
            <a:endParaRPr lang="en-US" sz="1000" dirty="0"/>
          </a:p>
        </p:txBody>
      </p:sp>
      <p:sp>
        <p:nvSpPr>
          <p:cNvPr id="7" name="line"/>
          <p:cNvSpPr/>
          <p:nvPr/>
        </p:nvSpPr>
        <p:spPr>
          <a:xfrm>
            <a:off x="1097280" y="3657600"/>
            <a:ext cx="9966960" cy="54864"/>
          </a:xfrm>
          <a:prstGeom prst="rect">
            <a:avLst/>
          </a:prstGeom>
          <a:solidFill>
            <a:schemeClr val="accent6">
              <a:alpha val="50000"/>
            </a:schemeClr>
          </a:solidFill>
          <a:ln/>
        </p:spPr>
      </p:sp>
      <p:sp>
        <p:nvSpPr>
          <p:cNvPr id="8" name="dot0"/>
          <p:cNvSpPr/>
          <p:nvPr/>
        </p:nvSpPr>
        <p:spPr>
          <a:xfrm>
            <a:off x="2194560" y="3474720"/>
            <a:ext cx="411480" cy="411480"/>
          </a:xfrm>
          <a:prstGeom prst="roundRect">
            <a:avLst>
              <a:gd name="adj" fmla="val 222222"/>
            </a:avLst>
          </a:prstGeom>
          <a:solidFill>
            <a:schemeClr val="accent5"/>
          </a:solidFill>
          <a:ln/>
        </p:spPr>
      </p:sp>
      <p:sp>
        <p:nvSpPr>
          <p:cNvPr id="9" name="mk0"/>
          <p:cNvSpPr txBox="1"/>
          <p:nvPr/>
        </p:nvSpPr>
        <p:spPr>
          <a:xfrm>
            <a:off x="8229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TODAY</a:t>
            </a:r>
            <a:endParaRPr lang="en-US" sz="2200" dirty="0"/>
          </a:p>
        </p:txBody>
      </p:sp>
      <p:sp>
        <p:nvSpPr>
          <p:cNvPr id="10" name="mtx0"/>
          <p:cNvSpPr txBox="1"/>
          <p:nvPr/>
        </p:nvSpPr>
        <p:spPr>
          <a:xfrm>
            <a:off x="822960" y="4206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Instant video + text, multilingual, PDF uploads</a:t>
            </a:r>
            <a:endParaRPr lang="en-US" sz="1700" dirty="0"/>
          </a:p>
        </p:txBody>
      </p:sp>
      <p:sp>
        <p:nvSpPr>
          <p:cNvPr id="11" name="dot1"/>
          <p:cNvSpPr/>
          <p:nvPr/>
        </p:nvSpPr>
        <p:spPr>
          <a:xfrm>
            <a:off x="5943600" y="3474720"/>
            <a:ext cx="411480" cy="411480"/>
          </a:xfrm>
          <a:prstGeom prst="roundRect">
            <a:avLst>
              <a:gd name="adj" fmla="val 222222"/>
            </a:avLst>
          </a:prstGeom>
          <a:solidFill>
            <a:schemeClr val="accent2"/>
          </a:solidFill>
          <a:ln/>
        </p:spPr>
      </p:sp>
      <p:sp>
        <p:nvSpPr>
          <p:cNvPr id="12" name="mk1"/>
          <p:cNvSpPr txBox="1"/>
          <p:nvPr/>
        </p:nvSpPr>
        <p:spPr>
          <a:xfrm>
            <a:off x="45720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NEXT</a:t>
            </a:r>
            <a:endParaRPr lang="en-US" sz="2200" dirty="0"/>
          </a:p>
        </p:txBody>
      </p:sp>
      <p:sp>
        <p:nvSpPr>
          <p:cNvPr id="13" name="mtx1"/>
          <p:cNvSpPr txBox="1"/>
          <p:nvPr/>
        </p:nvSpPr>
        <p:spPr>
          <a:xfrm>
            <a:off x="4572000" y="4206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Voice and video AI mentor</a:t>
            </a:r>
            <a:endParaRPr lang="en-US" sz="1700" dirty="0"/>
          </a:p>
        </p:txBody>
      </p:sp>
      <p:sp>
        <p:nvSpPr>
          <p:cNvPr id="14" name="dot2"/>
          <p:cNvSpPr/>
          <p:nvPr/>
        </p:nvSpPr>
        <p:spPr>
          <a:xfrm>
            <a:off x="9692640" y="3474720"/>
            <a:ext cx="411480" cy="411480"/>
          </a:xfrm>
          <a:prstGeom prst="roundRect">
            <a:avLst>
              <a:gd name="adj" fmla="val 222222"/>
            </a:avLst>
          </a:prstGeom>
          <a:solidFill>
            <a:schemeClr val="accent1"/>
          </a:solidFill>
          <a:ln/>
        </p:spPr>
      </p:sp>
      <p:sp>
        <p:nvSpPr>
          <p:cNvPr id="15" name="mk2"/>
          <p:cNvSpPr txBox="1"/>
          <p:nvPr/>
        </p:nvSpPr>
        <p:spPr>
          <a:xfrm>
            <a:off x="83210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THEN</a:t>
            </a:r>
            <a:endParaRPr lang="en-US" sz="2200" dirty="0"/>
          </a:p>
        </p:txBody>
      </p:sp>
      <p:sp>
        <p:nvSpPr>
          <p:cNvPr id="16" name="mtx2"/>
          <p:cNvSpPr txBox="1"/>
          <p:nvPr/>
        </p:nvSpPr>
        <p:spPr>
          <a:xfrm>
            <a:off x="8321040" y="42062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Personalised learning history and document-aware help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b"/>
          <p:cNvSpPr/>
          <p:nvPr/>
        </p:nvSpPr>
        <p:spPr>
          <a:xfrm>
            <a:off x="7772400" y="-1828800"/>
            <a:ext cx="6400800" cy="6400800"/>
          </a:xfrm>
          <a:prstGeom prst="rect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" name="brand"/>
          <p:cNvSpPr txBox="1"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spc="800" kern="0" dirty="0">
                <a:solidFill>
                  <a:schemeClr val="bg1"/>
                </a:solidFill>
              </a:rPr>
              <a:t>NEURALEARN</a:t>
            </a:r>
            <a:endParaRPr lang="en-US" sz="1600" dirty="0"/>
          </a:p>
        </p:txBody>
      </p:sp>
      <p:sp>
        <p:nvSpPr>
          <p:cNvPr id="4" name="title"/>
          <p:cNvSpPr txBox="1"/>
          <p:nvPr/>
        </p:nvSpPr>
        <p:spPr>
          <a:xfrm>
            <a:off x="822960" y="18288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Fewer searches.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More understanding.</a:t>
            </a:r>
            <a:endParaRPr lang="en-US" sz="4400" dirty="0"/>
          </a:p>
        </p:txBody>
      </p:sp>
      <p:sp>
        <p:nvSpPr>
          <p:cNvPr id="5" name="sub"/>
          <p:cNvSpPr txBox="1"/>
          <p:nvPr/>
        </p:nvSpPr>
        <p:spPr>
          <a:xfrm>
            <a:off x="822960" y="4480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One platform that is a lifechanger in an academic's life.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alearn">
  <a:themeElements>
    <a:clrScheme name="Neuralearn">
      <a:dk1>
        <a:srgbClr val="0B0F2A"/>
      </a:dk1>
      <a:lt1>
        <a:srgbClr val="FFFFFF"/>
      </a:lt1>
      <a:dk2>
        <a:srgbClr val="151B45"/>
      </a:dk2>
      <a:lt2>
        <a:srgbClr val="EEF0FF"/>
      </a:lt2>
      <a:accent1>
        <a:srgbClr val="7C5CFF"/>
      </a:accent1>
      <a:accent2>
        <a:srgbClr val="22D3EE"/>
      </a:accent2>
      <a:accent3>
        <a:srgbClr val="FF6B6B"/>
      </a:accent3>
      <a:accent4>
        <a:srgbClr val="FBBF24"/>
      </a:accent4>
      <a:accent5>
        <a:srgbClr val="34D399"/>
      </a:accent5>
      <a:accent6>
        <a:srgbClr val="A5B4FC"/>
      </a:accent6>
      <a:hlink>
        <a:srgbClr val="22D3EE"/>
      </a:hlink>
      <a:folHlink>
        <a:srgbClr val="A5B4FC"/>
      </a:folHlink>
    </a:clrScheme>
    <a:fontScheme name="Neuralearn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Neuralearn</dc:title>
  <dc:subject>PptxGenJS Presentation</dc:subject>
  <dc:creator>PptxGenJS</dc:creator>
  <cp:lastModifiedBy>PptxGenJS</cp:lastModifiedBy>
  <cp:revision>1</cp:revision>
  <dcterms:created xsi:type="dcterms:W3CDTF">2026-10-17T05:49:50Z</dcterms:created>
  <dcterms:modified xsi:type="dcterms:W3CDTF">2026-10-17T05:49:50Z</dcterms:modified>
</cp:coreProperties>
</file>